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6" r:id="rId1"/>
  </p:sldMasterIdLst>
  <p:notesMasterIdLst>
    <p:notesMasterId r:id="rId6"/>
  </p:notesMasterIdLst>
  <p:sldIdLst>
    <p:sldId id="256" r:id="rId2"/>
    <p:sldId id="258" r:id="rId3"/>
    <p:sldId id="259" r:id="rId5"/>
    <p:sldId id="260" r:id="rId4"/>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F7448E1-C2A3-4423-9029-A5CD3447281A}">
          <p14:sldIdLst>
            <p14:sldId id="256"/>
            <p14:sldId id="258"/>
            <p14:sldId id="259"/>
            <p14:sldId id="260"/>
          </p14:sldIdLst>
        </p14:section>
        <p14:section name="Untitled Section" id="{E332F819-F576-4591-B817-9DE1938680C9}">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3.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D787B1C-1399-4FB4-9055-2C109D3096E4}" type="datetimeFigureOut">
              <a:rPr lang="en-US" smtClean="0"/>
              <a:t>9/8/2026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FF434D2-807C-49C6-B002-3F1B6E35C8E6}"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Our CCA case study is the 2021 Codecov supply-chain attack. We will show how one leaked key let an attacker steal secrets from thousands of CI pipelines, and present SignGate, a small cryptographic gate we built that would have stopped it. (~20 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flow of our presentation. (~5 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one line: an attacker modified a trusted tool that thousands of companies ran automatically, and nobody noticed for two months. We analysed why this worked and built SignGate, which signs every release and verifies it inside CI before running anything. We tested it against seven attack scenarios and all malicious ones were blocked. (~30 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Codecov is a code-coverage SaaS. Customers ran its Bash Uploader inside CI with curl piped to bash, so it ran next to all their secrets. From 31 January 2021 the attacker kept modifying it. On 1 April a customer noticed the SHA-256 did not match. The main violation is integrity and authenticity, and confidentiality was lost as a result. (~40 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attack chain. A GCS HMAC key was left inside a Docker image layer. The attacker used it to overwrite the uploader, and every pipeline that ran it sent env and git remote to the attacker. Six weaknesses made this possible: V1 to V6. Our problem: CI runs third-party code with full secrets but has no enforced way to verify it first. (~45 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objectives, each mapped to a weakness. Integrity and authenticity are the core. Key management and misuse detection handle a stronger attacker who steals a key. Least privilege limits damage. And it must be simple and cheap enough to be adopted. (~25 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Functional requirements describe what the system does: sign, certify, log, verify, restrict and monitor. Security requirements are measurable: any bit flip detected, unforgeable signatures, pinned trust anchor, protected keys, fail-closed, under 50 ms. The prototype needs only Python and one crypto library. (~30 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followed six steps: study the incident from primary sources, find vulnerabilities and model threats with STRIDE, design cryptographic controls for each one, implement them in Python, attack our own implementation, and compare it with the standard fix. (~25 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idea is to move trust from where the file is stored to who signed it. The publisher hashes and signs each release with a KMS-held key certified by an offline root and logs it. The bucket may be attacker-controlled; that no longer matters. In the customer's CI, SignGate runs six checks against keys pinned in the customer's own repo, then runs the tool with only the variables it needs. (~50 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primitives and why each fits. SHA-256 detects change. Ed25519 proves who signed it, and it is fast and deterministic. The mini-PKI and revocation list handle key theft. The transparency log makes misuse visible. The important point: a hash alone is not enough, because whoever can change the file can change the published hash. A signature binds the hash to a key the attacker does not have. (~45 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management is exactly where Codecov failed. Our root key is offline and only certifies release keys and signs the revocation list. Its public key is pinned by customers. Release keys live in KMS for 90 days and rotate automatically. If one leaks, the root signs a new CRL and every pipeline rejects it on the next run, with no customer changes. (~40 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gate's decision flow. The checks are ordered and fail-closed, so the first failure blocks execution. The code is split into small modules, as listed on the right. For a customer, adopting it is a one-line change: replace curl pipe bash with signgate run. (~45 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2021 the attacker had bucket write access but no signing key. With SignGate, the edited file fails the hash check. Rewriting the hash breaks the signature. Using their own key fails the certificate check. Each STRIDE threat maps to a check. The residual risk is a compromised build server that signs malware legitimately; the log makes that visible, and SLSA provenance is the future fix. (~45 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attacked our own system. The legitimate release is allowed. The exact 2021 attack is blocked at the hash check, and each stronger variant is blocked at a different check, so every layer does something. In the assume-breach test, where we run the malicious script anyway, the allowlist cut exposed secrets from 8 to 1. Verification costs about half a millisecond. (~50 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actual console output of our attack simulation. Green PASS and red FAIL show exactly which check stopped each attack. The monitor also flags a tampered file immediately; in 2021 that took two months. If time permits, we run this live: python demo/attack_demo.py. (~20 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the incident Codecov published a signed uploader, but verification stayed optional and manual. Our contribution is not a new algorithm. It combines standard primitives into an enforced gate that also handles key theft, rollback and blast radius. It matches SLSA, NIST SSDF and Executive Order 14028, and costs about a dollar a month for a KMS key. The same pattern applies to GitHub Actions, npm and container images, as the 2025 tj-actions incident showed. (~45 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Codecov was an integrity and authenticity failure that became a confidentiality breach. SignGate fixes that with standard cryptography and good key management, and our tests show it blocks the real attack and stronger variants cheaply. Next steps are Sigstore keyless signing, SLSA provenance and packaging it as a GitHub Action. (~30 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main sources are Codecov's own security update and post-mortem, plus Reuters and HashiCorp for impact. The standards cited are for the algorithms we used. (~5 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We are happy to take questions or run the demo live.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939258"/>
            <a:ext cx="4423973" cy="480373"/>
          </a:xfrm>
        </p:spPr>
        <p:txBody>
          <a:bodyPr vert="horz" lIns="91440" tIns="45720" rIns="91440" bIns="45720" rtlCol="0" anchor="t">
            <a:normAutofit/>
          </a:bodyPr>
          <a:lstStyle>
            <a:lvl1pPr>
              <a:defRPr lang="en-US" dirty="0"/>
            </a:lvl1pPr>
          </a:lstStyle>
          <a:p>
            <a:pPr lvl="0"/>
            <a:r>
              <a:rPr lang="en-US"/>
              <a:t>Click to edit Master subtitle style</a:t>
            </a:r>
            <a:endParaRPr lang="en-US" dirty="0"/>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0" y="-1"/>
            <a:ext cx="9144000" cy="4784036"/>
          </a:xfrm>
          <a:blipFill>
            <a:blip r:embed="rId2">
              <a:alphaModFix amt="70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4654446" y="4939715"/>
            <a:ext cx="3315023" cy="479458"/>
          </a:xfrm>
        </p:spPr>
        <p:txBody>
          <a:bodyPr anchor="t"/>
          <a:lstStyle>
            <a:lvl1pPr>
              <a:defRPr sz="1050"/>
            </a:lvl1pPr>
          </a:lstStyle>
          <a:p>
            <a:endParaRPr lang="en-IN">
              <a:solidFill>
                <a:prstClr val="black">
                  <a:tint val="75000"/>
                </a:prstClr>
              </a:solidFill>
            </a:endParaRPr>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8822095" y="4939258"/>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pic>
        <p:nvPicPr>
          <p:cNvPr id="12" name="Graphic 11">
            <a:extLst>
              <a:ext uri="{FF2B5EF4-FFF2-40B4-BE49-F238E27FC236}">
                <a16:creationId xmlns:a16="http://schemas.microsoft.com/office/drawing/2014/main" id="{9001D668-DD9C-F5B4-B191-51BDD0B308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27276" y="5873424"/>
            <a:ext cx="754380" cy="1005840"/>
          </a:xfrm>
          <a:prstGeom prst="rect">
            <a:avLst/>
          </a:prstGeom>
        </p:spPr>
      </p:pic>
      <p:sp>
        <p:nvSpPr>
          <p:cNvPr id="4" name="Title 3">
            <a:extLst>
              <a:ext uri="{FF2B5EF4-FFF2-40B4-BE49-F238E27FC236}">
                <a16:creationId xmlns:a16="http://schemas.microsoft.com/office/drawing/2014/main" id="{009A08CF-24F0-EC7D-277D-CB831E7E7930}"/>
              </a:ext>
            </a:extLst>
          </p:cNvPr>
          <p:cNvSpPr>
            <a:spLocks noGrp="1"/>
          </p:cNvSpPr>
          <p:nvPr>
            <p:ph type="title"/>
          </p:nvPr>
        </p:nvSpPr>
        <p:spPr>
          <a:xfrm>
            <a:off x="-14885" y="5718869"/>
            <a:ext cx="4437126" cy="1143000"/>
          </a:xfrm>
        </p:spPr>
        <p:txBody>
          <a:bodyPr anchor="b">
            <a:normAutofit/>
          </a:bodyPr>
          <a:lstStyle>
            <a:lvl1pPr>
              <a:lnSpc>
                <a:spcPct val="60000"/>
              </a:lnSpc>
              <a:defRPr sz="3900"/>
            </a:lvl1pPr>
          </a:lstStyle>
          <a:p>
            <a:r>
              <a:rPr lang="en-US"/>
              <a:t>Click to edit Master title style</a:t>
            </a:r>
            <a:endParaRPr lang="en-US" dirty="0"/>
          </a:p>
        </p:txBody>
      </p:sp>
    </p:spTree>
    <p:extLst>
      <p:ext uri="{BB962C8B-B14F-4D97-AF65-F5344CB8AC3E}">
        <p14:creationId xmlns:p14="http://schemas.microsoft.com/office/powerpoint/2010/main" val="2533937333"/>
      </p:ext>
    </p:extLst>
  </p:cSld>
  <p:clrMapOvr>
    <a:masterClrMapping/>
  </p:clrMapOvr>
  <p:hf hdr="0" ftr="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406F310-2B8D-3C32-560C-686817E6B487}"/>
              </a:ext>
            </a:extLst>
          </p:cNvPr>
          <p:cNvSpPr>
            <a:spLocks noGrp="1"/>
          </p:cNvSpPr>
          <p:nvPr>
            <p:ph type="title"/>
          </p:nvPr>
        </p:nvSpPr>
        <p:spPr>
          <a:xfrm>
            <a:off x="387187" y="1012176"/>
            <a:ext cx="8334756" cy="849793"/>
          </a:xfrm>
        </p:spPr>
        <p:txBody>
          <a:body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64FD1A6D-2D8E-1FD1-C1AC-CB5E9D5A15CD}"/>
              </a:ext>
            </a:extLst>
          </p:cNvPr>
          <p:cNvSpPr>
            <a:spLocks noGrp="1"/>
          </p:cNvSpPr>
          <p:nvPr>
            <p:ph type="ftr" sz="quarter" idx="11"/>
          </p:nvPr>
        </p:nvSpPr>
        <p:spPr>
          <a:xfrm>
            <a:off x="406781" y="110365"/>
            <a:ext cx="3957639" cy="365125"/>
          </a:xfrm>
        </p:spPr>
        <p:txBody>
          <a:bodyPr/>
          <a:lstStyle/>
          <a:p>
            <a:endParaRPr lang="en-IN">
              <a:solidFill>
                <a:prstClr val="black">
                  <a:tint val="75000"/>
                </a:prstClr>
              </a:solidFill>
            </a:endParaRPr>
          </a:p>
        </p:txBody>
      </p:sp>
      <p:sp>
        <p:nvSpPr>
          <p:cNvPr id="2" name="Date Placeholder 1">
            <a:extLst>
              <a:ext uri="{FF2B5EF4-FFF2-40B4-BE49-F238E27FC236}">
                <a16:creationId xmlns:a16="http://schemas.microsoft.com/office/drawing/2014/main" id="{1FADE430-EE65-B675-F031-7651DE9D69AC}"/>
              </a:ext>
            </a:extLst>
          </p:cNvPr>
          <p:cNvSpPr>
            <a:spLocks noGrp="1"/>
          </p:cNvSpPr>
          <p:nvPr>
            <p:ph type="dt" sz="half" idx="10"/>
          </p:nvPr>
        </p:nvSpPr>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9" name="Slide Number Placeholder 8">
            <a:extLst>
              <a:ext uri="{FF2B5EF4-FFF2-40B4-BE49-F238E27FC236}">
                <a16:creationId xmlns:a16="http://schemas.microsoft.com/office/drawing/2014/main" id="{27305BC9-1670-00D4-5A66-F52444DA9C94}"/>
              </a:ext>
            </a:extLst>
          </p:cNvPr>
          <p:cNvSpPr>
            <a:spLocks noGrp="1"/>
          </p:cNvSpPr>
          <p:nvPr>
            <p:ph type="sldNum" sz="quarter" idx="12"/>
          </p:nvPr>
        </p:nvSpPr>
        <p:spPr>
          <a:xfrm>
            <a:off x="8342970" y="104650"/>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04622" y="2115542"/>
            <a:ext cx="8260253" cy="44515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40712369"/>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57214"/>
            <a:ext cx="3154680" cy="1380744"/>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4572000" y="0"/>
            <a:ext cx="4572000" cy="6858000"/>
          </a:xfrm>
          <a:blipFill>
            <a:blip r:embed="rId2">
              <a:alphaModFix amt="70000"/>
            </a:blip>
            <a:stretch>
              <a:fillRect/>
            </a:stretch>
          </a:blipFill>
        </p:spPr>
        <p:txBody>
          <a:bodyPr/>
          <a:lstStyle>
            <a:lvl1pPr>
              <a:defRPr/>
            </a:lvl1pPr>
          </a:lstStyle>
          <a:p>
            <a:r>
              <a:rPr lang="en-US" dirty="0"/>
              <a:t> </a:t>
            </a:r>
          </a:p>
        </p:txBody>
      </p:sp>
      <p:sp>
        <p:nvSpPr>
          <p:cNvPr id="4" name="Title 3">
            <a:extLst>
              <a:ext uri="{FF2B5EF4-FFF2-40B4-BE49-F238E27FC236}">
                <a16:creationId xmlns:a16="http://schemas.microsoft.com/office/drawing/2014/main" id="{E9134185-2980-312E-60AF-F360D16FB9EB}"/>
              </a:ext>
            </a:extLst>
          </p:cNvPr>
          <p:cNvSpPr>
            <a:spLocks noGrp="1"/>
          </p:cNvSpPr>
          <p:nvPr>
            <p:ph type="title"/>
          </p:nvPr>
        </p:nvSpPr>
        <p:spPr>
          <a:xfrm>
            <a:off x="-13716" y="81290"/>
            <a:ext cx="3490722" cy="3739896"/>
          </a:xfrm>
        </p:spPr>
        <p:txBody>
          <a:bodyPr/>
          <a:lstStyle/>
          <a:p>
            <a:r>
              <a:rPr lang="en-US"/>
              <a:t>Click to edit Master title style</a:t>
            </a:r>
            <a:endParaRPr lang="en-US" dirty="0"/>
          </a:p>
        </p:txBody>
      </p:sp>
    </p:spTree>
    <p:extLst>
      <p:ext uri="{BB962C8B-B14F-4D97-AF65-F5344CB8AC3E}">
        <p14:creationId xmlns:p14="http://schemas.microsoft.com/office/powerpoint/2010/main" val="2493480064"/>
      </p:ext>
    </p:extLst>
  </p:cSld>
  <p:clrMapOvr>
    <a:masterClrMapping/>
  </p:clrMapOvr>
  <p:hf hdr="0" ftr="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 y="6174464"/>
            <a:ext cx="4418351" cy="654839"/>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pic>
        <p:nvPicPr>
          <p:cNvPr id="7" name="Graphic 6">
            <a:extLst>
              <a:ext uri="{FF2B5EF4-FFF2-40B4-BE49-F238E27FC236}">
                <a16:creationId xmlns:a16="http://schemas.microsoft.com/office/drawing/2014/main" id="{D29E0058-93A2-5291-6ACA-A0430862664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27276" y="5873424"/>
            <a:ext cx="754380" cy="1005840"/>
          </a:xfrm>
          <a:prstGeom prst="rect">
            <a:avLst/>
          </a:prstGeom>
        </p:spPr>
      </p:pic>
      <p:sp>
        <p:nvSpPr>
          <p:cNvPr id="5" name="Footer Placeholder 4">
            <a:extLst>
              <a:ext uri="{FF2B5EF4-FFF2-40B4-BE49-F238E27FC236}">
                <a16:creationId xmlns:a16="http://schemas.microsoft.com/office/drawing/2014/main" id="{AA3F14EE-EFB3-D2DC-CEAA-621D66627158}"/>
              </a:ext>
            </a:extLst>
          </p:cNvPr>
          <p:cNvSpPr>
            <a:spLocks noGrp="1"/>
          </p:cNvSpPr>
          <p:nvPr>
            <p:ph type="ftr" sz="quarter" idx="11"/>
          </p:nvPr>
        </p:nvSpPr>
        <p:spPr/>
        <p:txBody>
          <a:bodyPr/>
          <a:lstStyle/>
          <a:p>
            <a:endParaRPr lang="en-IN">
              <a:solidFill>
                <a:prstClr val="black">
                  <a:tint val="75000"/>
                </a:prstClr>
              </a:solidFill>
            </a:endParaRPr>
          </a:p>
        </p:txBody>
      </p:sp>
      <p:sp>
        <p:nvSpPr>
          <p:cNvPr id="4" name="Date Placeholder 3">
            <a:extLst>
              <a:ext uri="{FF2B5EF4-FFF2-40B4-BE49-F238E27FC236}">
                <a16:creationId xmlns:a16="http://schemas.microsoft.com/office/drawing/2014/main" id="{7D33E0DC-DE5C-286F-36BD-6985F4A6C3DB}"/>
              </a:ext>
            </a:extLst>
          </p:cNvPr>
          <p:cNvSpPr>
            <a:spLocks noGrp="1"/>
          </p:cNvSpPr>
          <p:nvPr>
            <p:ph type="dt" sz="half" idx="10"/>
          </p:nvPr>
        </p:nvSpPr>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10" name="Slide Number Placeholder 9">
            <a:extLst>
              <a:ext uri="{FF2B5EF4-FFF2-40B4-BE49-F238E27FC236}">
                <a16:creationId xmlns:a16="http://schemas.microsoft.com/office/drawing/2014/main" id="{1207AF81-9CDB-689F-CE00-62257104ECAA}"/>
              </a:ext>
            </a:extLst>
          </p:cNvPr>
          <p:cNvSpPr>
            <a:spLocks noGrp="1"/>
          </p:cNvSpPr>
          <p:nvPr>
            <p:ph type="sldNum" sz="quarter" idx="12"/>
          </p:nvPr>
        </p:nvSpPr>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6" name="Title 5">
            <a:extLst>
              <a:ext uri="{FF2B5EF4-FFF2-40B4-BE49-F238E27FC236}">
                <a16:creationId xmlns:a16="http://schemas.microsoft.com/office/drawing/2014/main" id="{570B1373-40A5-190F-BE9F-8FC310F7B0D2}"/>
              </a:ext>
            </a:extLst>
          </p:cNvPr>
          <p:cNvSpPr>
            <a:spLocks noGrp="1"/>
          </p:cNvSpPr>
          <p:nvPr>
            <p:ph type="title"/>
          </p:nvPr>
        </p:nvSpPr>
        <p:spPr>
          <a:xfrm>
            <a:off x="-13716" y="2159632"/>
            <a:ext cx="7262622" cy="3776472"/>
          </a:xfrm>
        </p:spPr>
        <p:txBody>
          <a:bodyPr anchor="b"/>
          <a:lstStyle/>
          <a:p>
            <a:r>
              <a:rPr lang="en-US"/>
              <a:t>Click to edit Master title style</a:t>
            </a:r>
          </a:p>
        </p:txBody>
      </p:sp>
    </p:spTree>
    <p:extLst>
      <p:ext uri="{BB962C8B-B14F-4D97-AF65-F5344CB8AC3E}">
        <p14:creationId xmlns:p14="http://schemas.microsoft.com/office/powerpoint/2010/main" val="1599165708"/>
      </p:ext>
    </p:extLst>
  </p:cSld>
  <p:clrMapOvr>
    <a:masterClrMapping/>
  </p:clrMapOvr>
  <p:hf hdr="0" ftr="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533016" y="83125"/>
            <a:ext cx="548640" cy="731520"/>
          </a:xfrm>
          <a:prstGeom prst="rect">
            <a:avLst/>
          </a:prstGeom>
        </p:spPr>
      </p:pic>
      <p:sp>
        <p:nvSpPr>
          <p:cNvPr id="3" name="Title 2">
            <a:extLst>
              <a:ext uri="{FF2B5EF4-FFF2-40B4-BE49-F238E27FC236}">
                <a16:creationId xmlns:a16="http://schemas.microsoft.com/office/drawing/2014/main" id="{68197F50-0DC4-261A-813C-264E7361D716}"/>
              </a:ext>
            </a:extLst>
          </p:cNvPr>
          <p:cNvSpPr>
            <a:spLocks noGrp="1"/>
          </p:cNvSpPr>
          <p:nvPr>
            <p:ph type="title"/>
          </p:nvPr>
        </p:nvSpPr>
        <p:spPr>
          <a:xfrm>
            <a:off x="-13716" y="2184032"/>
            <a:ext cx="6055614" cy="4718304"/>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1090918898"/>
      </p:ext>
    </p:extLst>
  </p:cSld>
  <p:clrMapOvr>
    <a:overrideClrMapping bg1="lt1" tx1="dk1" bg2="lt2" tx2="dk2" accent1="accent1" accent2="accent2" accent3="accent3" accent4="accent4" accent5="accent5" accent6="accent6" hlink="hlink" folHlink="folHlink"/>
  </p:clrMapOvr>
  <p:hf hdr="0" ftr="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3716" y="82296"/>
            <a:ext cx="6104744" cy="1554480"/>
          </a:xfrm>
        </p:spPr>
        <p:txBody>
          <a:bodyPr anchor="t">
            <a:normAutofit/>
          </a:bodyPr>
          <a:lstStyle>
            <a:lvl1pPr>
              <a:defRPr sz="4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 y="1896472"/>
            <a:ext cx="6104745" cy="3557904"/>
          </a:xfrm>
        </p:spPr>
        <p:txBody>
          <a:bodyPr>
            <a:normAutofit/>
          </a:bodyPr>
          <a:lstStyle>
            <a:lvl1pPr marL="257175" indent="-257175">
              <a:buFont typeface="+mj-lt"/>
              <a:buAutoNum type="arabicPeriod"/>
              <a:defRPr sz="1050"/>
            </a:lvl1pPr>
            <a:lvl2pPr marL="428625" indent="-257175">
              <a:buFont typeface="+mj-lt"/>
              <a:buAutoNum type="arabicPeriod"/>
              <a:defRPr sz="1050"/>
            </a:lvl2pPr>
            <a:lvl3pPr marL="600075" indent="-257175">
              <a:buFont typeface="+mj-lt"/>
              <a:buAutoNum type="arabicPeriod"/>
              <a:defRPr sz="1050"/>
            </a:lvl3pPr>
            <a:lvl4pPr marL="771525" indent="-257175">
              <a:buFont typeface="+mj-lt"/>
              <a:buAutoNum type="arabicPeriod"/>
              <a:defRPr sz="1050"/>
            </a:lvl4pPr>
            <a:lvl5pPr marL="942975" indent="-257175">
              <a:buFont typeface="+mj-lt"/>
              <a:buAutoNum type="arabicPeriod"/>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Oval 7">
            <a:extLst>
              <a:ext uri="{FF2B5EF4-FFF2-40B4-BE49-F238E27FC236}">
                <a16:creationId xmlns:a16="http://schemas.microsoft.com/office/drawing/2014/main" id="{175C8E38-E957-9E3C-9A05-717C0F009AB9}"/>
              </a:ext>
            </a:extLst>
          </p:cNvPr>
          <p:cNvSpPr/>
          <p:nvPr/>
        </p:nvSpPr>
        <p:spPr>
          <a:xfrm>
            <a:off x="6414384" y="3218512"/>
            <a:ext cx="2668428"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5" name="Slide Number Placeholder 5">
            <a:extLst>
              <a:ext uri="{FF2B5EF4-FFF2-40B4-BE49-F238E27FC236}">
                <a16:creationId xmlns:a16="http://schemas.microsoft.com/office/drawing/2014/main" id="{01E193C2-09EC-BB41-5A34-007D34EB8B49}"/>
              </a:ext>
            </a:extLst>
          </p:cNvPr>
          <p:cNvSpPr>
            <a:spLocks noGrp="1"/>
          </p:cNvSpPr>
          <p:nvPr>
            <p:ph type="sldNum" sz="quarter" idx="12"/>
          </p:nvPr>
        </p:nvSpPr>
        <p:spPr>
          <a:xfrm>
            <a:off x="8822095" y="100702"/>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1233333196"/>
      </p:ext>
    </p:extLst>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624798" y="621792"/>
            <a:ext cx="4040036" cy="1816898"/>
          </a:xfrm>
        </p:spPr>
        <p:txBody>
          <a:bodyPr anchor="t">
            <a:noAutofit/>
          </a:bodyPr>
          <a:lstStyle>
            <a:lvl1pPr>
              <a:defRPr sz="42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4429982" cy="6858000"/>
          </a:xfrm>
          <a:blipFill>
            <a:blip r:embed="rId2">
              <a:alphaModFix amt="70000"/>
            </a:blip>
            <a:stretch>
              <a:fillRect/>
            </a:stretch>
          </a:blipFill>
        </p:spPr>
        <p:txBody>
          <a:bodyPr/>
          <a:lstStyle>
            <a:lvl1pPr>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642867" y="110365"/>
            <a:ext cx="4011929" cy="365125"/>
          </a:xfrm>
        </p:spPr>
        <p:txBody>
          <a:bodyPr/>
          <a:lstStyle/>
          <a:p>
            <a:endParaRPr lang="en-IN">
              <a:solidFill>
                <a:prstClr val="black">
                  <a:tint val="75000"/>
                </a:prstClr>
              </a:solidFill>
            </a:endParaRP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822095" y="110365"/>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642866" y="2740228"/>
            <a:ext cx="4429982" cy="4096512"/>
          </a:xfrm>
        </p:spPr>
        <p:txBody>
          <a:bodyPr anchor="b">
            <a:normAutofit/>
          </a:bodyPr>
          <a:lstStyle>
            <a:lvl1pPr marL="257175" indent="-257175">
              <a:buFont typeface="+mj-lt"/>
              <a:buAutoNum type="arabicPeriod"/>
              <a:defRPr sz="1050"/>
            </a:lvl1pPr>
            <a:lvl2pPr marL="428625" indent="-257175">
              <a:buFont typeface="+mj-lt"/>
              <a:buAutoNum type="arabicPeriod"/>
              <a:defRPr sz="1050"/>
            </a:lvl2pPr>
            <a:lvl3pPr marL="600075" indent="-257175">
              <a:buFont typeface="+mj-lt"/>
              <a:buAutoNum type="arabicPeriod"/>
              <a:defRPr sz="1050"/>
            </a:lvl3pPr>
            <a:lvl4pPr marL="771525" indent="-257175">
              <a:buFont typeface="+mj-lt"/>
              <a:buAutoNum type="arabicPeriod"/>
              <a:defRPr sz="1050"/>
            </a:lvl4pPr>
            <a:lvl5pPr marL="942975" indent="-257175">
              <a:buFont typeface="+mj-lt"/>
              <a:buAutoNum type="arabicPeriod"/>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46576925"/>
      </p:ext>
    </p:extLst>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178B15-836F-D50E-D616-40C9373248FF}"/>
              </a:ext>
            </a:extLst>
          </p:cNvPr>
          <p:cNvSpPr>
            <a:spLocks noGrp="1"/>
          </p:cNvSpPr>
          <p:nvPr>
            <p:ph type="title"/>
          </p:nvPr>
        </p:nvSpPr>
        <p:spPr>
          <a:xfrm>
            <a:off x="404734" y="987552"/>
            <a:ext cx="4024860" cy="4044508"/>
          </a:xfrm>
        </p:spPr>
        <p:txBody>
          <a:bodyPr>
            <a:normAutofit/>
          </a:bodyPr>
          <a:lstStyle>
            <a:lvl1pPr>
              <a:defRPr sz="4200"/>
            </a:lvl1pPr>
          </a:lstStyle>
          <a:p>
            <a:r>
              <a:rPr lang="en-US"/>
              <a:t>Click to edit Master title style</a:t>
            </a:r>
            <a:endParaRPr lang="en-US" dirty="0"/>
          </a:p>
        </p:txBody>
      </p:sp>
      <p:sp>
        <p:nvSpPr>
          <p:cNvPr id="3" name="Footer Placeholder 4">
            <a:extLst>
              <a:ext uri="{FF2B5EF4-FFF2-40B4-BE49-F238E27FC236}">
                <a16:creationId xmlns:a16="http://schemas.microsoft.com/office/drawing/2014/main" id="{83A196D4-110B-6911-7AF5-9149D3FFF8BC}"/>
              </a:ext>
            </a:extLst>
          </p:cNvPr>
          <p:cNvSpPr>
            <a:spLocks noGrp="1"/>
          </p:cNvSpPr>
          <p:nvPr>
            <p:ph type="ftr" sz="quarter" idx="11"/>
          </p:nvPr>
        </p:nvSpPr>
        <p:spPr>
          <a:xfrm>
            <a:off x="399113" y="100702"/>
            <a:ext cx="4024860" cy="365125"/>
          </a:xfrm>
        </p:spPr>
        <p:txBody>
          <a:bodyPr/>
          <a:lstStyle/>
          <a:p>
            <a:endParaRPr lang="en-IN">
              <a:solidFill>
                <a:prstClr val="black">
                  <a:tint val="75000"/>
                </a:prstClr>
              </a:solidFill>
            </a:endParaRPr>
          </a:p>
        </p:txBody>
      </p:sp>
      <p:sp>
        <p:nvSpPr>
          <p:cNvPr id="2" name="Date Placeholder 3">
            <a:extLst>
              <a:ext uri="{FF2B5EF4-FFF2-40B4-BE49-F238E27FC236}">
                <a16:creationId xmlns:a16="http://schemas.microsoft.com/office/drawing/2014/main" id="{A8D9253F-93F3-9EB9-BFA6-49C9461DE0DB}"/>
              </a:ext>
            </a:extLst>
          </p:cNvPr>
          <p:cNvSpPr>
            <a:spLocks noGrp="1"/>
          </p:cNvSpPr>
          <p:nvPr>
            <p:ph type="dt" sz="half" idx="10"/>
          </p:nvPr>
        </p:nvSpPr>
        <p:spPr>
          <a:xfrm>
            <a:off x="4642866" y="100702"/>
            <a:ext cx="2205337" cy="365125"/>
          </a:xfrm>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9" name="Slide Number Placeholder 5">
            <a:extLst>
              <a:ext uri="{FF2B5EF4-FFF2-40B4-BE49-F238E27FC236}">
                <a16:creationId xmlns:a16="http://schemas.microsoft.com/office/drawing/2014/main" id="{B94C6C96-D651-5D6B-830B-07E5A35424C7}"/>
              </a:ext>
            </a:extLst>
          </p:cNvPr>
          <p:cNvSpPr>
            <a:spLocks noGrp="1"/>
          </p:cNvSpPr>
          <p:nvPr>
            <p:ph type="sldNum" sz="quarter" idx="12"/>
          </p:nvPr>
        </p:nvSpPr>
        <p:spPr>
          <a:xfrm>
            <a:off x="8329299" y="100702"/>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642866" y="969264"/>
            <a:ext cx="4002565"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38637895"/>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4622" y="988980"/>
            <a:ext cx="2597159" cy="2942419"/>
          </a:xfrm>
        </p:spPr>
        <p:txBody>
          <a:bodyPr>
            <a:normAutofit/>
          </a:bodyPr>
          <a:lstStyle>
            <a:lvl1pPr>
              <a:defRPr sz="42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37A9910B-18FC-4A92-025A-A88AC7CD6B13}"/>
              </a:ext>
            </a:extLst>
          </p:cNvPr>
          <p:cNvSpPr>
            <a:spLocks noGrp="1"/>
          </p:cNvSpPr>
          <p:nvPr>
            <p:ph type="ftr" sz="quarter" idx="11"/>
          </p:nvPr>
        </p:nvSpPr>
        <p:spPr>
          <a:xfrm>
            <a:off x="399113" y="100702"/>
            <a:ext cx="2602668" cy="365125"/>
          </a:xfrm>
        </p:spPr>
        <p:txBody>
          <a:bodyPr/>
          <a:lstStyle/>
          <a:p>
            <a:endParaRPr lang="en-IN">
              <a:solidFill>
                <a:prstClr val="black">
                  <a:tint val="75000"/>
                </a:prstClr>
              </a:solidFill>
            </a:endParaRPr>
          </a:p>
        </p:txBody>
      </p:sp>
      <p:sp>
        <p:nvSpPr>
          <p:cNvPr id="4" name="Date Placeholder 3">
            <a:extLst>
              <a:ext uri="{FF2B5EF4-FFF2-40B4-BE49-F238E27FC236}">
                <a16:creationId xmlns:a16="http://schemas.microsoft.com/office/drawing/2014/main" id="{10752728-D41A-655E-871F-F76147E0E991}"/>
              </a:ext>
            </a:extLst>
          </p:cNvPr>
          <p:cNvSpPr>
            <a:spLocks noGrp="1"/>
          </p:cNvSpPr>
          <p:nvPr>
            <p:ph type="dt" sz="half" idx="10"/>
          </p:nvPr>
        </p:nvSpPr>
        <p:spPr>
          <a:xfrm>
            <a:off x="3237876" y="100702"/>
            <a:ext cx="2205337" cy="365125"/>
          </a:xfrm>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9" name="Slide Number Placeholder 5">
            <a:extLst>
              <a:ext uri="{FF2B5EF4-FFF2-40B4-BE49-F238E27FC236}">
                <a16:creationId xmlns:a16="http://schemas.microsoft.com/office/drawing/2014/main" id="{EE07CC96-728B-298D-B2D6-54C4E9F0E9CA}"/>
              </a:ext>
            </a:extLst>
          </p:cNvPr>
          <p:cNvSpPr>
            <a:spLocks noGrp="1"/>
          </p:cNvSpPr>
          <p:nvPr>
            <p:ph type="sldNum" sz="quarter" idx="12"/>
          </p:nvPr>
        </p:nvSpPr>
        <p:spPr>
          <a:xfrm>
            <a:off x="8329299" y="100702"/>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3237876" y="967689"/>
            <a:ext cx="5413328" cy="52371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71215230"/>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7D0064E-1F0E-2DDF-C6B5-9CE196C4B560}"/>
              </a:ext>
            </a:extLst>
          </p:cNvPr>
          <p:cNvSpPr>
            <a:spLocks noGrp="1"/>
          </p:cNvSpPr>
          <p:nvPr>
            <p:ph type="title"/>
          </p:nvPr>
        </p:nvSpPr>
        <p:spPr>
          <a:xfrm>
            <a:off x="3784354" y="612140"/>
            <a:ext cx="4874741" cy="1519612"/>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3603009" cy="6858000"/>
          </a:xfrm>
          <a:blipFill>
            <a:blip r:embed="rId2">
              <a:alphaModFix amt="70000"/>
            </a:blip>
            <a:stretch>
              <a:fillRect/>
            </a:stretch>
          </a:blipFill>
        </p:spPr>
        <p:txBody>
          <a:bodyPr/>
          <a:lstStyle>
            <a:lvl1pPr>
              <a:defRPr lang="en-US" dirty="0"/>
            </a:lvl1pPr>
          </a:lstStyle>
          <a:p>
            <a:r>
              <a:rPr lang="en-US" dirty="0"/>
              <a:t> </a:t>
            </a:r>
          </a:p>
        </p:txBody>
      </p:sp>
      <p:sp>
        <p:nvSpPr>
          <p:cNvPr id="7" name="Content Placeholder 7">
            <a:extLst>
              <a:ext uri="{FF2B5EF4-FFF2-40B4-BE49-F238E27FC236}">
                <a16:creationId xmlns:a16="http://schemas.microsoft.com/office/drawing/2014/main" id="{D478DAE4-13AB-5772-07E6-B3264F1E3141}"/>
              </a:ext>
            </a:extLst>
          </p:cNvPr>
          <p:cNvSpPr>
            <a:spLocks noGrp="1"/>
          </p:cNvSpPr>
          <p:nvPr>
            <p:ph sz="quarter" idx="14"/>
          </p:nvPr>
        </p:nvSpPr>
        <p:spPr>
          <a:xfrm>
            <a:off x="3828091" y="2457407"/>
            <a:ext cx="4831004" cy="3778977"/>
          </a:xfrm>
        </p:spPr>
        <p:txBody>
          <a:bodyPr anchor="t"/>
          <a:lstStyle>
            <a:lvl1pPr marL="0" indent="0">
              <a:buNone/>
              <a:defRPr/>
            </a:lvl1pPr>
            <a:lvl2pPr marL="171450" indent="0">
              <a:buNone/>
              <a:defRPr/>
            </a:lvl2pPr>
            <a:lvl3pPr marL="342900" indent="0">
              <a:buNone/>
              <a:defRPr/>
            </a:lvl3pPr>
            <a:lvl4pPr marL="514350" indent="0">
              <a:buNone/>
              <a:defRPr/>
            </a:lvl4pPr>
            <a:lvl5pPr marL="685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3828092" y="6452991"/>
            <a:ext cx="1476281" cy="365125"/>
          </a:xfrm>
        </p:spPr>
        <p:txBody>
          <a:bodyPr anchor="b"/>
          <a:lstStyle/>
          <a:p>
            <a:endParaRPr lang="en-IN">
              <a:solidFill>
                <a:prstClr val="black">
                  <a:tint val="75000"/>
                </a:prstClr>
              </a:solidFill>
            </a:endParaRP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8337190" y="6452990"/>
            <a:ext cx="321905" cy="365125"/>
          </a:xfrm>
        </p:spPr>
        <p:txBody>
          <a:bodyPr anchor="b"/>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4147377023"/>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CDF6858-35EF-4C90-B3F5-339B7EF1F60F}"/>
              </a:ext>
            </a:extLst>
          </p:cNvPr>
          <p:cNvSpPr>
            <a:spLocks noGrp="1"/>
          </p:cNvSpPr>
          <p:nvPr>
            <p:ph type="title"/>
          </p:nvPr>
        </p:nvSpPr>
        <p:spPr>
          <a:xfrm>
            <a:off x="3211345" y="621793"/>
            <a:ext cx="5439533" cy="1138769"/>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3017520" cy="6858000"/>
          </a:xfrm>
          <a:blipFill>
            <a:blip r:embed="rId2">
              <a:alphaModFix amt="70000"/>
            </a:blip>
            <a:stretch>
              <a:fillRect/>
            </a:stretch>
          </a:blipFill>
        </p:spPr>
        <p:txBody>
          <a:bodyPr/>
          <a:lstStyle>
            <a:lvl1pPr>
              <a:defRPr/>
            </a:lvl1pPr>
          </a:lstStyle>
          <a:p>
            <a:r>
              <a:rPr lang="en-US" dirty="0"/>
              <a:t> </a:t>
            </a:r>
          </a:p>
        </p:txBody>
      </p:sp>
      <p:sp>
        <p:nvSpPr>
          <p:cNvPr id="6" name="Content Placeholder 7">
            <a:extLst>
              <a:ext uri="{FF2B5EF4-FFF2-40B4-BE49-F238E27FC236}">
                <a16:creationId xmlns:a16="http://schemas.microsoft.com/office/drawing/2014/main" id="{72FCF01F-6AD4-FD29-865E-65BD55CF89DF}"/>
              </a:ext>
            </a:extLst>
          </p:cNvPr>
          <p:cNvSpPr>
            <a:spLocks noGrp="1"/>
          </p:cNvSpPr>
          <p:nvPr>
            <p:ph sz="quarter" idx="14"/>
          </p:nvPr>
        </p:nvSpPr>
        <p:spPr>
          <a:xfrm>
            <a:off x="3231817" y="2115404"/>
            <a:ext cx="5419061" cy="4212926"/>
          </a:xfrm>
        </p:spPr>
        <p:txBody>
          <a:bodyPr anchor="t" anchorCtr="0"/>
          <a:lstStyle>
            <a:lvl1pPr marL="0" indent="0">
              <a:buNone/>
              <a:defRPr/>
            </a:lvl1pPr>
            <a:lvl2pPr marL="171450" indent="0">
              <a:buNone/>
              <a:defRPr/>
            </a:lvl2pPr>
            <a:lvl3pPr marL="342900" indent="0">
              <a:buNone/>
              <a:defRPr/>
            </a:lvl3pPr>
            <a:lvl4pPr marL="514350" indent="0">
              <a:buNone/>
              <a:defRPr/>
            </a:lvl4pPr>
            <a:lvl5pPr marL="685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8">
            <a:extLst>
              <a:ext uri="{FF2B5EF4-FFF2-40B4-BE49-F238E27FC236}">
                <a16:creationId xmlns:a16="http://schemas.microsoft.com/office/drawing/2014/main" id="{4F9B8FC8-8820-A655-2A18-E8F8FC2C72DE}"/>
              </a:ext>
            </a:extLst>
          </p:cNvPr>
          <p:cNvSpPr>
            <a:spLocks noGrp="1"/>
          </p:cNvSpPr>
          <p:nvPr>
            <p:ph type="ftr" sz="quarter" idx="16"/>
          </p:nvPr>
        </p:nvSpPr>
        <p:spPr>
          <a:xfrm>
            <a:off x="3211345" y="6492876"/>
            <a:ext cx="1476281" cy="365125"/>
          </a:xfrm>
        </p:spPr>
        <p:txBody>
          <a:bodyPr anchor="b"/>
          <a:lstStyle/>
          <a:p>
            <a:endParaRPr lang="en-IN">
              <a:solidFill>
                <a:prstClr val="black">
                  <a:tint val="75000"/>
                </a:prstClr>
              </a:solidFill>
            </a:endParaRPr>
          </a:p>
        </p:txBody>
      </p:sp>
      <p:sp>
        <p:nvSpPr>
          <p:cNvPr id="13" name="Date Placeholder 2">
            <a:extLst>
              <a:ext uri="{FF2B5EF4-FFF2-40B4-BE49-F238E27FC236}">
                <a16:creationId xmlns:a16="http://schemas.microsoft.com/office/drawing/2014/main" id="{A8C032E2-BBA3-EA74-8FE1-5AFC46A21AE1}"/>
              </a:ext>
            </a:extLst>
          </p:cNvPr>
          <p:cNvSpPr>
            <a:spLocks noGrp="1"/>
          </p:cNvSpPr>
          <p:nvPr>
            <p:ph type="dt" sz="half" idx="18"/>
          </p:nvPr>
        </p:nvSpPr>
        <p:spPr>
          <a:xfrm>
            <a:off x="6767927" y="6492876"/>
            <a:ext cx="1197150" cy="365125"/>
          </a:xfrm>
        </p:spPr>
        <p:txBody>
          <a:bodyPr anchor="b"/>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12" name="Slide Number Placeholder 9">
            <a:extLst>
              <a:ext uri="{FF2B5EF4-FFF2-40B4-BE49-F238E27FC236}">
                <a16:creationId xmlns:a16="http://schemas.microsoft.com/office/drawing/2014/main" id="{D28087CA-07B9-D0D2-3AA7-C34B5C9645B8}"/>
              </a:ext>
            </a:extLst>
          </p:cNvPr>
          <p:cNvSpPr>
            <a:spLocks noGrp="1"/>
          </p:cNvSpPr>
          <p:nvPr>
            <p:ph type="sldNum" sz="quarter" idx="17"/>
          </p:nvPr>
        </p:nvSpPr>
        <p:spPr>
          <a:xfrm>
            <a:off x="8328973" y="6492876"/>
            <a:ext cx="321905" cy="365125"/>
          </a:xfrm>
        </p:spPr>
        <p:txBody>
          <a:bodyPr anchor="b"/>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3420692008"/>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7A932ED1-5750-0D24-8D58-961B6F20FA21}"/>
              </a:ext>
            </a:extLst>
          </p:cNvPr>
          <p:cNvSpPr>
            <a:spLocks noGrp="1"/>
          </p:cNvSpPr>
          <p:nvPr>
            <p:ph type="title"/>
          </p:nvPr>
        </p:nvSpPr>
        <p:spPr>
          <a:xfrm>
            <a:off x="406730" y="621793"/>
            <a:ext cx="5439533" cy="1138769"/>
          </a:xfrm>
        </p:spPr>
        <p:txBody>
          <a:body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01598DB3-17DB-7EDD-0F42-9866A753C2DD}"/>
              </a:ext>
            </a:extLst>
          </p:cNvPr>
          <p:cNvSpPr>
            <a:spLocks noGrp="1"/>
          </p:cNvSpPr>
          <p:nvPr>
            <p:ph sz="quarter" idx="19"/>
          </p:nvPr>
        </p:nvSpPr>
        <p:spPr>
          <a:xfrm>
            <a:off x="427202" y="2115404"/>
            <a:ext cx="5419061" cy="4212926"/>
          </a:xfrm>
        </p:spPr>
        <p:txBody>
          <a:bodyPr anchor="t" anchorCtr="0"/>
          <a:lstStyle>
            <a:lvl1pPr marL="0" indent="0">
              <a:buNone/>
              <a:defRPr/>
            </a:lvl1pPr>
            <a:lvl2pPr marL="171450" indent="0">
              <a:buNone/>
              <a:defRPr/>
            </a:lvl2pPr>
            <a:lvl3pPr marL="342900" indent="0">
              <a:buNone/>
              <a:defRPr/>
            </a:lvl3pPr>
            <a:lvl4pPr marL="514350" indent="0">
              <a:buNone/>
              <a:defRPr/>
            </a:lvl4pPr>
            <a:lvl5pPr marL="685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10">
            <a:extLst>
              <a:ext uri="{FF2B5EF4-FFF2-40B4-BE49-F238E27FC236}">
                <a16:creationId xmlns:a16="http://schemas.microsoft.com/office/drawing/2014/main" id="{6C5AB1A9-786B-C92B-C6EA-63CE0AACFB1E}"/>
              </a:ext>
            </a:extLst>
          </p:cNvPr>
          <p:cNvSpPr>
            <a:spLocks noGrp="1"/>
          </p:cNvSpPr>
          <p:nvPr>
            <p:ph type="pic" sz="quarter" idx="13" hasCustomPrompt="1"/>
          </p:nvPr>
        </p:nvSpPr>
        <p:spPr>
          <a:xfrm>
            <a:off x="6126480" y="1"/>
            <a:ext cx="3017520" cy="6858000"/>
          </a:xfrm>
          <a:blipFill>
            <a:blip r:embed="rId2">
              <a:alphaModFix amt="70000"/>
            </a:blip>
            <a:stretch>
              <a:fillRect/>
            </a:stretch>
          </a:blipFill>
        </p:spPr>
        <p:txBody>
          <a:bodyPr/>
          <a:lstStyle>
            <a:lvl1pPr>
              <a:defRPr/>
            </a:lvl1pPr>
          </a:lstStyle>
          <a:p>
            <a:r>
              <a:rPr lang="en-US" dirty="0"/>
              <a:t> </a:t>
            </a:r>
          </a:p>
        </p:txBody>
      </p:sp>
      <p:sp>
        <p:nvSpPr>
          <p:cNvPr id="5" name="Footer Placeholder 2">
            <a:extLst>
              <a:ext uri="{FF2B5EF4-FFF2-40B4-BE49-F238E27FC236}">
                <a16:creationId xmlns:a16="http://schemas.microsoft.com/office/drawing/2014/main" id="{C6115057-015C-DC83-074A-D22D9E0B6CD2}"/>
              </a:ext>
            </a:extLst>
          </p:cNvPr>
          <p:cNvSpPr>
            <a:spLocks noGrp="1"/>
          </p:cNvSpPr>
          <p:nvPr>
            <p:ph type="ftr" sz="quarter" idx="16"/>
          </p:nvPr>
        </p:nvSpPr>
        <p:spPr>
          <a:xfrm>
            <a:off x="406731" y="6492876"/>
            <a:ext cx="1476281" cy="365125"/>
          </a:xfrm>
        </p:spPr>
        <p:txBody>
          <a:bodyPr/>
          <a:lstStyle/>
          <a:p>
            <a:endParaRPr lang="en-IN">
              <a:solidFill>
                <a:prstClr val="black">
                  <a:tint val="75000"/>
                </a:prstClr>
              </a:solidFill>
            </a:endParaRPr>
          </a:p>
        </p:txBody>
      </p:sp>
      <p:sp>
        <p:nvSpPr>
          <p:cNvPr id="8" name="Date Placeholder 1">
            <a:extLst>
              <a:ext uri="{FF2B5EF4-FFF2-40B4-BE49-F238E27FC236}">
                <a16:creationId xmlns:a16="http://schemas.microsoft.com/office/drawing/2014/main" id="{42028964-5597-F5F0-6AEA-C79255C9BCE9}"/>
              </a:ext>
            </a:extLst>
          </p:cNvPr>
          <p:cNvSpPr>
            <a:spLocks noGrp="1"/>
          </p:cNvSpPr>
          <p:nvPr>
            <p:ph type="dt" sz="half" idx="18"/>
          </p:nvPr>
        </p:nvSpPr>
        <p:spPr>
          <a:xfrm>
            <a:off x="3963313" y="6492876"/>
            <a:ext cx="1197150" cy="365125"/>
          </a:xfrm>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6" name="Slide Number Placeholder 3">
            <a:extLst>
              <a:ext uri="{FF2B5EF4-FFF2-40B4-BE49-F238E27FC236}">
                <a16:creationId xmlns:a16="http://schemas.microsoft.com/office/drawing/2014/main" id="{B6324527-5F82-8213-FFB9-A5E6BEB2314F}"/>
              </a:ext>
            </a:extLst>
          </p:cNvPr>
          <p:cNvSpPr>
            <a:spLocks noGrp="1"/>
          </p:cNvSpPr>
          <p:nvPr>
            <p:ph type="sldNum" sz="quarter" idx="17"/>
          </p:nvPr>
        </p:nvSpPr>
        <p:spPr>
          <a:xfrm>
            <a:off x="5524358" y="6492876"/>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1276978386"/>
      </p:ext>
    </p:extLst>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15000-16D8-B5F1-E35B-BAE97B4E6EE4}"/>
              </a:ext>
            </a:extLst>
          </p:cNvPr>
          <p:cNvSpPr>
            <a:spLocks noGrp="1"/>
          </p:cNvSpPr>
          <p:nvPr>
            <p:ph type="title"/>
          </p:nvPr>
        </p:nvSpPr>
        <p:spPr>
          <a:xfrm>
            <a:off x="388961" y="621793"/>
            <a:ext cx="3995013" cy="1507454"/>
          </a:xfrm>
        </p:spPr>
        <p:txBody>
          <a:bodyPr anchor="t" anchorCtr="0"/>
          <a:lstStyle/>
          <a:p>
            <a:r>
              <a:rPr lang="en-US"/>
              <a:t>Click to edit Master title style</a:t>
            </a:r>
            <a:endParaRPr lang="en-US" dirty="0"/>
          </a:p>
        </p:txBody>
      </p:sp>
      <p:sp>
        <p:nvSpPr>
          <p:cNvPr id="3" name="Content Placeholder 7">
            <a:extLst>
              <a:ext uri="{FF2B5EF4-FFF2-40B4-BE49-F238E27FC236}">
                <a16:creationId xmlns:a16="http://schemas.microsoft.com/office/drawing/2014/main" id="{B022A1E6-0A6D-9476-5034-0BDE3EE38B91}"/>
              </a:ext>
            </a:extLst>
          </p:cNvPr>
          <p:cNvSpPr>
            <a:spLocks noGrp="1"/>
          </p:cNvSpPr>
          <p:nvPr>
            <p:ph sz="quarter" idx="19"/>
          </p:nvPr>
        </p:nvSpPr>
        <p:spPr>
          <a:xfrm>
            <a:off x="388963" y="2513110"/>
            <a:ext cx="3995012" cy="3568006"/>
          </a:xfrm>
        </p:spPr>
        <p:txBody>
          <a:bodyPr anchor="t" anchorCtr="0"/>
          <a:lstStyle>
            <a:lvl1pPr marL="0" indent="0">
              <a:buNone/>
              <a:defRPr/>
            </a:lvl1pPr>
            <a:lvl2pPr marL="171450" indent="0">
              <a:buNone/>
              <a:defRPr/>
            </a:lvl2pPr>
            <a:lvl3pPr marL="342900" indent="0">
              <a:buNone/>
              <a:defRPr/>
            </a:lvl3pPr>
            <a:lvl4pPr marL="514350" indent="0">
              <a:buNone/>
              <a:defRPr/>
            </a:lvl4pPr>
            <a:lvl5pPr marL="685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7">
            <a:extLst>
              <a:ext uri="{FF2B5EF4-FFF2-40B4-BE49-F238E27FC236}">
                <a16:creationId xmlns:a16="http://schemas.microsoft.com/office/drawing/2014/main" id="{6B8D4096-4B0D-5226-C004-475A83BE8BFE}"/>
              </a:ext>
            </a:extLst>
          </p:cNvPr>
          <p:cNvSpPr>
            <a:spLocks noGrp="1"/>
          </p:cNvSpPr>
          <p:nvPr>
            <p:ph type="pic" sz="quarter" idx="18" hasCustomPrompt="1"/>
          </p:nvPr>
        </p:nvSpPr>
        <p:spPr>
          <a:xfrm>
            <a:off x="4731631" y="0"/>
            <a:ext cx="4412369" cy="6858000"/>
          </a:xfrm>
          <a:blipFill>
            <a:blip r:embed="rId2">
              <a:alphaModFix amt="70000"/>
            </a:blip>
            <a:stretch>
              <a:fillRect/>
            </a:stretch>
          </a:blipFill>
        </p:spPr>
        <p:txBody>
          <a:bodyPr/>
          <a:lstStyle>
            <a:lvl1pPr>
              <a:defRPr/>
            </a:lvl1pPr>
          </a:lstStyle>
          <a:p>
            <a:r>
              <a:rPr lang="en-US" dirty="0"/>
              <a:t> </a:t>
            </a:r>
          </a:p>
        </p:txBody>
      </p:sp>
      <p:sp>
        <p:nvSpPr>
          <p:cNvPr id="9" name="Footer Placeholder 8">
            <a:extLst>
              <a:ext uri="{FF2B5EF4-FFF2-40B4-BE49-F238E27FC236}">
                <a16:creationId xmlns:a16="http://schemas.microsoft.com/office/drawing/2014/main" id="{8917C8CF-AEBF-835D-4503-06A0208049F0}"/>
              </a:ext>
            </a:extLst>
          </p:cNvPr>
          <p:cNvSpPr>
            <a:spLocks noGrp="1"/>
          </p:cNvSpPr>
          <p:nvPr>
            <p:ph type="ftr" sz="quarter" idx="16"/>
          </p:nvPr>
        </p:nvSpPr>
        <p:spPr>
          <a:xfrm>
            <a:off x="388962" y="6450238"/>
            <a:ext cx="1476281" cy="365125"/>
          </a:xfrm>
        </p:spPr>
        <p:txBody>
          <a:bodyPr anchor="b"/>
          <a:lstStyle/>
          <a:p>
            <a:endParaRPr lang="en-IN">
              <a:solidFill>
                <a:prstClr val="black">
                  <a:tint val="75000"/>
                </a:prstClr>
              </a:solidFill>
            </a:endParaRPr>
          </a:p>
        </p:txBody>
      </p:sp>
      <p:sp>
        <p:nvSpPr>
          <p:cNvPr id="10" name="Slide Number Placeholder 9">
            <a:extLst>
              <a:ext uri="{FF2B5EF4-FFF2-40B4-BE49-F238E27FC236}">
                <a16:creationId xmlns:a16="http://schemas.microsoft.com/office/drawing/2014/main" id="{13662962-C2D0-E99D-BD6A-C97F4798F261}"/>
              </a:ext>
            </a:extLst>
          </p:cNvPr>
          <p:cNvSpPr>
            <a:spLocks noGrp="1"/>
          </p:cNvSpPr>
          <p:nvPr>
            <p:ph type="sldNum" sz="quarter" idx="17"/>
          </p:nvPr>
        </p:nvSpPr>
        <p:spPr>
          <a:xfrm>
            <a:off x="4090465" y="6464980"/>
            <a:ext cx="321905" cy="365125"/>
          </a:xfrm>
        </p:spPr>
        <p:txBody>
          <a:bodyPr anchor="b"/>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934753661"/>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8B87BE0-867D-AF74-02DD-6F5420BC6D61}"/>
              </a:ext>
            </a:extLst>
          </p:cNvPr>
          <p:cNvSpPr>
            <a:spLocks noGrp="1"/>
          </p:cNvSpPr>
          <p:nvPr>
            <p:ph type="title"/>
          </p:nvPr>
        </p:nvSpPr>
        <p:spPr>
          <a:xfrm>
            <a:off x="389224" y="621793"/>
            <a:ext cx="3335153" cy="1867629"/>
          </a:xfrm>
        </p:spPr>
        <p:txBody>
          <a:bodyPr anchor="t">
            <a:noAutofit/>
          </a:bodyPr>
          <a:lstStyle>
            <a:lvl1pPr>
              <a:defRPr sz="4200"/>
            </a:lvl1p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7B86FDEC-359F-20D5-12F6-5CBA3DC009EA}"/>
              </a:ext>
            </a:extLst>
          </p:cNvPr>
          <p:cNvSpPr>
            <a:spLocks noGrp="1"/>
          </p:cNvSpPr>
          <p:nvPr>
            <p:ph sz="quarter" idx="14"/>
          </p:nvPr>
        </p:nvSpPr>
        <p:spPr>
          <a:xfrm>
            <a:off x="407956" y="2890729"/>
            <a:ext cx="3336920" cy="313843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0">
            <a:extLst>
              <a:ext uri="{FF2B5EF4-FFF2-40B4-BE49-F238E27FC236}">
                <a16:creationId xmlns:a16="http://schemas.microsoft.com/office/drawing/2014/main" id="{FBEF9CB2-E8D7-8869-9B11-C58F1606DFE0}"/>
              </a:ext>
            </a:extLst>
          </p:cNvPr>
          <p:cNvSpPr>
            <a:spLocks noGrp="1"/>
          </p:cNvSpPr>
          <p:nvPr>
            <p:ph type="pic" sz="quarter" idx="13" hasCustomPrompt="1"/>
          </p:nvPr>
        </p:nvSpPr>
        <p:spPr>
          <a:xfrm>
            <a:off x="4022677" y="0"/>
            <a:ext cx="5121323" cy="6858000"/>
          </a:xfrm>
          <a:blipFill>
            <a:blip r:embed="rId2">
              <a:alphaModFix amt="70000"/>
            </a:blip>
            <a:stretch>
              <a:fillRect/>
            </a:stretch>
          </a:blipFill>
        </p:spPr>
        <p:txBody>
          <a:bodyPr/>
          <a:lstStyle>
            <a:lvl1pPr>
              <a:defRPr/>
            </a:lvl1pPr>
          </a:lstStyle>
          <a:p>
            <a:r>
              <a:rPr lang="en-US" dirty="0"/>
              <a:t> </a:t>
            </a:r>
          </a:p>
        </p:txBody>
      </p:sp>
      <p:sp>
        <p:nvSpPr>
          <p:cNvPr id="10" name="Footer Placeholder 8">
            <a:extLst>
              <a:ext uri="{FF2B5EF4-FFF2-40B4-BE49-F238E27FC236}">
                <a16:creationId xmlns:a16="http://schemas.microsoft.com/office/drawing/2014/main" id="{4784CE43-81E9-3B12-CB65-9B5FC6ECE9ED}"/>
              </a:ext>
            </a:extLst>
          </p:cNvPr>
          <p:cNvSpPr>
            <a:spLocks noGrp="1"/>
          </p:cNvSpPr>
          <p:nvPr>
            <p:ph type="ftr" sz="quarter" idx="16"/>
          </p:nvPr>
        </p:nvSpPr>
        <p:spPr>
          <a:xfrm>
            <a:off x="386714" y="6430477"/>
            <a:ext cx="1476281" cy="379867"/>
          </a:xfrm>
        </p:spPr>
        <p:txBody>
          <a:bodyPr anchor="b"/>
          <a:lstStyle/>
          <a:p>
            <a:endParaRPr lang="en-IN">
              <a:solidFill>
                <a:prstClr val="black">
                  <a:tint val="75000"/>
                </a:prstClr>
              </a:solidFill>
            </a:endParaRPr>
          </a:p>
        </p:txBody>
      </p:sp>
      <p:sp>
        <p:nvSpPr>
          <p:cNvPr id="11" name="Slide Number Placeholder 9">
            <a:extLst>
              <a:ext uri="{FF2B5EF4-FFF2-40B4-BE49-F238E27FC236}">
                <a16:creationId xmlns:a16="http://schemas.microsoft.com/office/drawing/2014/main" id="{779F1775-5104-9F86-4A61-07F914947CC9}"/>
              </a:ext>
            </a:extLst>
          </p:cNvPr>
          <p:cNvSpPr>
            <a:spLocks noGrp="1"/>
          </p:cNvSpPr>
          <p:nvPr>
            <p:ph type="sldNum" sz="quarter" idx="17"/>
          </p:nvPr>
        </p:nvSpPr>
        <p:spPr>
          <a:xfrm>
            <a:off x="3422971" y="6430477"/>
            <a:ext cx="321905" cy="379867"/>
          </a:xfrm>
        </p:spPr>
        <p:txBody>
          <a:bodyPr anchor="b"/>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3400897873"/>
      </p:ext>
    </p:extLst>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737300" y="621793"/>
            <a:ext cx="2913410" cy="2280501"/>
          </a:xfrm>
        </p:spPr>
        <p:txBody>
          <a:bodyPr anchor="t">
            <a:noAutofit/>
          </a:bodyPr>
          <a:lstStyle>
            <a:lvl1pPr>
              <a:defRPr sz="4200"/>
            </a:lvl1pPr>
          </a:lstStyle>
          <a:p>
            <a:r>
              <a:rPr lang="en-US"/>
              <a:t>Click to edit Master title style</a:t>
            </a:r>
            <a:endParaRPr lang="en-US" dirty="0"/>
          </a:p>
        </p:txBody>
      </p:sp>
      <p:sp>
        <p:nvSpPr>
          <p:cNvPr id="3" name="Picture Placeholder 10">
            <a:extLst>
              <a:ext uri="{FF2B5EF4-FFF2-40B4-BE49-F238E27FC236}">
                <a16:creationId xmlns:a16="http://schemas.microsoft.com/office/drawing/2014/main" id="{74736F65-8A7D-D535-AAD0-31480F8AD318}"/>
              </a:ext>
            </a:extLst>
          </p:cNvPr>
          <p:cNvSpPr>
            <a:spLocks noGrp="1"/>
          </p:cNvSpPr>
          <p:nvPr>
            <p:ph type="pic" sz="quarter" idx="13" hasCustomPrompt="1"/>
          </p:nvPr>
        </p:nvSpPr>
        <p:spPr>
          <a:xfrm>
            <a:off x="-1" y="0"/>
            <a:ext cx="5445457" cy="6858000"/>
          </a:xfrm>
          <a:blipFill>
            <a:blip r:embed="rId2">
              <a:alphaModFix amt="7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765641" y="3211512"/>
            <a:ext cx="2913410" cy="27432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8">
            <a:extLst>
              <a:ext uri="{FF2B5EF4-FFF2-40B4-BE49-F238E27FC236}">
                <a16:creationId xmlns:a16="http://schemas.microsoft.com/office/drawing/2014/main" id="{C64245F1-97E2-FD23-26A5-03067F464698}"/>
              </a:ext>
            </a:extLst>
          </p:cNvPr>
          <p:cNvSpPr>
            <a:spLocks noGrp="1"/>
          </p:cNvSpPr>
          <p:nvPr>
            <p:ph type="ftr" sz="quarter" idx="16"/>
          </p:nvPr>
        </p:nvSpPr>
        <p:spPr>
          <a:xfrm>
            <a:off x="5737300" y="6456385"/>
            <a:ext cx="1476281" cy="379867"/>
          </a:xfrm>
        </p:spPr>
        <p:txBody>
          <a:bodyPr anchor="b"/>
          <a:lstStyle/>
          <a:p>
            <a:endParaRPr lang="en-IN">
              <a:solidFill>
                <a:prstClr val="black">
                  <a:tint val="75000"/>
                </a:prstClr>
              </a:solidFill>
            </a:endParaRPr>
          </a:p>
        </p:txBody>
      </p:sp>
      <p:sp>
        <p:nvSpPr>
          <p:cNvPr id="5" name="Slide Number Placeholder 9">
            <a:extLst>
              <a:ext uri="{FF2B5EF4-FFF2-40B4-BE49-F238E27FC236}">
                <a16:creationId xmlns:a16="http://schemas.microsoft.com/office/drawing/2014/main" id="{15E75D5B-F407-F4DD-192B-D56CF168CDA4}"/>
              </a:ext>
            </a:extLst>
          </p:cNvPr>
          <p:cNvSpPr>
            <a:spLocks noGrp="1"/>
          </p:cNvSpPr>
          <p:nvPr>
            <p:ph type="sldNum" sz="quarter" idx="17"/>
          </p:nvPr>
        </p:nvSpPr>
        <p:spPr>
          <a:xfrm>
            <a:off x="8350615" y="6456386"/>
            <a:ext cx="321905" cy="379867"/>
          </a:xfrm>
        </p:spPr>
        <p:txBody>
          <a:bodyPr anchor="b"/>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1894440627"/>
      </p:ext>
    </p:extLst>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686070-85E7-EB57-8965-F95F2692CC62}"/>
              </a:ext>
            </a:extLst>
          </p:cNvPr>
          <p:cNvSpPr>
            <a:spLocks noGrp="1"/>
          </p:cNvSpPr>
          <p:nvPr>
            <p:ph type="title"/>
          </p:nvPr>
        </p:nvSpPr>
        <p:spPr>
          <a:xfrm>
            <a:off x="384048" y="3608277"/>
            <a:ext cx="3321525" cy="2620587"/>
          </a:xfrm>
        </p:spPr>
        <p:txBody>
          <a:bodyPr anchor="t">
            <a:noAutofit/>
          </a:bodyPr>
          <a:lstStyle>
            <a:lvl1pPr>
              <a:defRPr sz="42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9144000" cy="3429000"/>
          </a:xfrm>
          <a:blipFill>
            <a:blip r:embed="rId2">
              <a:alphaModFix amt="70000"/>
            </a:blip>
            <a:stretch>
              <a:fillRect/>
            </a:stretch>
          </a:blipFill>
        </p:spPr>
        <p:txBody>
          <a:bodyPr/>
          <a:lstStyle>
            <a:lvl1pPr>
              <a:defRPr/>
            </a:lvl1pPr>
          </a:lstStyle>
          <a:p>
            <a:r>
              <a:rPr lang="en-US" dirty="0"/>
              <a:t> </a:t>
            </a:r>
          </a:p>
        </p:txBody>
      </p:sp>
      <p:sp>
        <p:nvSpPr>
          <p:cNvPr id="2" name="Content Placeholder 7">
            <a:extLst>
              <a:ext uri="{FF2B5EF4-FFF2-40B4-BE49-F238E27FC236}">
                <a16:creationId xmlns:a16="http://schemas.microsoft.com/office/drawing/2014/main" id="{4546533B-13A8-961D-BD05-8DE715F63409}"/>
              </a:ext>
            </a:extLst>
          </p:cNvPr>
          <p:cNvSpPr>
            <a:spLocks noGrp="1"/>
          </p:cNvSpPr>
          <p:nvPr>
            <p:ph sz="quarter" idx="14"/>
          </p:nvPr>
        </p:nvSpPr>
        <p:spPr>
          <a:xfrm>
            <a:off x="3951027" y="3579703"/>
            <a:ext cx="4723832" cy="2620587"/>
          </a:xfrm>
        </p:spPr>
        <p:txBody>
          <a:bodyPr vert="horz" lIns="91440" tIns="45720" rIns="91440" bIns="45720" rtlCol="0">
            <a:normAutofit/>
          </a:bodyPr>
          <a:lstStyle>
            <a:lvl1pPr marL="0" indent="0">
              <a:buNone/>
              <a:defRPr lang="en-US" dirty="0"/>
            </a:lvl1pPr>
            <a:lvl2pPr marL="171450" indent="0">
              <a:buNone/>
              <a:defRPr lang="en-US" dirty="0"/>
            </a:lvl2pPr>
            <a:lvl3pPr marL="342900" indent="0">
              <a:buNone/>
              <a:defRPr lang="en-US" dirty="0"/>
            </a:lvl3pPr>
            <a:lvl4pPr marL="514350" indent="0">
              <a:buNone/>
              <a:defRPr lang="en-US" dirty="0"/>
            </a:lvl4pPr>
            <a:lvl5pPr marL="685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8">
            <a:extLst>
              <a:ext uri="{FF2B5EF4-FFF2-40B4-BE49-F238E27FC236}">
                <a16:creationId xmlns:a16="http://schemas.microsoft.com/office/drawing/2014/main" id="{9349FD65-108E-79AD-A9C8-91429963386F}"/>
              </a:ext>
            </a:extLst>
          </p:cNvPr>
          <p:cNvSpPr>
            <a:spLocks noGrp="1"/>
          </p:cNvSpPr>
          <p:nvPr>
            <p:ph type="ftr" sz="quarter" idx="16"/>
          </p:nvPr>
        </p:nvSpPr>
        <p:spPr>
          <a:xfrm>
            <a:off x="3947000" y="6442873"/>
            <a:ext cx="1476281" cy="379867"/>
          </a:xfrm>
        </p:spPr>
        <p:txBody>
          <a:bodyPr anchor="b"/>
          <a:lstStyle/>
          <a:p>
            <a:endParaRPr lang="en-IN">
              <a:solidFill>
                <a:prstClr val="black">
                  <a:tint val="75000"/>
                </a:prstClr>
              </a:solidFill>
            </a:endParaRPr>
          </a:p>
        </p:txBody>
      </p:sp>
      <p:sp>
        <p:nvSpPr>
          <p:cNvPr id="12" name="Date Placeholder 2">
            <a:extLst>
              <a:ext uri="{FF2B5EF4-FFF2-40B4-BE49-F238E27FC236}">
                <a16:creationId xmlns:a16="http://schemas.microsoft.com/office/drawing/2014/main" id="{547B7542-C2BA-4322-9FF4-E2713B917492}"/>
              </a:ext>
            </a:extLst>
          </p:cNvPr>
          <p:cNvSpPr>
            <a:spLocks noGrp="1"/>
          </p:cNvSpPr>
          <p:nvPr>
            <p:ph type="dt" sz="half" idx="18"/>
          </p:nvPr>
        </p:nvSpPr>
        <p:spPr>
          <a:xfrm>
            <a:off x="5772780" y="6442873"/>
            <a:ext cx="1721998" cy="379867"/>
          </a:xfrm>
        </p:spPr>
        <p:txBody>
          <a:bodyPr anchor="b"/>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7" name="Slide Number Placeholder 9">
            <a:extLst>
              <a:ext uri="{FF2B5EF4-FFF2-40B4-BE49-F238E27FC236}">
                <a16:creationId xmlns:a16="http://schemas.microsoft.com/office/drawing/2014/main" id="{EB058DA4-9F6F-CC80-D1C5-728E096806C3}"/>
              </a:ext>
            </a:extLst>
          </p:cNvPr>
          <p:cNvSpPr>
            <a:spLocks noGrp="1"/>
          </p:cNvSpPr>
          <p:nvPr>
            <p:ph type="sldNum" sz="quarter" idx="17"/>
          </p:nvPr>
        </p:nvSpPr>
        <p:spPr>
          <a:xfrm>
            <a:off x="8352954" y="6442874"/>
            <a:ext cx="321905" cy="379867"/>
          </a:xfrm>
        </p:spPr>
        <p:txBody>
          <a:bodyPr anchor="b"/>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1074116570"/>
      </p:ext>
    </p:extLst>
  </p:cSld>
  <p:clrMapOvr>
    <a:masterClrMapping/>
  </p:clrMapOvr>
  <p:hf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0F469B-7972-C862-3265-20EC44D749C7}"/>
              </a:ext>
            </a:extLst>
          </p:cNvPr>
          <p:cNvSpPr>
            <a:spLocks noGrp="1"/>
          </p:cNvSpPr>
          <p:nvPr>
            <p:ph type="title"/>
          </p:nvPr>
        </p:nvSpPr>
        <p:spPr>
          <a:xfrm>
            <a:off x="384049" y="631711"/>
            <a:ext cx="8274179" cy="1115203"/>
          </a:xfrm>
        </p:spPr>
        <p:txBody>
          <a:bodyPr anchor="t">
            <a:noAutofit/>
          </a:bodyPr>
          <a:lstStyle>
            <a:lvl1pPr>
              <a:defRPr sz="4200"/>
            </a:lvl1pPr>
          </a:lstStyle>
          <a:p>
            <a:r>
              <a:rPr lang="en-US"/>
              <a:t>Click to edit Master title style</a:t>
            </a:r>
            <a:endParaRPr lang="en-US" dirty="0"/>
          </a:p>
        </p:txBody>
      </p:sp>
      <p:sp>
        <p:nvSpPr>
          <p:cNvPr id="13" name="Picture Placeholder 10">
            <a:extLst>
              <a:ext uri="{FF2B5EF4-FFF2-40B4-BE49-F238E27FC236}">
                <a16:creationId xmlns:a16="http://schemas.microsoft.com/office/drawing/2014/main" id="{1A9091ED-65DB-CA4C-BC68-EC773138EFA0}"/>
              </a:ext>
            </a:extLst>
          </p:cNvPr>
          <p:cNvSpPr>
            <a:spLocks noGrp="1"/>
          </p:cNvSpPr>
          <p:nvPr>
            <p:ph type="pic" sz="quarter" idx="18" hasCustomPrompt="1"/>
          </p:nvPr>
        </p:nvSpPr>
        <p:spPr>
          <a:xfrm>
            <a:off x="81886" y="2115404"/>
            <a:ext cx="4339988" cy="4671431"/>
          </a:xfrm>
          <a:blipFill>
            <a:blip r:embed="rId2">
              <a:alphaModFix amt="70000"/>
            </a:blip>
            <a:stretch>
              <a:fillRect/>
            </a:stretch>
          </a:blipFill>
        </p:spPr>
        <p:txBody>
          <a:bodyPr/>
          <a:lstStyle>
            <a:lvl1pPr>
              <a:defRPr/>
            </a:lvl1pPr>
          </a:lstStyle>
          <a:p>
            <a:r>
              <a:rPr lang="en-US" dirty="0"/>
              <a:t> </a:t>
            </a:r>
          </a:p>
        </p:txBody>
      </p:sp>
      <p:sp>
        <p:nvSpPr>
          <p:cNvPr id="10" name="Content Placeholder 7">
            <a:extLst>
              <a:ext uri="{FF2B5EF4-FFF2-40B4-BE49-F238E27FC236}">
                <a16:creationId xmlns:a16="http://schemas.microsoft.com/office/drawing/2014/main" id="{A3F07A79-5344-FA17-3625-1266EFAA87FD}"/>
              </a:ext>
            </a:extLst>
          </p:cNvPr>
          <p:cNvSpPr>
            <a:spLocks noGrp="1"/>
          </p:cNvSpPr>
          <p:nvPr>
            <p:ph sz="quarter" idx="14"/>
          </p:nvPr>
        </p:nvSpPr>
        <p:spPr>
          <a:xfrm>
            <a:off x="4642867" y="2115403"/>
            <a:ext cx="4015361" cy="4110888"/>
          </a:xfrm>
        </p:spPr>
        <p:txBody>
          <a:bodyPr anchor="t">
            <a:noAutofit/>
          </a:bodyPr>
          <a:lstStyle>
            <a:lvl1pPr marL="0" indent="0">
              <a:buFont typeface="Arial" panose="020B0604020202020204" pitchFamily="34" charset="0"/>
              <a:buNone/>
              <a:defRPr sz="1050"/>
            </a:lvl1pPr>
            <a:lvl2pPr marL="171450" indent="0">
              <a:buFont typeface="Arial" panose="020B0604020202020204" pitchFamily="34" charset="0"/>
              <a:buNone/>
              <a:defRPr sz="1050"/>
            </a:lvl2pPr>
            <a:lvl3pPr marL="342900" indent="0">
              <a:buFont typeface="Arial" panose="020B0604020202020204" pitchFamily="34" charset="0"/>
              <a:buNone/>
              <a:defRPr sz="1050"/>
            </a:lvl3pPr>
            <a:lvl4pPr marL="514350" indent="0">
              <a:buFont typeface="Arial" panose="020B0604020202020204" pitchFamily="34" charset="0"/>
              <a:buNone/>
              <a:defRPr sz="1050"/>
            </a:lvl4pPr>
            <a:lvl5pPr marL="6858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AC0D704B-E4D2-B261-890F-35C54C94C6EE}"/>
              </a:ext>
            </a:extLst>
          </p:cNvPr>
          <p:cNvSpPr>
            <a:spLocks noGrp="1"/>
          </p:cNvSpPr>
          <p:nvPr>
            <p:ph type="ftr" sz="quarter" idx="20"/>
          </p:nvPr>
        </p:nvSpPr>
        <p:spPr>
          <a:xfrm>
            <a:off x="4633069" y="6428985"/>
            <a:ext cx="3350872" cy="365125"/>
          </a:xfrm>
        </p:spPr>
        <p:txBody>
          <a:bodyPr anchor="b"/>
          <a:lstStyle/>
          <a:p>
            <a:endParaRPr lang="en-IN">
              <a:solidFill>
                <a:prstClr val="black">
                  <a:tint val="75000"/>
                </a:prstClr>
              </a:solidFill>
            </a:endParaRPr>
          </a:p>
        </p:txBody>
      </p:sp>
      <p:sp>
        <p:nvSpPr>
          <p:cNvPr id="8" name="Slide Number Placeholder 7">
            <a:extLst>
              <a:ext uri="{FF2B5EF4-FFF2-40B4-BE49-F238E27FC236}">
                <a16:creationId xmlns:a16="http://schemas.microsoft.com/office/drawing/2014/main" id="{C5932FFD-B632-F7EE-B653-9A621348C003}"/>
              </a:ext>
            </a:extLst>
          </p:cNvPr>
          <p:cNvSpPr>
            <a:spLocks noGrp="1"/>
          </p:cNvSpPr>
          <p:nvPr>
            <p:ph type="sldNum" sz="quarter" idx="21"/>
          </p:nvPr>
        </p:nvSpPr>
        <p:spPr>
          <a:xfrm>
            <a:off x="8195136" y="6421710"/>
            <a:ext cx="463093" cy="365125"/>
          </a:xfrm>
        </p:spPr>
        <p:txBody>
          <a:bodyPr anchor="b"/>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2452923082"/>
      </p:ext>
    </p:extLst>
  </p:cSld>
  <p:clrMapOvr>
    <a:masterClrMapping/>
  </p:clrMapOvr>
  <p:hf hdr="0" ft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76011" y="644000"/>
            <a:ext cx="1945913" cy="1877132"/>
          </a:xfrm>
        </p:spPr>
        <p:txBody>
          <a:bodyPr anchor="t" anchorCtr="0">
            <a:noAutofit/>
          </a:bodyPr>
          <a:lstStyle>
            <a:lvl1pPr>
              <a:defRPr sz="42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55055" y="2899954"/>
            <a:ext cx="2707814" cy="331404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301637" y="644000"/>
            <a:ext cx="5387309" cy="5570000"/>
          </a:xfrm>
        </p:spPr>
        <p:txBody>
          <a:bodyPr anchor="b"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6">
            <a:extLst>
              <a:ext uri="{FF2B5EF4-FFF2-40B4-BE49-F238E27FC236}">
                <a16:creationId xmlns:a16="http://schemas.microsoft.com/office/drawing/2014/main" id="{E471EB04-B63C-4629-0688-E2CC8C576A5A}"/>
              </a:ext>
            </a:extLst>
          </p:cNvPr>
          <p:cNvSpPr>
            <a:spLocks noGrp="1"/>
          </p:cNvSpPr>
          <p:nvPr>
            <p:ph type="ftr" sz="quarter" idx="16"/>
          </p:nvPr>
        </p:nvSpPr>
        <p:spPr>
          <a:xfrm>
            <a:off x="409445" y="6438285"/>
            <a:ext cx="3957639" cy="365125"/>
          </a:xfrm>
        </p:spPr>
        <p:txBody>
          <a:bodyPr anchor="b"/>
          <a:lstStyle/>
          <a:p>
            <a:endParaRPr lang="en-IN">
              <a:solidFill>
                <a:prstClr val="black">
                  <a:tint val="75000"/>
                </a:prstClr>
              </a:solidFill>
            </a:endParaRPr>
          </a:p>
        </p:txBody>
      </p:sp>
      <p:sp>
        <p:nvSpPr>
          <p:cNvPr id="12" name="Date Placeholder 5">
            <a:extLst>
              <a:ext uri="{FF2B5EF4-FFF2-40B4-BE49-F238E27FC236}">
                <a16:creationId xmlns:a16="http://schemas.microsoft.com/office/drawing/2014/main" id="{A4924D77-E18C-D84A-F550-9B0188FEBF87}"/>
              </a:ext>
            </a:extLst>
          </p:cNvPr>
          <p:cNvSpPr>
            <a:spLocks noGrp="1"/>
          </p:cNvSpPr>
          <p:nvPr>
            <p:ph type="dt" sz="half" idx="15"/>
          </p:nvPr>
        </p:nvSpPr>
        <p:spPr>
          <a:xfrm>
            <a:off x="4642867" y="6432497"/>
            <a:ext cx="1908059" cy="365125"/>
          </a:xfrm>
        </p:spPr>
        <p:txBody>
          <a:bodyPr anchor="b"/>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14" name="Slide Number Placeholder 8">
            <a:extLst>
              <a:ext uri="{FF2B5EF4-FFF2-40B4-BE49-F238E27FC236}">
                <a16:creationId xmlns:a16="http://schemas.microsoft.com/office/drawing/2014/main" id="{38B4B455-40D3-EF76-D860-2A6FFBF69836}"/>
              </a:ext>
            </a:extLst>
          </p:cNvPr>
          <p:cNvSpPr>
            <a:spLocks noGrp="1"/>
          </p:cNvSpPr>
          <p:nvPr>
            <p:ph type="sldNum" sz="quarter" idx="17"/>
          </p:nvPr>
        </p:nvSpPr>
        <p:spPr>
          <a:xfrm>
            <a:off x="8324347" y="6438285"/>
            <a:ext cx="321905" cy="365125"/>
          </a:xfrm>
        </p:spPr>
        <p:txBody>
          <a:bodyPr anchor="b"/>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562552551"/>
      </p:ext>
    </p:extLst>
  </p:cSld>
  <p:clrMapOvr>
    <a:masterClrMapping/>
  </p:clrMapOvr>
  <p:hf hdr="0" ft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0" y="5504688"/>
            <a:ext cx="4426993" cy="1353312"/>
          </a:xfrm>
        </p:spPr>
        <p:txBody>
          <a:bodyPr anchor="b">
            <a:normAutofit/>
          </a:bodyPr>
          <a:lstStyle>
            <a:lvl1pPr>
              <a:lnSpc>
                <a:spcPct val="120000"/>
              </a:lnSpc>
              <a:defRPr sz="1500" b="0" spc="0"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40943" y="-156950"/>
            <a:ext cx="4467936" cy="4510586"/>
          </a:xfrm>
        </p:spPr>
        <p:txBody>
          <a:bodyPr anchor="t">
            <a:normAutofit/>
          </a:bodyPr>
          <a:lstStyle>
            <a:lvl1pPr marL="0" indent="0">
              <a:lnSpc>
                <a:spcPct val="90000"/>
              </a:lnSpc>
              <a:spcBef>
                <a:spcPts val="0"/>
              </a:spcBef>
              <a:buNone/>
              <a:defRPr sz="11250" b="0" i="0">
                <a:solidFill>
                  <a:schemeClr val="tx1"/>
                </a:solidFill>
                <a:latin typeface="+mj-lt"/>
              </a:defRPr>
            </a:lvl1pPr>
          </a:lstStyle>
          <a:p>
            <a:pPr lvl="0"/>
            <a:r>
              <a:rPr lang="en-US" dirty="0"/>
              <a:t>##%</a:t>
            </a:r>
          </a:p>
        </p:txBody>
      </p:sp>
      <p:pic>
        <p:nvPicPr>
          <p:cNvPr id="6" name="Graphic 5">
            <a:extLst>
              <a:ext uri="{FF2B5EF4-FFF2-40B4-BE49-F238E27FC236}">
                <a16:creationId xmlns:a16="http://schemas.microsoft.com/office/drawing/2014/main" id="{BB98C21E-A9AF-D3FB-3F6A-06088553C6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32576" y="5852160"/>
            <a:ext cx="754380" cy="1005840"/>
          </a:xfrm>
          <a:prstGeom prst="rect">
            <a:avLst/>
          </a:prstGeom>
        </p:spPr>
      </p:pic>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8822095" y="100702"/>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300681745"/>
      </p:ext>
    </p:extLst>
  </p:cSld>
  <p:clrMapOvr>
    <a:masterClrMapping/>
  </p:clrMapOvr>
  <p:hf hdr="0" ft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459486" y="-1133856"/>
            <a:ext cx="7989570" cy="1005840"/>
          </a:xfrm>
        </p:spPr>
        <p:txBody>
          <a:bodyPr/>
          <a:lstStyle/>
          <a:p>
            <a:r>
              <a:rPr lang="en-US"/>
              <a:t>Click to edit Master title style</a:t>
            </a:r>
          </a:p>
        </p:txBody>
      </p:sp>
      <p:pic>
        <p:nvPicPr>
          <p:cNvPr id="3" name="Graphic 2">
            <a:extLst>
              <a:ext uri="{FF2B5EF4-FFF2-40B4-BE49-F238E27FC236}">
                <a16:creationId xmlns:a16="http://schemas.microsoft.com/office/drawing/2014/main" id="{832976E3-E745-9DF8-C3E3-53A778D9502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22340" y="5852160"/>
            <a:ext cx="754380" cy="1005840"/>
          </a:xfrm>
          <a:prstGeom prst="rect">
            <a:avLst/>
          </a:prstGeom>
        </p:spPr>
      </p:pic>
      <p:sp>
        <p:nvSpPr>
          <p:cNvPr id="12" name="Footer Placeholder 11">
            <a:extLst>
              <a:ext uri="{FF2B5EF4-FFF2-40B4-BE49-F238E27FC236}">
                <a16:creationId xmlns:a16="http://schemas.microsoft.com/office/drawing/2014/main" id="{6F777942-A24A-16CB-2115-A16E397BBB01}"/>
              </a:ext>
            </a:extLst>
          </p:cNvPr>
          <p:cNvSpPr>
            <a:spLocks noGrp="1"/>
          </p:cNvSpPr>
          <p:nvPr>
            <p:ph type="ftr" sz="quarter" idx="15"/>
          </p:nvPr>
        </p:nvSpPr>
        <p:spPr/>
        <p:txBody>
          <a:bodyPr/>
          <a:lstStyle/>
          <a:p>
            <a:endParaRPr lang="en-IN">
              <a:solidFill>
                <a:prstClr val="black">
                  <a:tint val="75000"/>
                </a:prstClr>
              </a:solidFill>
            </a:endParaRPr>
          </a:p>
        </p:txBody>
      </p:sp>
      <p:sp>
        <p:nvSpPr>
          <p:cNvPr id="11" name="Date Placeholder 10">
            <a:extLst>
              <a:ext uri="{FF2B5EF4-FFF2-40B4-BE49-F238E27FC236}">
                <a16:creationId xmlns:a16="http://schemas.microsoft.com/office/drawing/2014/main" id="{91D0C3F1-69CA-2A45-33F7-9AF4B8FFEDBC}"/>
              </a:ext>
            </a:extLst>
          </p:cNvPr>
          <p:cNvSpPr>
            <a:spLocks noGrp="1"/>
          </p:cNvSpPr>
          <p:nvPr>
            <p:ph type="dt" sz="half" idx="14"/>
          </p:nvPr>
        </p:nvSpPr>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13" name="Slide Number Placeholder 12">
            <a:extLst>
              <a:ext uri="{FF2B5EF4-FFF2-40B4-BE49-F238E27FC236}">
                <a16:creationId xmlns:a16="http://schemas.microsoft.com/office/drawing/2014/main" id="{8DB65802-3866-05DF-F96B-15A117F7C76C}"/>
              </a:ext>
            </a:extLst>
          </p:cNvPr>
          <p:cNvSpPr>
            <a:spLocks noGrp="1"/>
          </p:cNvSpPr>
          <p:nvPr>
            <p:ph type="sldNum" sz="quarter" idx="16"/>
          </p:nvPr>
        </p:nvSpPr>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02" y="1016759"/>
            <a:ext cx="7562020" cy="5841242"/>
          </a:xfrm>
        </p:spPr>
        <p:txBody>
          <a:bodyPr anchor="b" anchorCtr="0">
            <a:noAutofit/>
          </a:bodyPr>
          <a:lstStyle>
            <a:lvl1pPr marL="0" indent="0">
              <a:lnSpc>
                <a:spcPct val="80000"/>
              </a:lnSpc>
              <a:buNone/>
              <a:defRPr sz="4200" b="0" spc="-150" baseline="0"/>
            </a:lvl1pPr>
            <a:lvl2pPr marL="171450" indent="0">
              <a:lnSpc>
                <a:spcPct val="80000"/>
              </a:lnSpc>
              <a:buNone/>
              <a:defRPr sz="4200" b="0" spc="-150" baseline="0"/>
            </a:lvl2pPr>
            <a:lvl3pPr marL="342900" indent="0">
              <a:lnSpc>
                <a:spcPct val="80000"/>
              </a:lnSpc>
              <a:buNone/>
              <a:defRPr sz="4200" b="0" spc="-150" baseline="0"/>
            </a:lvl3pPr>
            <a:lvl4pPr marL="514350" indent="0">
              <a:lnSpc>
                <a:spcPct val="80000"/>
              </a:lnSpc>
              <a:buNone/>
              <a:defRPr sz="4200" b="0" spc="-150" baseline="0"/>
            </a:lvl4pPr>
            <a:lvl5pPr marL="685800" indent="0">
              <a:lnSpc>
                <a:spcPct val="80000"/>
              </a:lnSpc>
              <a:buNone/>
              <a:defRPr sz="4200" b="0" spc="-15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75358666"/>
      </p:ext>
    </p:extLst>
  </p:cSld>
  <p:clrMapOvr>
    <a:masterClrMapping/>
  </p:clrMapOvr>
  <p:hf hdr="0" ft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DC095FD-8C32-C2DB-3F1D-105AFD1518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12510" y="5852160"/>
            <a:ext cx="754380" cy="1005840"/>
          </a:xfrm>
          <a:prstGeom prst="rect">
            <a:avLst/>
          </a:prstGeom>
        </p:spPr>
      </p:pic>
      <p:sp>
        <p:nvSpPr>
          <p:cNvPr id="4" name="Title 1">
            <a:extLst>
              <a:ext uri="{FF2B5EF4-FFF2-40B4-BE49-F238E27FC236}">
                <a16:creationId xmlns:a16="http://schemas.microsoft.com/office/drawing/2014/main" id="{CA0FBB42-F049-CCA6-45E1-D60DC58A76F0}"/>
              </a:ext>
            </a:extLst>
          </p:cNvPr>
          <p:cNvSpPr>
            <a:spLocks noGrp="1"/>
          </p:cNvSpPr>
          <p:nvPr>
            <p:ph type="title" hasCustomPrompt="1"/>
          </p:nvPr>
        </p:nvSpPr>
        <p:spPr>
          <a:xfrm>
            <a:off x="-1" y="5899927"/>
            <a:ext cx="4426993" cy="958073"/>
          </a:xfrm>
        </p:spPr>
        <p:txBody>
          <a:bodyPr anchor="b">
            <a:normAutofit/>
          </a:bodyPr>
          <a:lstStyle>
            <a:lvl1pPr>
              <a:lnSpc>
                <a:spcPct val="80000"/>
              </a:lnSpc>
              <a:defRPr sz="1500" spc="0" baseline="0">
                <a:solidFill>
                  <a:schemeClr val="tx1"/>
                </a:solidFill>
                <a:latin typeface="+mn-lt"/>
              </a:defRPr>
            </a:lvl1pPr>
          </a:lstStyle>
          <a:p>
            <a:r>
              <a:rPr lang="en-US" dirty="0"/>
              <a:t>Quote Author</a:t>
            </a:r>
          </a:p>
        </p:txBody>
      </p:sp>
      <p:sp>
        <p:nvSpPr>
          <p:cNvPr id="5" name="Content Placeholder 6">
            <a:extLst>
              <a:ext uri="{FF2B5EF4-FFF2-40B4-BE49-F238E27FC236}">
                <a16:creationId xmlns:a16="http://schemas.microsoft.com/office/drawing/2014/main" id="{2B5E50A9-B175-CA38-A22A-468AE7533B54}"/>
              </a:ext>
            </a:extLst>
          </p:cNvPr>
          <p:cNvSpPr>
            <a:spLocks noGrp="1"/>
          </p:cNvSpPr>
          <p:nvPr>
            <p:ph sz="quarter" idx="13" hasCustomPrompt="1"/>
          </p:nvPr>
        </p:nvSpPr>
        <p:spPr>
          <a:xfrm>
            <a:off x="-13716" y="95534"/>
            <a:ext cx="6720840" cy="4476466"/>
          </a:xfrm>
        </p:spPr>
        <p:txBody>
          <a:bodyPr anchor="t">
            <a:normAutofit/>
          </a:bodyPr>
          <a:lstStyle>
            <a:lvl1pPr marL="123444" indent="-123444">
              <a:lnSpc>
                <a:spcPct val="80000"/>
              </a:lnSpc>
              <a:spcBef>
                <a:spcPts val="0"/>
              </a:spcBef>
              <a:buNone/>
              <a:defRPr sz="4200" spc="-150" baseline="0">
                <a:solidFill>
                  <a:schemeClr val="tx1"/>
                </a:solidFill>
                <a:latin typeface="+mj-lt"/>
              </a:defRPr>
            </a:lvl1pPr>
          </a:lstStyle>
          <a:p>
            <a:pPr lvl="0"/>
            <a:r>
              <a:rPr lang="en-US" dirty="0"/>
              <a:t>Click to add Quote</a:t>
            </a:r>
          </a:p>
        </p:txBody>
      </p:sp>
      <p:sp>
        <p:nvSpPr>
          <p:cNvPr id="8" name="Slide Number Placeholder 9">
            <a:extLst>
              <a:ext uri="{FF2B5EF4-FFF2-40B4-BE49-F238E27FC236}">
                <a16:creationId xmlns:a16="http://schemas.microsoft.com/office/drawing/2014/main" id="{84D7E47A-F89A-8F43-C300-185AD1461C07}"/>
              </a:ext>
            </a:extLst>
          </p:cNvPr>
          <p:cNvSpPr>
            <a:spLocks noGrp="1"/>
          </p:cNvSpPr>
          <p:nvPr>
            <p:ph type="sldNum" sz="quarter" idx="16"/>
          </p:nvPr>
        </p:nvSpPr>
        <p:spPr>
          <a:xfrm>
            <a:off x="8822095" y="110365"/>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10" name="Footer Placeholder 3">
            <a:extLst>
              <a:ext uri="{FF2B5EF4-FFF2-40B4-BE49-F238E27FC236}">
                <a16:creationId xmlns:a16="http://schemas.microsoft.com/office/drawing/2014/main" id="{1CA01B7F-0CDC-9F0A-6B3B-A87674D14D6B}"/>
              </a:ext>
            </a:extLst>
          </p:cNvPr>
          <p:cNvSpPr>
            <a:spLocks noGrp="1"/>
          </p:cNvSpPr>
          <p:nvPr>
            <p:ph type="ftr" sz="quarter" idx="17"/>
          </p:nvPr>
        </p:nvSpPr>
        <p:spPr>
          <a:xfrm>
            <a:off x="4644772" y="6392565"/>
            <a:ext cx="2328650" cy="365125"/>
          </a:xfrm>
        </p:spPr>
        <p:txBody>
          <a:bodyPr anchor="b"/>
          <a:lstStyle/>
          <a:p>
            <a:endParaRPr lang="en-IN">
              <a:solidFill>
                <a:prstClr val="black">
                  <a:tint val="75000"/>
                </a:prstClr>
              </a:solidFill>
            </a:endParaRPr>
          </a:p>
        </p:txBody>
      </p:sp>
    </p:spTree>
    <p:extLst>
      <p:ext uri="{BB962C8B-B14F-4D97-AF65-F5344CB8AC3E}">
        <p14:creationId xmlns:p14="http://schemas.microsoft.com/office/powerpoint/2010/main" val="1672632776"/>
      </p:ext>
    </p:extLst>
  </p:cSld>
  <p:clrMapOvr>
    <a:masterClrMapping/>
  </p:clrMapOvr>
  <p:hf hdr="0" ft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A74F0-5415-CAD7-98B3-4A75913F44B5}"/>
              </a:ext>
            </a:extLst>
          </p:cNvPr>
          <p:cNvSpPr>
            <a:spLocks noGrp="1"/>
          </p:cNvSpPr>
          <p:nvPr>
            <p:ph type="title"/>
          </p:nvPr>
        </p:nvSpPr>
        <p:spPr>
          <a:xfrm>
            <a:off x="384048" y="987552"/>
            <a:ext cx="2599182" cy="294436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5151E178-0505-15CE-6ACB-7BE1FB1E52EC}"/>
              </a:ext>
            </a:extLst>
          </p:cNvPr>
          <p:cNvSpPr>
            <a:spLocks noGrp="1"/>
          </p:cNvSpPr>
          <p:nvPr>
            <p:ph type="ftr" sz="quarter" idx="11"/>
          </p:nvPr>
        </p:nvSpPr>
        <p:spPr>
          <a:xfrm>
            <a:off x="397765" y="110365"/>
            <a:ext cx="2606040" cy="365125"/>
          </a:xfrm>
        </p:spPr>
        <p:txBody>
          <a:bodyPr/>
          <a:lstStyle/>
          <a:p>
            <a:endParaRPr lang="en-IN">
              <a:solidFill>
                <a:prstClr val="black">
                  <a:tint val="75000"/>
                </a:prstClr>
              </a:solidFill>
            </a:endParaRPr>
          </a:p>
        </p:txBody>
      </p:sp>
      <p:sp>
        <p:nvSpPr>
          <p:cNvPr id="3" name="Date Placeholder 2">
            <a:extLst>
              <a:ext uri="{FF2B5EF4-FFF2-40B4-BE49-F238E27FC236}">
                <a16:creationId xmlns:a16="http://schemas.microsoft.com/office/drawing/2014/main" id="{9B82246E-2BFA-5BAA-F22D-A2618C05A0B2}"/>
              </a:ext>
            </a:extLst>
          </p:cNvPr>
          <p:cNvSpPr>
            <a:spLocks noGrp="1"/>
          </p:cNvSpPr>
          <p:nvPr>
            <p:ph type="dt" sz="half" idx="10"/>
          </p:nvPr>
        </p:nvSpPr>
        <p:spPr>
          <a:xfrm>
            <a:off x="3236977" y="104577"/>
            <a:ext cx="3627662" cy="365125"/>
          </a:xfrm>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5" name="Slide Number Placeholder 4">
            <a:extLst>
              <a:ext uri="{FF2B5EF4-FFF2-40B4-BE49-F238E27FC236}">
                <a16:creationId xmlns:a16="http://schemas.microsoft.com/office/drawing/2014/main" id="{BD4BA02B-433E-FB95-6E96-11393CDBD0CB}"/>
              </a:ext>
            </a:extLst>
          </p:cNvPr>
          <p:cNvSpPr>
            <a:spLocks noGrp="1"/>
          </p:cNvSpPr>
          <p:nvPr>
            <p:ph type="sldNum" sz="quarter" idx="12"/>
          </p:nvPr>
        </p:nvSpPr>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8" name="Content Placeholder 3">
            <a:extLst>
              <a:ext uri="{FF2B5EF4-FFF2-40B4-BE49-F238E27FC236}">
                <a16:creationId xmlns:a16="http://schemas.microsoft.com/office/drawing/2014/main" id="{F74B4B98-ABA0-9FD3-485A-984EDEEB4469}"/>
              </a:ext>
            </a:extLst>
          </p:cNvPr>
          <p:cNvSpPr>
            <a:spLocks noGrp="1"/>
          </p:cNvSpPr>
          <p:nvPr>
            <p:ph sz="quarter" idx="17"/>
          </p:nvPr>
        </p:nvSpPr>
        <p:spPr>
          <a:xfrm>
            <a:off x="3236975" y="987552"/>
            <a:ext cx="5585119"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9">
            <a:extLst>
              <a:ext uri="{FF2B5EF4-FFF2-40B4-BE49-F238E27FC236}">
                <a16:creationId xmlns:a16="http://schemas.microsoft.com/office/drawing/2014/main" id="{3822067E-4B47-03C7-3636-0C6F8324E1E9}"/>
              </a:ext>
            </a:extLst>
          </p:cNvPr>
          <p:cNvSpPr>
            <a:spLocks noGrp="1"/>
          </p:cNvSpPr>
          <p:nvPr>
            <p:ph sz="quarter" idx="18"/>
          </p:nvPr>
        </p:nvSpPr>
        <p:spPr>
          <a:xfrm>
            <a:off x="3236975" y="3931920"/>
            <a:ext cx="5585118"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06855111"/>
      </p:ext>
    </p:extLst>
  </p:cSld>
  <p:clrMapOvr>
    <a:masterClrMapping/>
  </p:clrMapOvr>
  <p:hf hdr="0" ft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F29C1-2D4D-0529-EAD3-926838F41BF8}"/>
              </a:ext>
            </a:extLst>
          </p:cNvPr>
          <p:cNvSpPr>
            <a:spLocks noGrp="1"/>
          </p:cNvSpPr>
          <p:nvPr>
            <p:ph type="title"/>
          </p:nvPr>
        </p:nvSpPr>
        <p:spPr>
          <a:xfrm>
            <a:off x="384048" y="630936"/>
            <a:ext cx="8263890"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A6A1D5A-FFC5-5F10-90D2-A3FBCC3129EF}"/>
              </a:ext>
            </a:extLst>
          </p:cNvPr>
          <p:cNvSpPr>
            <a:spLocks noGrp="1"/>
          </p:cNvSpPr>
          <p:nvPr>
            <p:ph type="ftr" sz="quarter" idx="11"/>
          </p:nvPr>
        </p:nvSpPr>
        <p:spPr>
          <a:xfrm>
            <a:off x="397764" y="110365"/>
            <a:ext cx="3957639" cy="365125"/>
          </a:xfrm>
        </p:spPr>
        <p:txBody>
          <a:bodyPr/>
          <a:lstStyle/>
          <a:p>
            <a:endParaRPr lang="en-IN">
              <a:solidFill>
                <a:prstClr val="black">
                  <a:tint val="75000"/>
                </a:prstClr>
              </a:solidFill>
            </a:endParaRPr>
          </a:p>
        </p:txBody>
      </p:sp>
      <p:sp>
        <p:nvSpPr>
          <p:cNvPr id="3" name="Date Placeholder 2">
            <a:extLst>
              <a:ext uri="{FF2B5EF4-FFF2-40B4-BE49-F238E27FC236}">
                <a16:creationId xmlns:a16="http://schemas.microsoft.com/office/drawing/2014/main" id="{FE1BD63D-FC9C-D946-5560-869AEDE315EA}"/>
              </a:ext>
            </a:extLst>
          </p:cNvPr>
          <p:cNvSpPr>
            <a:spLocks noGrp="1"/>
          </p:cNvSpPr>
          <p:nvPr>
            <p:ph type="dt" sz="half" idx="10"/>
          </p:nvPr>
        </p:nvSpPr>
        <p:spPr>
          <a:xfrm>
            <a:off x="4642867" y="104577"/>
            <a:ext cx="3627662" cy="365125"/>
          </a:xfrm>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5" name="Slide Number Placeholder 4">
            <a:extLst>
              <a:ext uri="{FF2B5EF4-FFF2-40B4-BE49-F238E27FC236}">
                <a16:creationId xmlns:a16="http://schemas.microsoft.com/office/drawing/2014/main" id="{822EF08D-93E2-AF7A-F559-DDB0B35B8781}"/>
              </a:ext>
            </a:extLst>
          </p:cNvPr>
          <p:cNvSpPr>
            <a:spLocks noGrp="1"/>
          </p:cNvSpPr>
          <p:nvPr>
            <p:ph type="sldNum" sz="quarter" idx="12"/>
          </p:nvPr>
        </p:nvSpPr>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6" name="Text Placeholder 2">
            <a:extLst>
              <a:ext uri="{FF2B5EF4-FFF2-40B4-BE49-F238E27FC236}">
                <a16:creationId xmlns:a16="http://schemas.microsoft.com/office/drawing/2014/main" id="{148CB9E0-8B46-6608-0C37-7C5ABA9B47A8}"/>
              </a:ext>
            </a:extLst>
          </p:cNvPr>
          <p:cNvSpPr>
            <a:spLocks noGrp="1"/>
          </p:cNvSpPr>
          <p:nvPr>
            <p:ph type="body" idx="1"/>
          </p:nvPr>
        </p:nvSpPr>
        <p:spPr>
          <a:xfrm>
            <a:off x="397764" y="2286001"/>
            <a:ext cx="3888486" cy="534033"/>
          </a:xfrm>
        </p:spPr>
        <p:txBody>
          <a:bodyPr/>
          <a:lstStyle/>
          <a:p>
            <a:pPr lvl="0"/>
            <a:r>
              <a:rPr lang="en-US"/>
              <a:t>Click to edit Master text styles</a:t>
            </a:r>
          </a:p>
        </p:txBody>
      </p:sp>
      <p:sp>
        <p:nvSpPr>
          <p:cNvPr id="10" name="Content Placeholder 5">
            <a:extLst>
              <a:ext uri="{FF2B5EF4-FFF2-40B4-BE49-F238E27FC236}">
                <a16:creationId xmlns:a16="http://schemas.microsoft.com/office/drawing/2014/main" id="{C2C05A59-CCEE-1225-7022-B1DA682C7041}"/>
              </a:ext>
            </a:extLst>
          </p:cNvPr>
          <p:cNvSpPr>
            <a:spLocks noGrp="1"/>
          </p:cNvSpPr>
          <p:nvPr>
            <p:ph sz="quarter" idx="17"/>
          </p:nvPr>
        </p:nvSpPr>
        <p:spPr>
          <a:xfrm>
            <a:off x="397763" y="2980944"/>
            <a:ext cx="3887391" cy="35861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4">
            <a:extLst>
              <a:ext uri="{FF2B5EF4-FFF2-40B4-BE49-F238E27FC236}">
                <a16:creationId xmlns:a16="http://schemas.microsoft.com/office/drawing/2014/main" id="{86471C19-5F51-6595-B72A-4BFC1E553DC0}"/>
              </a:ext>
            </a:extLst>
          </p:cNvPr>
          <p:cNvSpPr>
            <a:spLocks noGrp="1"/>
          </p:cNvSpPr>
          <p:nvPr>
            <p:ph type="body" sz="quarter" idx="3"/>
          </p:nvPr>
        </p:nvSpPr>
        <p:spPr>
          <a:xfrm>
            <a:off x="4642866" y="2286001"/>
            <a:ext cx="3887391" cy="534033"/>
          </a:xfrm>
        </p:spPr>
        <p:txBody>
          <a:bodyPr/>
          <a:lstStyle/>
          <a:p>
            <a:pPr lvl="0"/>
            <a:r>
              <a:rPr lang="en-US"/>
              <a:t>Click to edit Master text styles</a:t>
            </a:r>
          </a:p>
        </p:txBody>
      </p:sp>
      <p:sp>
        <p:nvSpPr>
          <p:cNvPr id="11" name="Content Placeholder 11">
            <a:extLst>
              <a:ext uri="{FF2B5EF4-FFF2-40B4-BE49-F238E27FC236}">
                <a16:creationId xmlns:a16="http://schemas.microsoft.com/office/drawing/2014/main" id="{0AB20C10-A144-EF5E-8276-7E736CE87590}"/>
              </a:ext>
            </a:extLst>
          </p:cNvPr>
          <p:cNvSpPr>
            <a:spLocks noGrp="1"/>
          </p:cNvSpPr>
          <p:nvPr>
            <p:ph sz="quarter" idx="18"/>
          </p:nvPr>
        </p:nvSpPr>
        <p:spPr>
          <a:xfrm>
            <a:off x="4642866" y="2980944"/>
            <a:ext cx="3887391" cy="35861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4192248"/>
      </p:ext>
    </p:extLst>
  </p:cSld>
  <p:clrMapOvr>
    <a:masterClrMapping/>
  </p:clrMapOvr>
  <p:hf hdr="0" ftr="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D1F904E-1F4C-373E-2E2B-D7478F70F195}"/>
              </a:ext>
            </a:extLst>
          </p:cNvPr>
          <p:cNvSpPr>
            <a:spLocks noGrp="1"/>
          </p:cNvSpPr>
          <p:nvPr>
            <p:ph type="title"/>
          </p:nvPr>
        </p:nvSpPr>
        <p:spPr>
          <a:xfrm>
            <a:off x="377190" y="644663"/>
            <a:ext cx="8284464"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397764" y="109729"/>
            <a:ext cx="3957639" cy="365125"/>
          </a:xfrm>
        </p:spPr>
        <p:txBody>
          <a:bodyPr/>
          <a:lstStyle/>
          <a:p>
            <a:endParaRPr lang="en-IN">
              <a:solidFill>
                <a:prstClr val="black">
                  <a:tint val="75000"/>
                </a:prstClr>
              </a:solidFill>
            </a:endParaRP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8423947" y="110365"/>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3388128073"/>
      </p:ext>
    </p:extLst>
  </p:cSld>
  <p:clrMapOvr>
    <a:masterClrMapping/>
  </p:clrMapOvr>
  <p:hf hdr="0" ftr="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1AD1B27E-1142-7BB8-1DE8-D31FA8AA8F10}"/>
              </a:ext>
            </a:extLst>
          </p:cNvPr>
          <p:cNvSpPr>
            <a:spLocks noGrp="1"/>
          </p:cNvSpPr>
          <p:nvPr>
            <p:ph type="ftr" sz="quarter" idx="11"/>
          </p:nvPr>
        </p:nvSpPr>
        <p:spPr>
          <a:xfrm>
            <a:off x="0" y="100702"/>
            <a:ext cx="4423973" cy="365125"/>
          </a:xfrm>
        </p:spPr>
        <p:txBody>
          <a:bodyPr/>
          <a:lstStyle/>
          <a:p>
            <a:endParaRPr lang="en-IN">
              <a:solidFill>
                <a:prstClr val="black">
                  <a:tint val="75000"/>
                </a:prstClr>
              </a:solidFill>
            </a:endParaRPr>
          </a:p>
        </p:txBody>
      </p:sp>
      <p:sp>
        <p:nvSpPr>
          <p:cNvPr id="5" name="Date Placeholder 3">
            <a:extLst>
              <a:ext uri="{FF2B5EF4-FFF2-40B4-BE49-F238E27FC236}">
                <a16:creationId xmlns:a16="http://schemas.microsoft.com/office/drawing/2014/main" id="{D900E2BC-FCC7-E994-4648-A42CDE518612}"/>
              </a:ext>
            </a:extLst>
          </p:cNvPr>
          <p:cNvSpPr>
            <a:spLocks noGrp="1"/>
          </p:cNvSpPr>
          <p:nvPr>
            <p:ph type="dt" sz="half" idx="10"/>
          </p:nvPr>
        </p:nvSpPr>
        <p:spPr>
          <a:xfrm>
            <a:off x="4663440" y="100702"/>
            <a:ext cx="3999001" cy="365125"/>
          </a:xfrm>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7" name="Slide Number Placeholder 5">
            <a:extLst>
              <a:ext uri="{FF2B5EF4-FFF2-40B4-BE49-F238E27FC236}">
                <a16:creationId xmlns:a16="http://schemas.microsoft.com/office/drawing/2014/main" id="{9E211A59-CFA8-A0B1-4A4C-E446F90726C5}"/>
              </a:ext>
            </a:extLst>
          </p:cNvPr>
          <p:cNvSpPr>
            <a:spLocks noGrp="1"/>
          </p:cNvSpPr>
          <p:nvPr>
            <p:ph type="sldNum" sz="quarter" idx="12"/>
          </p:nvPr>
        </p:nvSpPr>
        <p:spPr>
          <a:xfrm>
            <a:off x="8822095" y="100702"/>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2016307124"/>
      </p:ext>
    </p:extLst>
  </p:cSld>
  <p:clrMapOvr>
    <a:masterClrMapping/>
  </p:clrMapOvr>
  <p:hf hdr="0" ft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9445" y="655094"/>
            <a:ext cx="8236807" cy="1528549"/>
          </a:xfrm>
        </p:spPr>
        <p:txBody>
          <a:bodyPr anchor="t">
            <a:noAutofit/>
          </a:bodyPr>
          <a:lstStyle>
            <a:lvl1pPr>
              <a:defRPr sz="4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09445" y="2497541"/>
            <a:ext cx="8236807" cy="3384645"/>
          </a:xfrm>
        </p:spPr>
        <p:txBody>
          <a:bodyPr/>
          <a:lstStyle>
            <a:lvl1pPr marL="0" indent="0">
              <a:buNone/>
              <a:defRPr/>
            </a:lvl1pPr>
            <a:lvl2pPr marL="171450" indent="0">
              <a:buNone/>
              <a:defRPr/>
            </a:lvl2pPr>
            <a:lvl3pPr marL="342900" indent="0">
              <a:buNone/>
              <a:defRPr/>
            </a:lvl3pPr>
            <a:lvl4pPr marL="514350" indent="0">
              <a:buNone/>
              <a:defRPr/>
            </a:lvl4pPr>
            <a:lvl5pPr marL="685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5">
            <a:extLst>
              <a:ext uri="{FF2B5EF4-FFF2-40B4-BE49-F238E27FC236}">
                <a16:creationId xmlns:a16="http://schemas.microsoft.com/office/drawing/2014/main" id="{BD7A9B30-35AB-D437-5276-473CFE5169DF}"/>
              </a:ext>
            </a:extLst>
          </p:cNvPr>
          <p:cNvSpPr>
            <a:spLocks noGrp="1"/>
          </p:cNvSpPr>
          <p:nvPr>
            <p:ph type="ftr" sz="quarter" idx="16"/>
          </p:nvPr>
        </p:nvSpPr>
        <p:spPr>
          <a:xfrm>
            <a:off x="409445" y="6438285"/>
            <a:ext cx="3957639" cy="365125"/>
          </a:xfrm>
        </p:spPr>
        <p:txBody>
          <a:bodyPr/>
          <a:lstStyle/>
          <a:p>
            <a:endParaRPr lang="en-IN">
              <a:solidFill>
                <a:prstClr val="black">
                  <a:tint val="75000"/>
                </a:prstClr>
              </a:solidFill>
            </a:endParaRPr>
          </a:p>
        </p:txBody>
      </p:sp>
      <p:sp>
        <p:nvSpPr>
          <p:cNvPr id="4" name="Date Placeholder 4">
            <a:extLst>
              <a:ext uri="{FF2B5EF4-FFF2-40B4-BE49-F238E27FC236}">
                <a16:creationId xmlns:a16="http://schemas.microsoft.com/office/drawing/2014/main" id="{0D033E8C-C8B6-A9F1-6B99-0610AEC435CB}"/>
              </a:ext>
            </a:extLst>
          </p:cNvPr>
          <p:cNvSpPr>
            <a:spLocks noGrp="1"/>
          </p:cNvSpPr>
          <p:nvPr>
            <p:ph type="dt" sz="half" idx="15"/>
          </p:nvPr>
        </p:nvSpPr>
        <p:spPr>
          <a:xfrm>
            <a:off x="4642867" y="6432497"/>
            <a:ext cx="1908059" cy="365125"/>
          </a:xfrm>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6" name="Slide Number Placeholder 6">
            <a:extLst>
              <a:ext uri="{FF2B5EF4-FFF2-40B4-BE49-F238E27FC236}">
                <a16:creationId xmlns:a16="http://schemas.microsoft.com/office/drawing/2014/main" id="{09C00759-43C5-D4A5-6597-C9F31C4DA2AA}"/>
              </a:ext>
            </a:extLst>
          </p:cNvPr>
          <p:cNvSpPr>
            <a:spLocks noGrp="1"/>
          </p:cNvSpPr>
          <p:nvPr>
            <p:ph type="sldNum" sz="quarter" idx="17"/>
          </p:nvPr>
        </p:nvSpPr>
        <p:spPr>
          <a:xfrm>
            <a:off x="8324347" y="6438285"/>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2032539602"/>
      </p:ext>
    </p:extLst>
  </p:cSld>
  <p:clrMapOvr>
    <a:overrideClrMapping bg1="dk1" tx1="lt1" bg2="dk2" tx2="lt2" accent1="accent1" accent2="accent2" accent3="accent3" accent4="accent4" accent5="accent5" accent6="accent6" hlink="hlink" folHlink="folHlink"/>
  </p:clrMapOvr>
  <p:hf hdr="0" ft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8962" y="2883090"/>
            <a:ext cx="5806388" cy="1842020"/>
          </a:xfrm>
        </p:spPr>
        <p:txBody>
          <a:bodyPr anchor="b">
            <a:noAutofit/>
          </a:bodyPr>
          <a:lstStyle>
            <a:lvl1pPr>
              <a:defRPr sz="4200"/>
            </a:lvl1pPr>
          </a:lstStyle>
          <a:p>
            <a:r>
              <a:rPr lang="en-US"/>
              <a:t>Click to edit Master title style</a:t>
            </a:r>
            <a:endParaRPr lang="en-US" dirty="0"/>
          </a:p>
        </p:txBody>
      </p:sp>
      <p:sp>
        <p:nvSpPr>
          <p:cNvPr id="9" name="Footer Placeholder 4">
            <a:extLst>
              <a:ext uri="{FF2B5EF4-FFF2-40B4-BE49-F238E27FC236}">
                <a16:creationId xmlns:a16="http://schemas.microsoft.com/office/drawing/2014/main" id="{C9D34928-44CA-ACCE-36AD-37689020A379}"/>
              </a:ext>
            </a:extLst>
          </p:cNvPr>
          <p:cNvSpPr>
            <a:spLocks noGrp="1"/>
          </p:cNvSpPr>
          <p:nvPr>
            <p:ph type="ftr" sz="quarter" idx="11"/>
          </p:nvPr>
        </p:nvSpPr>
        <p:spPr>
          <a:xfrm>
            <a:off x="402680" y="100702"/>
            <a:ext cx="4021293" cy="365125"/>
          </a:xfrm>
        </p:spPr>
        <p:txBody>
          <a:bodyPr/>
          <a:lstStyle/>
          <a:p>
            <a:endParaRPr lang="en-IN">
              <a:solidFill>
                <a:prstClr val="black">
                  <a:tint val="75000"/>
                </a:prstClr>
              </a:solidFill>
            </a:endParaRPr>
          </a:p>
        </p:txBody>
      </p:sp>
      <p:sp>
        <p:nvSpPr>
          <p:cNvPr id="8" name="Date Placeholder 3">
            <a:extLst>
              <a:ext uri="{FF2B5EF4-FFF2-40B4-BE49-F238E27FC236}">
                <a16:creationId xmlns:a16="http://schemas.microsoft.com/office/drawing/2014/main" id="{B6F43E62-A9B0-571B-E3BD-354206A884CF}"/>
              </a:ext>
            </a:extLst>
          </p:cNvPr>
          <p:cNvSpPr>
            <a:spLocks noGrp="1"/>
          </p:cNvSpPr>
          <p:nvPr>
            <p:ph type="dt" sz="half" idx="10"/>
          </p:nvPr>
        </p:nvSpPr>
        <p:spPr>
          <a:xfrm>
            <a:off x="4663441" y="100702"/>
            <a:ext cx="1894523" cy="365125"/>
          </a:xfrm>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02679" y="4922112"/>
            <a:ext cx="5806388" cy="1279615"/>
          </a:xfrm>
        </p:spPr>
        <p:txBody>
          <a:bodyPr anchor="t">
            <a:noAutofit/>
          </a:bodyPr>
          <a:lstStyle>
            <a:lvl1pPr marL="0" indent="0">
              <a:buNone/>
              <a:defRPr sz="1050"/>
            </a:lvl1pPr>
            <a:lvl2pPr marL="171450" indent="0">
              <a:buNone/>
              <a:defRPr sz="1050"/>
            </a:lvl2pPr>
            <a:lvl3pPr marL="342900" indent="0">
              <a:buNone/>
              <a:defRPr sz="1050"/>
            </a:lvl3pPr>
            <a:lvl4pPr marL="514350" indent="0">
              <a:buNone/>
              <a:defRPr sz="1050"/>
            </a:lvl4pPr>
            <a:lvl5pPr marL="685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822095" y="6392175"/>
            <a:ext cx="321905" cy="365125"/>
          </a:xfrm>
        </p:spPr>
        <p:txBody>
          <a:bodyPr anchor="b"/>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3" name="Oval 2">
            <a:extLst>
              <a:ext uri="{FF2B5EF4-FFF2-40B4-BE49-F238E27FC236}">
                <a16:creationId xmlns:a16="http://schemas.microsoft.com/office/drawing/2014/main" id="{D3CF16D9-01F3-6CE6-7291-C344E099BBD0}"/>
              </a:ext>
            </a:extLst>
          </p:cNvPr>
          <p:cNvSpPr/>
          <p:nvPr/>
        </p:nvSpPr>
        <p:spPr>
          <a:xfrm>
            <a:off x="6340634" y="100701"/>
            <a:ext cx="2668428" cy="3557904"/>
          </a:xfrm>
          <a:prstGeom prst="ellipse">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Tree>
    <p:extLst>
      <p:ext uri="{BB962C8B-B14F-4D97-AF65-F5344CB8AC3E}">
        <p14:creationId xmlns:p14="http://schemas.microsoft.com/office/powerpoint/2010/main" val="2086599095"/>
      </p:ext>
    </p:extLst>
  </p:cSld>
  <p:clrMapOvr>
    <a:overrideClrMapping bg1="dk1" tx1="lt1" bg2="dk2" tx2="lt2" accent1="accent1" accent2="accent2" accent3="accent3" accent4="accent4" accent5="accent5" accent6="accent6" hlink="hlink" folHlink="folHlink"/>
  </p:clrMapOvr>
  <p:hf hdr="0" ftr="0"/>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6B1BC37-64A5-474E-9E65-1F0D30ACE715}" type="datetime1">
              <a:rPr lang="en-IN" smtClean="0">
                <a:solidFill>
                  <a:prstClr val="black">
                    <a:tint val="75000"/>
                  </a:prstClr>
                </a:solidFill>
              </a:rPr>
              <a:t>08-09-2026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5039205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6B1BC37-64A5-474E-9E65-1F0D30ACE715}" type="datetime1">
              <a:rPr lang="en-IN" smtClean="0">
                <a:solidFill>
                  <a:prstClr val="black">
                    <a:tint val="75000"/>
                  </a:prstClr>
                </a:solidFill>
              </a:rPr>
              <a:t>08-09-2026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6B1BC37-64A5-474E-9E65-1F0D30ACE715}" type="datetime1">
              <a:rPr lang="en-IN" smtClean="0">
                <a:solidFill>
                  <a:prstClr val="black">
                    <a:tint val="75000"/>
                  </a:prstClr>
                </a:solidFill>
              </a:rPr>
              <a:t>08-09-2026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theme" Target="../theme/theme1.xml"/><Relationship Id="rId32" Type="http://schemas.openxmlformats.org/officeDocument/2006/relationships/image" Target="../media/image1.png"/><Relationship Id="rId33" Type="http://schemas.microsoft.com/office/2007/relationships/hdphoto" Target="../media/hdphoto1.wdp"/><Relationship Id="rId34" Type="http://schemas.openxmlformats.org/officeDocument/2006/relationships/image" Target="../media/image2.jpeg"/><Relationship Id="rId35" Type="http://schemas.openxmlformats.org/officeDocument/2006/relationships/image" Target="../media/image3.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3716" y="644663"/>
            <a:ext cx="9001194" cy="10883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642867" y="104577"/>
            <a:ext cx="3627662" cy="365125"/>
          </a:xfrm>
          <a:prstGeom prst="rect">
            <a:avLst/>
          </a:prstGeom>
        </p:spPr>
        <p:txBody>
          <a:bodyPr vert="horz" lIns="91440" tIns="45720" rIns="91440" bIns="45720" rtlCol="0" anchor="t"/>
          <a:lstStyle>
            <a:lvl1pPr algn="l" rtl="0">
              <a:lnSpc>
                <a:spcPct val="80000"/>
              </a:lnSpc>
              <a:defRPr sz="750">
                <a:solidFill>
                  <a:schemeClr val="tx1"/>
                </a:solidFill>
                <a:latin typeface="+mn-lt"/>
              </a:defRPr>
            </a:lvl1p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0876" y="110365"/>
            <a:ext cx="3957639" cy="365125"/>
          </a:xfrm>
          <a:prstGeom prst="rect">
            <a:avLst/>
          </a:prstGeom>
        </p:spPr>
        <p:txBody>
          <a:bodyPr vert="horz" lIns="91440" tIns="45720" rIns="91440" bIns="45720" rtlCol="0" anchor="t"/>
          <a:lstStyle>
            <a:lvl1pPr algn="l" rtl="0">
              <a:lnSpc>
                <a:spcPct val="80000"/>
              </a:lnSpc>
              <a:defRPr sz="750">
                <a:solidFill>
                  <a:schemeClr val="tx1"/>
                </a:solidFill>
                <a:latin typeface="+mn-lt"/>
              </a:defRPr>
            </a:lvl1p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8822095" y="110365"/>
            <a:ext cx="321905" cy="365125"/>
          </a:xfrm>
          <a:prstGeom prst="rect">
            <a:avLst/>
          </a:prstGeom>
        </p:spPr>
        <p:txBody>
          <a:bodyPr vert="horz" lIns="91440" tIns="45720" rIns="91440" bIns="45720" rtlCol="0" anchor="t"/>
          <a:lstStyle>
            <a:lvl1pPr algn="r" rtl="0">
              <a:lnSpc>
                <a:spcPct val="80000"/>
              </a:lnSpc>
              <a:defRPr sz="750">
                <a:solidFill>
                  <a:schemeClr val="tx1"/>
                </a:solidFill>
                <a:latin typeface="+mn-lt"/>
              </a:defRPr>
            </a:lvl1p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0" y="1907522"/>
            <a:ext cx="9001194" cy="48401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a:extLst>
              <a:ext uri="{FF2B5EF4-FFF2-40B4-BE49-F238E27FC236}">
                <a16:creationId xmlns:a16="http://schemas.microsoft.com/office/drawing/2014/main" id="{AA800142-20EF-CD76-8345-103DABD630C7}"/>
              </a:ext>
            </a:extLst>
          </p:cNvPr>
          <p:cNvSpPr/>
          <p:nvPr userDrawn="1"/>
        </p:nvSpPr>
        <p:spPr>
          <a:xfrm>
            <a:off x="0" y="639157"/>
            <a:ext cx="9144000" cy="6210670"/>
          </a:xfrm>
          <a:prstGeom prst="rect">
            <a:avLst/>
          </a:prstGeom>
          <a:blipFill dpi="0" rotWithShape="1">
            <a:blip r:embed="rId32">
              <a:extLst>
                <a:ext uri="{BEBA8EAE-BF5A-486C-A8C5-ECC9F3942E4B}">
                  <a14:imgProps xmlns:a14="http://schemas.microsoft.com/office/drawing/2010/main">
                    <a14:imgLayer r:embed="rId33">
                      <a14:imgEffect>
                        <a14:brightnessContrast bright="6000" contrast="32000"/>
                      </a14:imgEffect>
                      <a14:imgEffect>
                        <a14:saturation sat="0"/>
                      </a14:imgEffect>
                      <a14:imgEffect>
                        <a14:sharpenSoften amount="2000"/>
                      </a14:imgEffect>
                    </a14:imgLayer>
                  </a14:imgProps>
                </a:ext>
              </a:extLst>
            </a:blip>
            <a:srcRect/>
            <a:tile tx="0" ty="0" sx="100000" sy="100000" flip="none" algn="tl"/>
          </a:blipFill>
          <a:effectLst>
            <a:glow>
              <a:schemeClr val="accent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8" name="TextBox 7">
            <a:extLst>
              <a:ext uri="{FF2B5EF4-FFF2-40B4-BE49-F238E27FC236}">
                <a16:creationId xmlns:a16="http://schemas.microsoft.com/office/drawing/2014/main" id="{59BC6866-169D-418C-42E5-E7327A514810}"/>
              </a:ext>
            </a:extLst>
          </p:cNvPr>
          <p:cNvSpPr txBox="1">
            <a:spLocks noChangeArrowheads="1"/>
          </p:cNvSpPr>
          <p:nvPr userDrawn="1"/>
        </p:nvSpPr>
        <p:spPr bwMode="auto">
          <a:xfrm>
            <a:off x="0" y="-26713"/>
            <a:ext cx="9144000"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lvl1pPr>
              <a:defRPr>
                <a:solidFill>
                  <a:schemeClr val="tx1"/>
                </a:solidFill>
                <a:latin typeface="Verdana" panose="020B0804030504040204" pitchFamily="34" charset="0"/>
                <a:cs typeface="Arial" panose="020B0604020202090204" pitchFamily="34" charset="0"/>
              </a:defRPr>
            </a:lvl1pPr>
            <a:lvl2pPr marL="742950" indent="-285750">
              <a:defRPr>
                <a:solidFill>
                  <a:schemeClr val="tx1"/>
                </a:solidFill>
                <a:latin typeface="Verdana" panose="020B0804030504040204" pitchFamily="34" charset="0"/>
                <a:cs typeface="Arial" panose="020B0604020202090204" pitchFamily="34" charset="0"/>
              </a:defRPr>
            </a:lvl2pPr>
            <a:lvl3pPr marL="1143000" indent="-228600">
              <a:defRPr>
                <a:solidFill>
                  <a:schemeClr val="tx1"/>
                </a:solidFill>
                <a:latin typeface="Verdana" panose="020B0804030504040204" pitchFamily="34" charset="0"/>
                <a:cs typeface="Arial" panose="020B0604020202090204" pitchFamily="34" charset="0"/>
              </a:defRPr>
            </a:lvl3pPr>
            <a:lvl4pPr marL="1600200" indent="-228600">
              <a:defRPr>
                <a:solidFill>
                  <a:schemeClr val="tx1"/>
                </a:solidFill>
                <a:latin typeface="Verdana" panose="020B0804030504040204" pitchFamily="34" charset="0"/>
                <a:cs typeface="Arial" panose="020B0604020202090204" pitchFamily="34" charset="0"/>
              </a:defRPr>
            </a:lvl4pPr>
            <a:lvl5pPr marL="2057400" indent="-228600">
              <a:defRPr>
                <a:solidFill>
                  <a:schemeClr val="tx1"/>
                </a:solidFill>
                <a:latin typeface="Verdana" panose="020B0804030504040204" pitchFamily="34" charset="0"/>
                <a:cs typeface="Arial" panose="020B0604020202090204" pitchFamily="34" charset="0"/>
              </a:defRPr>
            </a:lvl5pPr>
            <a:lvl6pPr marL="2514600" indent="-228600" eaLnBrk="0" fontAlgn="base" hangingPunct="0">
              <a:spcBef>
                <a:spcPct val="0"/>
              </a:spcBef>
              <a:spcAft>
                <a:spcPct val="0"/>
              </a:spcAft>
              <a:defRPr>
                <a:solidFill>
                  <a:schemeClr val="tx1"/>
                </a:solidFill>
                <a:latin typeface="Verdana" panose="020B0804030504040204" pitchFamily="34" charset="0"/>
                <a:cs typeface="Arial" panose="020B0604020202090204" pitchFamily="34" charset="0"/>
              </a:defRPr>
            </a:lvl6pPr>
            <a:lvl7pPr marL="2971800" indent="-228600" eaLnBrk="0" fontAlgn="base" hangingPunct="0">
              <a:spcBef>
                <a:spcPct val="0"/>
              </a:spcBef>
              <a:spcAft>
                <a:spcPct val="0"/>
              </a:spcAft>
              <a:defRPr>
                <a:solidFill>
                  <a:schemeClr val="tx1"/>
                </a:solidFill>
                <a:latin typeface="Verdana" panose="020B0804030504040204" pitchFamily="34" charset="0"/>
                <a:cs typeface="Arial" panose="020B0604020202090204" pitchFamily="34" charset="0"/>
              </a:defRPr>
            </a:lvl7pPr>
            <a:lvl8pPr marL="3429000" indent="-228600" eaLnBrk="0" fontAlgn="base" hangingPunct="0">
              <a:spcBef>
                <a:spcPct val="0"/>
              </a:spcBef>
              <a:spcAft>
                <a:spcPct val="0"/>
              </a:spcAft>
              <a:defRPr>
                <a:solidFill>
                  <a:schemeClr val="tx1"/>
                </a:solidFill>
                <a:latin typeface="Verdana" panose="020B0804030504040204" pitchFamily="34" charset="0"/>
                <a:cs typeface="Arial" panose="020B0604020202090204" pitchFamily="34" charset="0"/>
              </a:defRPr>
            </a:lvl8pPr>
            <a:lvl9pPr marL="3886200" indent="-228600" eaLnBrk="0" fontAlgn="base" hangingPunct="0">
              <a:spcBef>
                <a:spcPct val="0"/>
              </a:spcBef>
              <a:spcAft>
                <a:spcPct val="0"/>
              </a:spcAft>
              <a:defRPr>
                <a:solidFill>
                  <a:schemeClr val="tx1"/>
                </a:solidFill>
                <a:latin typeface="Verdana" panose="020B0804030504040204" pitchFamily="34" charset="0"/>
                <a:cs typeface="Arial" panose="020B0604020202090204" pitchFamily="34" charset="0"/>
              </a:defRPr>
            </a:lvl9pPr>
          </a:lstStyle>
          <a:p>
            <a:pPr algn="ctr">
              <a:spcAft>
                <a:spcPts val="200"/>
              </a:spcAft>
              <a:defRPr/>
            </a:pPr>
            <a:r>
              <a:rPr lang="en-US" sz="3600" b="1" dirty="0">
                <a:ln w="10541" cmpd="sng">
                  <a:solidFill>
                    <a:srgbClr val="5B9BD5">
                      <a:shade val="88000"/>
                      <a:satMod val="110000"/>
                    </a:srgbClr>
                  </a:solidFill>
                  <a:prstDash val="solid"/>
                </a:ln>
                <a:solidFill>
                  <a:srgbClr val="FF0000"/>
                </a:solidFill>
                <a:latin typeface="Lucida Sans" pitchFamily="34" charset="0"/>
              </a:rPr>
              <a:t>BMS</a:t>
            </a:r>
            <a:r>
              <a:rPr lang="en-US" sz="2700" b="1" dirty="0">
                <a:ln w="10541" cmpd="sng">
                  <a:solidFill>
                    <a:srgbClr val="5B9BD5">
                      <a:shade val="88000"/>
                      <a:satMod val="110000"/>
                    </a:srgbClr>
                  </a:solidFill>
                  <a:prstDash val="solid"/>
                </a:ln>
                <a:solidFill>
                  <a:srgbClr val="FF0000"/>
                </a:solidFill>
                <a:latin typeface="Lucida Sans" pitchFamily="34" charset="0"/>
              </a:rPr>
              <a:t> </a:t>
            </a:r>
            <a:r>
              <a:rPr lang="en-US" sz="2000" b="1" dirty="0">
                <a:ln w="10541" cmpd="sng">
                  <a:solidFill>
                    <a:srgbClr val="5B9BD5">
                      <a:shade val="88000"/>
                      <a:satMod val="110000"/>
                    </a:srgbClr>
                  </a:solidFill>
                  <a:prstDash val="solid"/>
                </a:ln>
                <a:solidFill>
                  <a:srgbClr val="002060"/>
                </a:solidFill>
                <a:latin typeface="Lucida Sans" pitchFamily="34" charset="0"/>
              </a:rPr>
              <a:t>INSTITUTE OF TECHNOLOGY AND MANAGEMENT</a:t>
            </a:r>
            <a:endParaRPr lang="en-US" b="1" dirty="0">
              <a:ln w="10541" cmpd="sng">
                <a:solidFill>
                  <a:srgbClr val="5B9BD5">
                    <a:shade val="88000"/>
                    <a:satMod val="110000"/>
                  </a:srgbClr>
                </a:solidFill>
                <a:prstDash val="solid"/>
              </a:ln>
              <a:solidFill>
                <a:srgbClr val="002060"/>
              </a:solidFill>
              <a:latin typeface="Lucida Sans" pitchFamily="34" charset="0"/>
            </a:endParaRPr>
          </a:p>
        </p:txBody>
      </p:sp>
      <p:pic>
        <p:nvPicPr>
          <p:cNvPr id="9" name="Picture 8" descr="C:\Users\Placement\Downloads\Logos\BMSIT LOGO Sept 2015.jpg">
            <a:extLst>
              <a:ext uri="{FF2B5EF4-FFF2-40B4-BE49-F238E27FC236}">
                <a16:creationId xmlns:a16="http://schemas.microsoft.com/office/drawing/2014/main" id="{7F75364C-D5A6-2B6E-FA9F-0DEB716F6C78}"/>
              </a:ext>
            </a:extLst>
          </p:cNvPr>
          <p:cNvPicPr>
            <a:picLocks noChangeAspect="1" noChangeArrowheads="1"/>
          </p:cNvPicPr>
          <p:nvPr userDrawn="1"/>
        </p:nvPicPr>
        <p:blipFill>
          <a:blip r:embed="rId34" cstate="print">
            <a:extLst>
              <a:ext uri="{28A0092B-C50C-407E-A947-70E740481C1C}">
                <a14:useLocalDpi xmlns:a14="http://schemas.microsoft.com/office/drawing/2010/main" val="0"/>
              </a:ext>
            </a:extLst>
          </a:blip>
          <a:srcRect/>
          <a:stretch>
            <a:fillRect/>
          </a:stretch>
        </p:blipFill>
        <p:spPr bwMode="auto">
          <a:xfrm>
            <a:off x="139148" y="17783"/>
            <a:ext cx="628128" cy="579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2" descr="Image result for india">
            <a:extLst>
              <a:ext uri="{FF2B5EF4-FFF2-40B4-BE49-F238E27FC236}">
                <a16:creationId xmlns:a16="http://schemas.microsoft.com/office/drawing/2014/main" id="{D44BC56D-C7FE-8A1B-8A3B-A86714D1EF5A}"/>
              </a:ext>
            </a:extLst>
          </p:cNvPr>
          <p:cNvPicPr>
            <a:picLocks noChangeAspect="1" noChangeArrowheads="1"/>
          </p:cNvPicPr>
          <p:nvPr userDrawn="1"/>
        </p:nvPicPr>
        <p:blipFill rotWithShape="1">
          <a:blip r:embed="rId35" cstate="print">
            <a:extLst>
              <a:ext uri="{28A0092B-C50C-407E-A947-70E740481C1C}">
                <a14:useLocalDpi xmlns:a14="http://schemas.microsoft.com/office/drawing/2010/main" val="0"/>
              </a:ext>
            </a:extLst>
          </a:blip>
          <a:srcRect l="19693" r="16352" b="17179"/>
          <a:stretch>
            <a:fillRect/>
          </a:stretch>
        </p:blipFill>
        <p:spPr bwMode="auto">
          <a:xfrm>
            <a:off x="8503509" y="103921"/>
            <a:ext cx="461587" cy="4892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6716898"/>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 id="2147483697" r:id="rId21"/>
    <p:sldLayoutId id="2147483698" r:id="rId22"/>
    <p:sldLayoutId id="2147483699" r:id="rId23"/>
    <p:sldLayoutId id="2147483700" r:id="rId24"/>
    <p:sldLayoutId id="2147483701" r:id="rId25"/>
    <p:sldLayoutId id="2147483702" r:id="rId26"/>
    <p:sldLayoutId id="2147483703" r:id="rId27"/>
    <p:sldLayoutId id="2147483704" r:id="rId28"/>
    <p:sldLayoutId id="2147483661" r:id="rId29"/>
    <p:sldLayoutId id="2147483662" r:id="rId30"/>
  </p:sldLayoutIdLst>
  <p:hf hdr="0" ftr="0"/>
  <p:txStyles>
    <p:titleStyle>
      <a:lvl1pPr algn="l" defTabSz="685800" rtl="0" eaLnBrk="1" latinLnBrk="0" hangingPunct="1">
        <a:lnSpc>
          <a:spcPct val="80000"/>
        </a:lnSpc>
        <a:spcBef>
          <a:spcPct val="0"/>
        </a:spcBef>
        <a:buNone/>
        <a:defRPr sz="4200" b="0" i="0" kern="1200" spc="-150" baseline="0">
          <a:solidFill>
            <a:schemeClr val="tx1"/>
          </a:solidFill>
          <a:latin typeface="+mj-lt"/>
          <a:ea typeface="+mj-ea"/>
          <a:cs typeface="+mj-cs"/>
        </a:defRPr>
      </a:lvl1pPr>
    </p:titleStyle>
    <p:bodyStyle>
      <a:lvl1pPr marL="0" indent="0" algn="l" defTabSz="685800" rtl="0" eaLnBrk="1" latinLnBrk="0" hangingPunct="1">
        <a:lnSpc>
          <a:spcPct val="80000"/>
        </a:lnSpc>
        <a:spcBef>
          <a:spcPts val="750"/>
        </a:spcBef>
        <a:buFont typeface="Arial" panose="020B0604020202020204" pitchFamily="34" charset="0"/>
        <a:buNone/>
        <a:defRPr sz="1050" kern="1200" baseline="0">
          <a:solidFill>
            <a:schemeClr val="tx1"/>
          </a:solidFill>
          <a:latin typeface="+mn-lt"/>
          <a:ea typeface="+mn-ea"/>
          <a:cs typeface="+mn-cs"/>
        </a:defRPr>
      </a:lvl1pPr>
      <a:lvl2pPr marL="171450" indent="0" algn="l" defTabSz="685800" rtl="0" eaLnBrk="1" latinLnBrk="0" hangingPunct="1">
        <a:lnSpc>
          <a:spcPct val="80000"/>
        </a:lnSpc>
        <a:spcBef>
          <a:spcPts val="750"/>
        </a:spcBef>
        <a:buFont typeface="Arial" panose="020B0604020202020204" pitchFamily="34" charset="0"/>
        <a:buNone/>
        <a:defRPr sz="1050" kern="1200" baseline="0">
          <a:solidFill>
            <a:schemeClr val="tx1"/>
          </a:solidFill>
          <a:latin typeface="+mn-lt"/>
          <a:ea typeface="+mn-ea"/>
          <a:cs typeface="+mn-cs"/>
        </a:defRPr>
      </a:lvl2pPr>
      <a:lvl3pPr marL="342900" indent="0" algn="l" defTabSz="685800" rtl="0" eaLnBrk="1" latinLnBrk="0" hangingPunct="1">
        <a:lnSpc>
          <a:spcPct val="80000"/>
        </a:lnSpc>
        <a:spcBef>
          <a:spcPts val="750"/>
        </a:spcBef>
        <a:buFont typeface="Arial" panose="020B0604020202020204" pitchFamily="34" charset="0"/>
        <a:buNone/>
        <a:defRPr sz="1050" kern="1200" baseline="0">
          <a:solidFill>
            <a:schemeClr val="tx1"/>
          </a:solidFill>
          <a:latin typeface="+mn-lt"/>
          <a:ea typeface="+mn-ea"/>
          <a:cs typeface="+mn-cs"/>
        </a:defRPr>
      </a:lvl3pPr>
      <a:lvl4pPr marL="514350" indent="0" algn="l" defTabSz="685800" rtl="0" eaLnBrk="1" latinLnBrk="0" hangingPunct="1">
        <a:lnSpc>
          <a:spcPct val="80000"/>
        </a:lnSpc>
        <a:spcBef>
          <a:spcPts val="750"/>
        </a:spcBef>
        <a:buFont typeface="Arial" panose="020B0604020202020204" pitchFamily="34" charset="0"/>
        <a:buNone/>
        <a:defRPr sz="1050" kern="1200" baseline="0">
          <a:solidFill>
            <a:schemeClr val="tx1"/>
          </a:solidFill>
          <a:latin typeface="+mn-lt"/>
          <a:ea typeface="+mn-ea"/>
          <a:cs typeface="+mn-cs"/>
        </a:defRPr>
      </a:lvl4pPr>
      <a:lvl5pPr marL="685800" indent="0" algn="l" defTabSz="685800" rtl="0" eaLnBrk="1" latinLnBrk="0" hangingPunct="1">
        <a:lnSpc>
          <a:spcPct val="80000"/>
        </a:lnSpc>
        <a:spcBef>
          <a:spcPts val="750"/>
        </a:spcBef>
        <a:buFont typeface="Arial" panose="020B0604020202020204" pitchFamily="34" charset="0"/>
        <a:buNone/>
        <a:defRPr sz="1050" kern="120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5E75B8-16FE-459E-8FEE-76CC5E9BA9CF}" type="datetime1">
              <a:rPr lang="en-IN" smtClean="0">
                <a:solidFill>
                  <a:prstClr val="black">
                    <a:tint val="75000"/>
                  </a:prstClr>
                </a:solidFill>
                <a:latin typeface="Times New Roman" panose="02020503050405090304" pitchFamily="18" charset="0"/>
                <a:cs typeface="Times New Roman" panose="02020503050405090304" pitchFamily="18" charset="0"/>
              </a:rPr>
              <a:t>08-09-2026</a:t>
            </a:fld>
            <a:endParaRPr lang="en-IN">
              <a:solidFill>
                <a:prstClr val="black">
                  <a:tint val="75000"/>
                </a:prstClr>
              </a:solidFill>
              <a:latin typeface="Times New Roman" panose="02020503050405090304" pitchFamily="18" charset="0"/>
              <a:cs typeface="Times New Roman" panose="02020503050405090304" pitchFamily="18" charset="0"/>
            </a:endParaRPr>
          </a:p>
        </p:txBody>
      </p:sp>
      <p:sp>
        <p:nvSpPr>
          <p:cNvPr id="3" name="Slide Number Placeholder 2"/>
          <p:cNvSpPr>
            <a:spLocks noGrp="1"/>
          </p:cNvSpPr>
          <p:nvPr>
            <p:ph type="sldNum" sz="quarter" idx="12"/>
          </p:nvPr>
        </p:nvSpPr>
        <p:spPr/>
        <p:txBody>
          <a:bodyPr/>
          <a:lstStyle/>
          <a:p>
            <a:fld id="{58CAE0E1-5C16-469C-80A6-45E1950F1503}" type="slidenum">
              <a:rPr lang="en-IN" smtClean="0">
                <a:solidFill>
                  <a:prstClr val="black">
                    <a:tint val="75000"/>
                  </a:prstClr>
                </a:solidFill>
                <a:latin typeface="Times New Roman" panose="02020503050405090304" pitchFamily="18" charset="0"/>
                <a:cs typeface="Times New Roman" panose="02020503050405090304" pitchFamily="18" charset="0"/>
              </a:rPr>
              <a:t>1</a:t>
            </a:fld>
            <a:endParaRPr lang="en-IN">
              <a:solidFill>
                <a:prstClr val="black">
                  <a:tint val="75000"/>
                </a:prstClr>
              </a:solidFill>
              <a:latin typeface="Times New Roman" panose="02020503050405090304" pitchFamily="18" charset="0"/>
              <a:cs typeface="Times New Roman" panose="02020503050405090304" pitchFamily="18" charset="0"/>
            </a:endParaRPr>
          </a:p>
        </p:txBody>
      </p:sp>
      <p:sp>
        <p:nvSpPr>
          <p:cNvPr id="7" name="Rectangle 6"/>
          <p:cNvSpPr/>
          <p:nvPr/>
        </p:nvSpPr>
        <p:spPr>
          <a:xfrm>
            <a:off x="364067" y="3246120"/>
            <a:ext cx="8322733" cy="369332"/>
          </a:xfrm>
          <a:prstGeom prst="rect">
            <a:avLst/>
          </a:prstGeom>
        </p:spPr>
        <p:txBody>
          <a:bodyPr wrap="square">
            <a:spAutoFit/>
          </a:bodyPr>
          <a:lstStyle/>
          <a:p>
            <a:pPr algn="ctr"/>
            <a:r>
              <a:rPr lang="en-US" b="1" dirty="0">
                <a:latin typeface="Times New Roman" panose="02020503050405090304" pitchFamily="18" charset="0"/>
                <a:ea typeface="Open Sans" panose="020B0606030504020204" pitchFamily="34" charset="0"/>
                <a:cs typeface="Times New Roman" panose="02020503050405090304" pitchFamily="18" charset="0"/>
              </a:rPr>
              <a:t>Presented By</a:t>
            </a:r>
          </a:p>
        </p:txBody>
      </p:sp>
      <p:sp>
        <p:nvSpPr>
          <p:cNvPr id="9" name="TextBox 8"/>
          <p:cNvSpPr txBox="1"/>
          <p:nvPr/>
        </p:nvSpPr>
        <p:spPr>
          <a:xfrm>
            <a:off x="211015" y="897467"/>
            <a:ext cx="8707901" cy="1200329"/>
          </a:xfrm>
          <a:prstGeom prst="rect">
            <a:avLst/>
          </a:prstGeom>
          <a:noFill/>
        </p:spPr>
        <p:txBody>
          <a:bodyPr wrap="square" rtlCol="0">
            <a:spAutoFit/>
          </a:bodyPr>
          <a:lstStyle/>
          <a:p>
            <a:pPr algn="ctr"/>
            <a:r>
              <a:rPr lang="en-US" altLang="en-IN" sz="3600" dirty="0">
                <a:ln w="0"/>
                <a:effectLst>
                  <a:outerShdw blurRad="38100" dist="19050" dir="2700000" algn="tl" rotWithShape="0">
                    <a:schemeClr val="dk1">
                      <a:alpha val="40000"/>
                    </a:schemeClr>
                  </a:outerShdw>
                </a:effectLst>
                <a:latin typeface="Times New Roman" panose="02020503050405090304" pitchFamily="18" charset="0"/>
                <a:ea typeface="Open Sans" panose="020B0606030504020204" pitchFamily="34" charset="0"/>
                <a:cs typeface="Times New Roman" panose="02020503050405090304" pitchFamily="18" charset="0"/>
              </a:rPr>
              <a:t>BCS701 (Information and Network Security)</a:t>
            </a:r>
            <a:endParaRPr lang="en-IN" sz="3600" dirty="0">
              <a:ln w="0"/>
              <a:effectLst>
                <a:outerShdw blurRad="38100" dist="19050" dir="2700000" algn="tl" rotWithShape="0">
                  <a:schemeClr val="dk1">
                    <a:alpha val="40000"/>
                  </a:schemeClr>
                </a:outerShdw>
              </a:effectLst>
              <a:latin typeface="Times New Roman" panose="02020503050405090304" pitchFamily="18" charset="0"/>
              <a:ea typeface="Open Sans" panose="020B0606030504020204" pitchFamily="34" charset="0"/>
              <a:cs typeface="Times New Roman" panose="02020503050405090304" pitchFamily="18" charset="0"/>
            </a:endParaRPr>
          </a:p>
          <a:p>
            <a:pPr algn="ctr"/>
            <a:endParaRPr lang="en-IN" dirty="0">
              <a:ln w="0"/>
              <a:effectLst>
                <a:outerShdw blurRad="38100" dist="19050" dir="2700000" algn="tl" rotWithShape="0">
                  <a:schemeClr val="dk1">
                    <a:alpha val="40000"/>
                  </a:schemeClr>
                </a:outerShdw>
              </a:effectLst>
              <a:latin typeface="Times New Roman" panose="02020503050405090304" pitchFamily="18" charset="0"/>
              <a:ea typeface="Open Sans" panose="020B0606030504020204" pitchFamily="34" charset="0"/>
              <a:cs typeface="Times New Roman" panose="02020503050405090304" pitchFamily="18" charset="0"/>
            </a:endParaRPr>
          </a:p>
          <a:p>
            <a:endParaRPr lang="en-IN" dirty="0">
              <a:ln w="0"/>
              <a:effectLst>
                <a:outerShdw blurRad="38100" dist="19050" dir="2700000" algn="tl" rotWithShape="0">
                  <a:schemeClr val="dk1">
                    <a:alpha val="40000"/>
                  </a:schemeClr>
                </a:outerShdw>
              </a:effectLst>
              <a:latin typeface="Times New Roman" panose="02020503050405090304" pitchFamily="18" charset="0"/>
              <a:cs typeface="Times New Roman" panose="02020503050405090304" pitchFamily="18" charset="0"/>
            </a:endParaRPr>
          </a:p>
        </p:txBody>
      </p:sp>
      <p:sp>
        <p:nvSpPr>
          <p:cNvPr id="5" name="TextBox 4">
            <a:extLst>
              <a:ext uri="{FF2B5EF4-FFF2-40B4-BE49-F238E27FC236}">
                <a16:creationId xmlns:a16="http://schemas.microsoft.com/office/drawing/2014/main" id="{EFE5F17E-FF89-96F9-B21D-14F8510FE325}"/>
              </a:ext>
            </a:extLst>
          </p:cNvPr>
          <p:cNvSpPr txBox="1"/>
          <p:nvPr/>
        </p:nvSpPr>
        <p:spPr>
          <a:xfrm>
            <a:off x="2272107" y="4892040"/>
            <a:ext cx="4585716" cy="338554"/>
          </a:xfrm>
          <a:prstGeom prst="rect">
            <a:avLst/>
          </a:prstGeom>
          <a:noFill/>
        </p:spPr>
        <p:txBody>
          <a:bodyPr wrap="square">
            <a:spAutoFit/>
          </a:bodyPr>
          <a:lstStyle/>
          <a:p>
            <a:pPr algn="ctr"/>
            <a:r>
              <a:rPr lang="en-US" sz="1600" b="1" dirty="0">
                <a:latin typeface="Times New Roman" panose="02020503050405090304" pitchFamily="18" charset="0"/>
                <a:ea typeface="Open Sans" panose="020B0606030504020204" pitchFamily="34" charset="0"/>
                <a:cs typeface="Times New Roman" panose="02020503050405090304" pitchFamily="18" charset="0"/>
              </a:rPr>
              <a:t>Under the guidance of</a:t>
            </a:r>
            <a:endParaRPr lang="en-IN" sz="1600" b="1" dirty="0">
              <a:latin typeface="Times New Roman" panose="02020503050405090304" pitchFamily="18" charset="0"/>
              <a:ea typeface="Open Sans" panose="020B0606030504020204" pitchFamily="34" charset="0"/>
              <a:cs typeface="Times New Roman" panose="02020503050405090304" pitchFamily="18" charset="0"/>
            </a:endParaRPr>
          </a:p>
        </p:txBody>
      </p:sp>
      <p:sp>
        <p:nvSpPr>
          <p:cNvPr id="8" name="TextBox 7">
            <a:extLst>
              <a:ext uri="{FF2B5EF4-FFF2-40B4-BE49-F238E27FC236}">
                <a16:creationId xmlns:a16="http://schemas.microsoft.com/office/drawing/2014/main" id="{01DF88FB-6552-969E-6263-9F680DDAE8DC}"/>
              </a:ext>
            </a:extLst>
          </p:cNvPr>
          <p:cNvSpPr txBox="1"/>
          <p:nvPr/>
        </p:nvSpPr>
        <p:spPr>
          <a:xfrm>
            <a:off x="1237869" y="1647886"/>
            <a:ext cx="6668262" cy="646331"/>
          </a:xfrm>
          <a:prstGeom prst="rect">
            <a:avLst/>
          </a:prstGeom>
          <a:noFill/>
        </p:spPr>
        <p:txBody>
          <a:bodyPr wrap="square">
            <a:spAutoFit/>
          </a:bodyPr>
          <a:lstStyle/>
          <a:p>
            <a:pPr algn="ctr"/>
            <a:r>
              <a:rPr lang="en-US" altLang="en-IN" sz="2800" dirty="0">
                <a:ln w="0"/>
                <a:effectLst>
                  <a:outerShdw blurRad="38100" dist="19050" dir="2700000" algn="tl" rotWithShape="0">
                    <a:schemeClr val="dk1">
                      <a:alpha val="40000"/>
                    </a:schemeClr>
                  </a:outerShdw>
                </a:effectLst>
                <a:latin typeface="Times New Roman" panose="02020503050405090304" pitchFamily="18" charset="0"/>
                <a:ea typeface="Open Sans" panose="020B0606030504020204" pitchFamily="34" charset="0"/>
                <a:cs typeface="Times New Roman" panose="02020503050405090304" pitchFamily="18" charset="0"/>
              </a:rPr>
              <a:t>CCA: Security Breach Analysis</a:t>
            </a:r>
            <a:r>
              <a:rPr lang="en-IN" sz="2800" dirty="0">
                <a:ln w="0"/>
                <a:effectLst>
                  <a:outerShdw blurRad="38100" dist="19050" dir="2700000" algn="tl" rotWithShape="0">
                    <a:schemeClr val="dk1">
                      <a:alpha val="40000"/>
                    </a:schemeClr>
                  </a:outerShdw>
                </a:effectLst>
                <a:latin typeface="Times New Roman" panose="02020503050405090304" pitchFamily="18" charset="0"/>
                <a:ea typeface="Open Sans" panose="020B0606030504020204" pitchFamily="34" charset="0"/>
                <a:cs typeface="Times New Roman" panose="02020503050405090304" pitchFamily="18" charset="0"/>
              </a:rPr>
              <a:t/>
            </a:r>
            <a:r>
              <a:rPr lang="en-US" altLang="en-IN" sz="2800" dirty="0">
                <a:ln w="0"/>
                <a:effectLst>
                  <a:outerShdw blurRad="38100" dist="19050" dir="2700000" algn="tl" rotWithShape="0">
                    <a:schemeClr val="dk1">
                      <a:alpha val="40000"/>
                    </a:schemeClr>
                  </a:outerShdw>
                </a:effectLst>
                <a:latin typeface="Times New Roman" panose="02020503050405090304" pitchFamily="18" charset="0"/>
                <a:ea typeface="Open Sans" panose="020B0606030504020204" pitchFamily="34" charset="0"/>
                <a:cs typeface="Times New Roman" panose="02020503050405090304" pitchFamily="18" charset="0"/>
              </a:rPr>
              <a:t/>
            </a:r>
            <a:endParaRPr lang="en-IN" dirty="0"/>
          </a:p>
        </p:txBody>
      </p:sp>
      <p:sp>
        <p:nvSpPr>
          <p:cNvPr id="11" name="TextBox 10">
            <a:extLst>
              <a:ext uri="{FF2B5EF4-FFF2-40B4-BE49-F238E27FC236}">
                <a16:creationId xmlns:a16="http://schemas.microsoft.com/office/drawing/2014/main" id="{809EDA3D-ED62-9570-6D9B-67B6930F72BF}"/>
              </a:ext>
            </a:extLst>
          </p:cNvPr>
          <p:cNvSpPr txBox="1"/>
          <p:nvPr/>
        </p:nvSpPr>
        <p:spPr>
          <a:xfrm>
            <a:off x="365760" y="2148840"/>
            <a:ext cx="8412480" cy="461665"/>
          </a:xfrm>
          <a:prstGeom prst="rect">
            <a:avLst/>
          </a:prstGeom>
          <a:noFill/>
        </p:spPr>
        <p:txBody>
          <a:bodyPr wrap="square">
            <a:spAutoFit/>
          </a:bodyPr>
          <a:lstStyle/>
          <a:p>
            <a:pPr algn="ctr"/>
            <a:r>
              <a:rPr lang="en-US" altLang="en-IN" sz="2400" dirty="0">
                <a:ln w="0"/>
                <a:effectLst>
                  <a:outerShdw blurRad="38100" dist="19050" dir="2700000" algn="tl" rotWithShape="0">
                    <a:schemeClr val="dk1">
                      <a:alpha val="40000"/>
                    </a:schemeClr>
                  </a:outerShdw>
                </a:effectLst>
                <a:latin typeface="Times New Roman" panose="02020503050405090304" pitchFamily="18" charset="0"/>
                <a:ea typeface="Open Sans" panose="020B0606030504020204" pitchFamily="34" charset="0"/>
                <a:cs typeface="Times New Roman" panose="02020503050405090304" pitchFamily="18" charset="0"/>
              </a:rPr>
              <a:t>Application Title: </a:t>
            </a:r>
            <a:r>
              <a:rPr lang="en-IN" sz="2400" dirty="0" b="1">
                <a:ln w="0"/>
                <a:solidFill>
                  <a:srgbClr val="1B2F5B"/>
                </a:solidFill>
                <a:effectLst>
                  <a:outerShdw blurRad="38100" dist="19050" dir="2700000" algn="tl" rotWithShape="0">
                    <a:schemeClr val="dk1">
                      <a:alpha val="40000"/>
                    </a:schemeClr>
                  </a:outerShdw>
                </a:effectLst>
                <a:latin typeface="Times New Roman" panose="02020503050405090304" pitchFamily="18" charset="0"/>
                <a:ea typeface="Open Sans" panose="020B0606030504020204" pitchFamily="34" charset="0"/>
                <a:cs typeface="Times New Roman" panose="02020503050405090304" pitchFamily="18" charset="0"/>
              </a:rPr>
              <a:t>SignGate</a:t>
            </a:r>
          </a:p>
          <a:p>
            <a:pPr algn="ctr"/>
            <a:r>
              <a:rPr sz="1800" b="0" i="1">
                <a:solidFill>
                  <a:srgbClr val="1D2433"/>
                </a:solidFill>
                <a:latin typeface="Times New Roman"/>
              </a:rPr>
              <a:t>Stopping the Codecov (2021) Supply-Chain Attack with a Cryptographic Verify-Before-Execute Gate</a:t>
            </a:r>
          </a:p>
        </p:txBody>
      </p:sp>
      <p:sp>
        <p:nvSpPr>
          <p:cNvPr id="12" name="TextBox 11"/>
          <p:cNvSpPr txBox="1"/>
          <p:nvPr/>
        </p:nvSpPr>
        <p:spPr>
          <a:xfrm>
            <a:off x="1828800" y="3611880"/>
            <a:ext cx="5486400" cy="1097280"/>
          </a:xfrm>
          <a:prstGeom prst="rect">
            <a:avLst/>
          </a:prstGeom>
          <a:noFill/>
        </p:spPr>
        <p:txBody>
          <a:bodyPr wrap="square" anchor="t" lIns="36576" rIns="36576">
            <a:spAutoFit/>
          </a:bodyPr>
          <a:lstStyle/>
          <a:p>
            <a:pPr algn="ctr">
              <a:spcAft>
                <a:spcPts val="200"/>
              </a:spcAft>
            </a:pPr>
            <a:r>
              <a:rPr sz="1500" b="0" i="0">
                <a:solidFill>
                  <a:srgbClr val="1D2433"/>
                </a:solidFill>
                <a:latin typeface="Times New Roman"/>
              </a:rPr>
              <a:t>&lt;Student Name 1&gt;  –  &lt;USN&gt;</a:t>
            </a:r>
          </a:p>
          <a:p>
            <a:pPr algn="ctr">
              <a:spcAft>
                <a:spcPts val="200"/>
              </a:spcAft>
            </a:pPr>
            <a:r>
              <a:rPr sz="1500" b="0" i="0">
                <a:solidFill>
                  <a:srgbClr val="1D2433"/>
                </a:solidFill>
                <a:latin typeface="Times New Roman"/>
              </a:rPr>
              <a:t>&lt;Student Name 2&gt;  –  &lt;USN&gt;</a:t>
            </a:r>
          </a:p>
          <a:p>
            <a:pPr algn="ctr">
              <a:spcAft>
                <a:spcPts val="200"/>
              </a:spcAft>
            </a:pPr>
            <a:r>
              <a:rPr sz="1500" b="0" i="0">
                <a:solidFill>
                  <a:srgbClr val="1D2433"/>
                </a:solidFill>
                <a:latin typeface="Times New Roman"/>
              </a:rPr>
              <a:t>&lt;Student Name 3&gt;  –  &lt;USN&gt;</a:t>
            </a:r>
          </a:p>
        </p:txBody>
      </p:sp>
      <p:sp>
        <p:nvSpPr>
          <p:cNvPr id="13" name="TextBox 12"/>
          <p:cNvSpPr txBox="1"/>
          <p:nvPr/>
        </p:nvSpPr>
        <p:spPr>
          <a:xfrm>
            <a:off x="1828800" y="5230368"/>
            <a:ext cx="5486400" cy="685800"/>
          </a:xfrm>
          <a:prstGeom prst="rect">
            <a:avLst/>
          </a:prstGeom>
          <a:noFill/>
        </p:spPr>
        <p:txBody>
          <a:bodyPr wrap="square" anchor="t" lIns="36576" rIns="36576">
            <a:spAutoFit/>
          </a:bodyPr>
          <a:lstStyle/>
          <a:p>
            <a:pPr algn="ctr">
              <a:spcAft>
                <a:spcPts val="0"/>
              </a:spcAft>
            </a:pPr>
            <a:r>
              <a:rPr sz="1500" b="1" i="0">
                <a:solidFill>
                  <a:srgbClr val="1D2433"/>
                </a:solidFill>
                <a:latin typeface="Times New Roman"/>
              </a:rPr>
              <a:t>Prof. Sonnegowda K</a:t>
            </a:r>
          </a:p>
          <a:p>
            <a:pPr algn="ctr">
              <a:spcAft>
                <a:spcPts val="0"/>
              </a:spcAft>
            </a:pPr>
            <a:r>
              <a:rPr sz="1500" b="0" i="0">
                <a:solidFill>
                  <a:srgbClr val="1D2433"/>
                </a:solidFill>
                <a:latin typeface="Times New Roman"/>
              </a:rPr>
              <a:t>Assistant Professor, Dept. of ISE, BMSIT&amp;M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EC0164-0102-408C-A95F-BA5869EBAB0A}" type="datetime1">
              <a:rPr lang="en-IN" smtClean="0">
                <a:solidFill>
                  <a:prstClr val="black">
                    <a:tint val="75000"/>
                  </a:prstClr>
                </a:solidFill>
              </a:rPr>
              <a:t>08-09-2026</a:t>
            </a:fld>
            <a:endParaRPr lang="en-IN">
              <a:solidFill>
                <a:prstClr val="black">
                  <a:tint val="75000"/>
                </a:prstClr>
              </a:solidFill>
            </a:endParaRPr>
          </a:p>
        </p:txBody>
      </p:sp>
      <p:sp>
        <p:nvSpPr>
          <p:cNvPr id="3" name="Slide Number Placeholder 2"/>
          <p:cNvSpPr>
            <a:spLocks noGrp="1"/>
          </p:cNvSpPr>
          <p:nvPr>
            <p:ph type="sldNum" sz="quarter" idx="12"/>
          </p:nvPr>
        </p:nvSpPr>
        <p:spPr/>
        <p:txBody>
          <a:bodyPr/>
          <a:lstStyle/>
          <a:p>
            <a:fld id="{58CAE0E1-5C16-469C-80A6-45E1950F1503}" type="slidenum">
              <a:rPr lang="en-IN" smtClean="0">
                <a:solidFill>
                  <a:prstClr val="black">
                    <a:tint val="75000"/>
                  </a:prstClr>
                </a:solidFill>
              </a:rPr>
              <a:t>2</a:t>
            </a:fld>
            <a:endParaRPr lang="en-IN">
              <a:solidFill>
                <a:prstClr val="black">
                  <a:tint val="75000"/>
                </a:prstClr>
              </a:solidFill>
            </a:endParaRPr>
          </a:p>
        </p:txBody>
      </p:sp>
      <p:sp>
        <p:nvSpPr>
          <p:cNvPr id="4" name="Title 1"/>
          <p:cNvSpPr txBox="1"/>
          <p:nvPr/>
        </p:nvSpPr>
        <p:spPr>
          <a:xfrm>
            <a:off x="-448313" y="862870"/>
            <a:ext cx="3799268" cy="489399"/>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n w="10541" cmpd="sng">
                  <a:solidFill>
                    <a:srgbClr val="5B9BD5">
                      <a:shade val="88000"/>
                      <a:satMod val="110000"/>
                    </a:srgbClr>
                  </a:solidFill>
                  <a:prstDash val="solid"/>
                </a:ln>
                <a:latin typeface="Times New Roman" panose="02020503050405090304" pitchFamily="18" charset="0"/>
                <a:ea typeface="MS Mincho" pitchFamily="49" charset="-128"/>
                <a:cs typeface="Times New Roman" panose="02020503050405090304" pitchFamily="18" charset="0"/>
              </a:rPr>
              <a:t>Content</a:t>
            </a:r>
            <a:r>
              <a:rPr lang="en-US" b="1" dirty="0">
                <a:ln w="10541" cmpd="sng">
                  <a:solidFill>
                    <a:srgbClr val="5B9BD5">
                      <a:shade val="88000"/>
                      <a:satMod val="110000"/>
                    </a:srgbClr>
                  </a:solidFill>
                  <a:prstDash val="solid"/>
                </a:ln>
                <a:solidFill>
                  <a:srgbClr val="FF0000"/>
                </a:solidFill>
                <a:latin typeface="Cambria" pitchFamily="18" charset="0"/>
                <a:ea typeface="+mn-ea"/>
                <a:cs typeface="+mn-cs"/>
              </a:rPr>
              <a:t> </a:t>
            </a:r>
          </a:p>
        </p:txBody>
      </p:sp>
      <p:sp>
        <p:nvSpPr>
          <p:cNvPr id="7" name="TextBox 6">
            <a:extLst>
              <a:ext uri="{FF2B5EF4-FFF2-40B4-BE49-F238E27FC236}">
                <a16:creationId xmlns:a16="http://schemas.microsoft.com/office/drawing/2014/main" id="{5ACF47DD-C739-1403-D772-26C292EF6574}"/>
              </a:ext>
            </a:extLst>
          </p:cNvPr>
          <p:cNvSpPr txBox="1"/>
          <p:nvPr/>
        </p:nvSpPr>
        <p:spPr>
          <a:xfrm>
            <a:off x="1204722" y="1417320"/>
            <a:ext cx="6329934" cy="4401205"/>
          </a:xfrm>
          <a:prstGeom prst="rect">
            <a:avLst/>
          </a:prstGeom>
          <a:noFill/>
        </p:spPr>
        <p:txBody>
          <a:bodyPr wrap="square">
            <a:spAutoFit/>
          </a:bodyPr>
          <a:lstStyle/>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Title of the application</a:t>
            </a: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Abstract</a:t>
            </a:r>
            <a:endParaRPr lang="en-IN" sz="20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Introduction: The Codecov Incident</a:t>
            </a:r>
            <a:endParaRPr lang="en-IN" sz="20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Problem Statement</a:t>
            </a:r>
            <a:endParaRPr lang="en-IN" sz="20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Objectives</a:t>
            </a:r>
            <a:endParaRPr lang="en-IN" sz="20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Requirements</a:t>
            </a:r>
            <a:endParaRPr lang="en-IN" sz="20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Methodology</a:t>
            </a:r>
            <a:endParaRPr lang="en-IN" sz="20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Design and Implementation</a:t>
            </a:r>
            <a:endParaRPr lang="en-IN" sz="20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Security Analysis</a:t>
            </a:r>
            <a:endParaRPr lang="en-IN" sz="20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Results (System Testing)</a:t>
            </a:r>
            <a:endParaRPr lang="en-IN" sz="20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Innovation and Relevance</a:t>
            </a:r>
            <a:endParaRPr lang="en-IN" sz="20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Conclusion</a:t>
            </a:r>
            <a:endParaRPr lang="en-IN" sz="20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References : (IEEE format)</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11480" y="713232"/>
            <a:ext cx="8321040" cy="566928"/>
          </a:xfrm>
          <a:prstGeom prst="rect">
            <a:avLst/>
          </a:prstGeom>
          <a:noFill/>
        </p:spPr>
        <p:txBody>
          <a:bodyPr wrap="square" lIns="0" rIns="0" anchor="ctr">
            <a:spAutoFit/>
          </a:bodyPr>
          <a:lstStyle/>
          <a:p>
            <a:r>
              <a:rPr sz="2800" b="1" i="0">
                <a:solidFill>
                  <a:srgbClr val="1B2F5B"/>
                </a:solidFill>
                <a:latin typeface="Times New Roman"/>
              </a:rPr>
              <a:t>Abstract</a:t>
            </a:r>
          </a:p>
        </p:txBody>
      </p:sp>
      <p:sp>
        <p:nvSpPr>
          <p:cNvPr id="5" name="TextBox 4"/>
          <p:cNvSpPr txBox="1"/>
          <p:nvPr/>
        </p:nvSpPr>
        <p:spPr>
          <a:xfrm>
            <a:off x="457200" y="1417320"/>
            <a:ext cx="8229600" cy="2926080"/>
          </a:xfrm>
          <a:prstGeom prst="rect">
            <a:avLst/>
          </a:prstGeom>
          <a:noFill/>
        </p:spPr>
        <p:txBody>
          <a:bodyPr wrap="square" anchor="t" lIns="36576" rIns="36576">
            <a:spAutoFit/>
          </a:bodyPr>
          <a:lstStyle/>
          <a:p>
            <a:pPr algn="l" marL="228600" indent="-201168">
              <a:spcAft>
                <a:spcPts val="1000"/>
              </a:spcAft>
              <a:buChar char="•"/>
            </a:pPr>
            <a:r>
              <a:rPr sz="1700" b="1" i="0">
                <a:solidFill>
                  <a:srgbClr val="1D2433"/>
                </a:solidFill>
                <a:latin typeface="Calibri"/>
              </a:rPr>
              <a:t>Incident: </a:t>
            </a:r>
            <a:r>
              <a:rPr sz="1700" b="0" i="0">
                <a:solidFill>
                  <a:srgbClr val="1D2433"/>
                </a:solidFill>
                <a:latin typeface="Calibri"/>
              </a:rPr>
              <a:t>In 2021 an HMAC key leaked from a Docker image let an attacker modify the Codecov Bash Uploader. Thousands of CI/CD pipelines ran it and leaked their secrets for about 2 months.</a:t>
            </a:r>
          </a:p>
          <a:p>
            <a:pPr algn="l" marL="228600" indent="-201168">
              <a:spcAft>
                <a:spcPts val="1000"/>
              </a:spcAft>
              <a:buChar char="•"/>
            </a:pPr>
            <a:r>
              <a:rPr sz="1700" b="1" i="0">
                <a:solidFill>
                  <a:srgbClr val="1D2433"/>
                </a:solidFill>
                <a:latin typeface="Calibri"/>
              </a:rPr>
              <a:t>Solution: </a:t>
            </a:r>
            <a:r>
              <a:rPr sz="1700" b="0" i="0">
                <a:solidFill>
                  <a:srgbClr val="1D2433"/>
                </a:solidFill>
                <a:latin typeface="Calibri"/>
              </a:rPr>
              <a:t>SignGate, a verify-before-execute gate. SHA-256 + Ed25519 signed releases, a root-certified key hierarchy with revocation, a hash-chained transparency log, anti-rollback, and least-privilege execution.</a:t>
            </a:r>
          </a:p>
          <a:p>
            <a:pPr algn="l" marL="228600" indent="-201168">
              <a:spcAft>
                <a:spcPts val="1000"/>
              </a:spcAft>
              <a:buChar char="•"/>
            </a:pPr>
            <a:r>
              <a:rPr sz="1700" b="1" i="0">
                <a:solidFill>
                  <a:srgbClr val="1D2433"/>
                </a:solidFill>
                <a:latin typeface="Calibri"/>
              </a:rPr>
              <a:t>Result: </a:t>
            </a:r>
            <a:r>
              <a:rPr sz="1700" b="0" i="0">
                <a:solidFill>
                  <a:srgbClr val="1D2433"/>
                </a:solidFill>
                <a:latin typeface="Calibri"/>
              </a:rPr>
              <a:t>Python prototype blocked the real attack and 5 stronger variants, cut exposed secrets from 8 to 1, and adds only ~0.6 ms per build.</a:t>
            </a:r>
          </a:p>
        </p:txBody>
      </p:sp>
      <p:sp>
        <p:nvSpPr>
          <p:cNvPr id="6" name="Rounded Rectangle 5"/>
          <p:cNvSpPr/>
          <p:nvPr/>
        </p:nvSpPr>
        <p:spPr>
          <a:xfrm>
            <a:off x="457200" y="4434840"/>
            <a:ext cx="1920240" cy="1691640"/>
          </a:xfrm>
          <a:prstGeom prst="roundRect">
            <a:avLst>
              <a:gd name="adj" fmla="val 8000"/>
            </a:avLst>
          </a:prstGeom>
          <a:solidFill>
            <a:srgbClr val="FDECEA"/>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57200" y="4617720"/>
            <a:ext cx="1920240" cy="731520"/>
          </a:xfrm>
          <a:prstGeom prst="rect">
            <a:avLst/>
          </a:prstGeom>
          <a:noFill/>
        </p:spPr>
        <p:txBody>
          <a:bodyPr wrap="square" anchor="t" lIns="36576" rIns="36576">
            <a:spAutoFit/>
          </a:bodyPr>
          <a:lstStyle/>
          <a:p>
            <a:pPr algn="ctr">
              <a:spcAft>
                <a:spcPts val="400"/>
              </a:spcAft>
            </a:pPr>
            <a:r>
              <a:rPr sz="2800" b="1" i="0">
                <a:solidFill>
                  <a:srgbClr val="B3261E"/>
                </a:solidFill>
                <a:latin typeface="Calibri"/>
              </a:rPr>
              <a:t>~2 months</a:t>
            </a:r>
          </a:p>
        </p:txBody>
      </p:sp>
      <p:sp>
        <p:nvSpPr>
          <p:cNvPr id="8" name="TextBox 7"/>
          <p:cNvSpPr txBox="1"/>
          <p:nvPr/>
        </p:nvSpPr>
        <p:spPr>
          <a:xfrm>
            <a:off x="457200" y="5349240"/>
            <a:ext cx="1920240" cy="548640"/>
          </a:xfrm>
          <a:prstGeom prst="rect">
            <a:avLst/>
          </a:prstGeom>
          <a:noFill/>
        </p:spPr>
        <p:txBody>
          <a:bodyPr wrap="square" anchor="t" lIns="36576" rIns="36576">
            <a:spAutoFit/>
          </a:bodyPr>
          <a:lstStyle/>
          <a:p>
            <a:pPr algn="ctr">
              <a:spcAft>
                <a:spcPts val="400"/>
              </a:spcAft>
            </a:pPr>
            <a:r>
              <a:rPr sz="1300" b="0" i="0">
                <a:solidFill>
                  <a:srgbClr val="4A5263"/>
                </a:solidFill>
                <a:latin typeface="Calibri"/>
              </a:rPr>
              <a:t>attack went undetected</a:t>
            </a:r>
          </a:p>
        </p:txBody>
      </p:sp>
      <p:sp>
        <p:nvSpPr>
          <p:cNvPr id="9" name="Rounded Rectangle 8"/>
          <p:cNvSpPr/>
          <p:nvPr/>
        </p:nvSpPr>
        <p:spPr>
          <a:xfrm>
            <a:off x="2542032" y="4434840"/>
            <a:ext cx="1920240" cy="1691640"/>
          </a:xfrm>
          <a:prstGeom prst="roundRect">
            <a:avLst>
              <a:gd name="adj" fmla="val 8000"/>
            </a:avLst>
          </a:prstGeom>
          <a:solidFill>
            <a:srgbClr val="EEF1FB"/>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542032" y="4617720"/>
            <a:ext cx="1920240" cy="731520"/>
          </a:xfrm>
          <a:prstGeom prst="rect">
            <a:avLst/>
          </a:prstGeom>
          <a:noFill/>
        </p:spPr>
        <p:txBody>
          <a:bodyPr wrap="square" anchor="t" lIns="36576" rIns="36576">
            <a:spAutoFit/>
          </a:bodyPr>
          <a:lstStyle/>
          <a:p>
            <a:pPr algn="ctr">
              <a:spcAft>
                <a:spcPts val="400"/>
              </a:spcAft>
            </a:pPr>
            <a:r>
              <a:rPr sz="2800" b="1" i="0">
                <a:solidFill>
                  <a:srgbClr val="1B2F5B"/>
                </a:solidFill>
                <a:latin typeface="Calibri"/>
              </a:rPr>
              <a:t>6 checks</a:t>
            </a:r>
          </a:p>
        </p:txBody>
      </p:sp>
      <p:sp>
        <p:nvSpPr>
          <p:cNvPr id="11" name="TextBox 10"/>
          <p:cNvSpPr txBox="1"/>
          <p:nvPr/>
        </p:nvSpPr>
        <p:spPr>
          <a:xfrm>
            <a:off x="2542032" y="5349240"/>
            <a:ext cx="1920240" cy="548640"/>
          </a:xfrm>
          <a:prstGeom prst="rect">
            <a:avLst/>
          </a:prstGeom>
          <a:noFill/>
        </p:spPr>
        <p:txBody>
          <a:bodyPr wrap="square" anchor="t" lIns="36576" rIns="36576">
            <a:spAutoFit/>
          </a:bodyPr>
          <a:lstStyle/>
          <a:p>
            <a:pPr algn="ctr">
              <a:spcAft>
                <a:spcPts val="400"/>
              </a:spcAft>
            </a:pPr>
            <a:r>
              <a:rPr sz="1300" b="0" i="0">
                <a:solidFill>
                  <a:srgbClr val="4A5263"/>
                </a:solidFill>
                <a:latin typeface="Calibri"/>
              </a:rPr>
              <a:t>before any code runs</a:t>
            </a:r>
          </a:p>
        </p:txBody>
      </p:sp>
      <p:sp>
        <p:nvSpPr>
          <p:cNvPr id="12" name="Rounded Rectangle 11"/>
          <p:cNvSpPr/>
          <p:nvPr/>
        </p:nvSpPr>
        <p:spPr>
          <a:xfrm>
            <a:off x="4626864" y="4434840"/>
            <a:ext cx="1920240" cy="1691640"/>
          </a:xfrm>
          <a:prstGeom prst="roundRect">
            <a:avLst>
              <a:gd name="adj" fmla="val 8000"/>
            </a:avLst>
          </a:prstGeom>
          <a:solidFill>
            <a:srgbClr val="E6F4EC"/>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26864" y="4617720"/>
            <a:ext cx="1920240" cy="731520"/>
          </a:xfrm>
          <a:prstGeom prst="rect">
            <a:avLst/>
          </a:prstGeom>
          <a:noFill/>
        </p:spPr>
        <p:txBody>
          <a:bodyPr wrap="square" anchor="t" lIns="36576" rIns="36576">
            <a:spAutoFit/>
          </a:bodyPr>
          <a:lstStyle/>
          <a:p>
            <a:pPr algn="ctr">
              <a:spcAft>
                <a:spcPts val="400"/>
              </a:spcAft>
            </a:pPr>
            <a:r>
              <a:rPr sz="2800" b="1" i="0">
                <a:solidFill>
                  <a:srgbClr val="1E7D46"/>
                </a:solidFill>
                <a:latin typeface="Calibri"/>
              </a:rPr>
              <a:t>8 → 1</a:t>
            </a:r>
          </a:p>
        </p:txBody>
      </p:sp>
      <p:sp>
        <p:nvSpPr>
          <p:cNvPr id="14" name="TextBox 13"/>
          <p:cNvSpPr txBox="1"/>
          <p:nvPr/>
        </p:nvSpPr>
        <p:spPr>
          <a:xfrm>
            <a:off x="4626864" y="5349240"/>
            <a:ext cx="1920240" cy="548640"/>
          </a:xfrm>
          <a:prstGeom prst="rect">
            <a:avLst/>
          </a:prstGeom>
          <a:noFill/>
        </p:spPr>
        <p:txBody>
          <a:bodyPr wrap="square" anchor="t" lIns="36576" rIns="36576">
            <a:spAutoFit/>
          </a:bodyPr>
          <a:lstStyle/>
          <a:p>
            <a:pPr algn="ctr">
              <a:spcAft>
                <a:spcPts val="400"/>
              </a:spcAft>
            </a:pPr>
            <a:r>
              <a:rPr sz="1300" b="0" i="0">
                <a:solidFill>
                  <a:srgbClr val="4A5263"/>
                </a:solidFill>
                <a:latin typeface="Calibri"/>
              </a:rPr>
              <a:t>CI secrets exposed</a:t>
            </a:r>
          </a:p>
        </p:txBody>
      </p:sp>
      <p:sp>
        <p:nvSpPr>
          <p:cNvPr id="15" name="Rounded Rectangle 14"/>
          <p:cNvSpPr/>
          <p:nvPr/>
        </p:nvSpPr>
        <p:spPr>
          <a:xfrm>
            <a:off x="6711696" y="4434840"/>
            <a:ext cx="1920240" cy="1691640"/>
          </a:xfrm>
          <a:prstGeom prst="roundRect">
            <a:avLst>
              <a:gd name="adj" fmla="val 8000"/>
            </a:avLst>
          </a:prstGeom>
          <a:solidFill>
            <a:srgbClr val="EEF1FB"/>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711696" y="4617720"/>
            <a:ext cx="1920240" cy="731520"/>
          </a:xfrm>
          <a:prstGeom prst="rect">
            <a:avLst/>
          </a:prstGeom>
          <a:noFill/>
        </p:spPr>
        <p:txBody>
          <a:bodyPr wrap="square" anchor="t" lIns="36576" rIns="36576">
            <a:spAutoFit/>
          </a:bodyPr>
          <a:lstStyle/>
          <a:p>
            <a:pPr algn="ctr">
              <a:spcAft>
                <a:spcPts val="400"/>
              </a:spcAft>
            </a:pPr>
            <a:r>
              <a:rPr sz="2800" b="1" i="0">
                <a:solidFill>
                  <a:srgbClr val="1B2F5B"/>
                </a:solidFill>
                <a:latin typeface="Calibri"/>
              </a:rPr>
              <a:t>0.56 ms</a:t>
            </a:r>
          </a:p>
        </p:txBody>
      </p:sp>
      <p:sp>
        <p:nvSpPr>
          <p:cNvPr id="17" name="TextBox 16"/>
          <p:cNvSpPr txBox="1"/>
          <p:nvPr/>
        </p:nvSpPr>
        <p:spPr>
          <a:xfrm>
            <a:off x="6711696" y="5349240"/>
            <a:ext cx="1920240" cy="548640"/>
          </a:xfrm>
          <a:prstGeom prst="rect">
            <a:avLst/>
          </a:prstGeom>
          <a:noFill/>
        </p:spPr>
        <p:txBody>
          <a:bodyPr wrap="square" anchor="t" lIns="36576" rIns="36576">
            <a:spAutoFit/>
          </a:bodyPr>
          <a:lstStyle/>
          <a:p>
            <a:pPr algn="ctr">
              <a:spcAft>
                <a:spcPts val="400"/>
              </a:spcAft>
            </a:pPr>
            <a:r>
              <a:rPr sz="1300" b="0" i="0">
                <a:solidFill>
                  <a:srgbClr val="4A5263"/>
                </a:solidFill>
                <a:latin typeface="Calibri"/>
              </a:rPr>
              <a:t>verification cost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11480" y="713232"/>
            <a:ext cx="8321040" cy="566928"/>
          </a:xfrm>
          <a:prstGeom prst="rect">
            <a:avLst/>
          </a:prstGeom>
          <a:noFill/>
        </p:spPr>
        <p:txBody>
          <a:bodyPr wrap="square" lIns="0" rIns="0" anchor="ctr">
            <a:spAutoFit/>
          </a:bodyPr>
          <a:lstStyle/>
          <a:p>
            <a:r>
              <a:rPr sz="2800" b="1" i="0">
                <a:solidFill>
                  <a:srgbClr val="1B2F5B"/>
                </a:solidFill>
                <a:latin typeface="Times New Roman"/>
              </a:rPr>
              <a:t>Introduction: The Codecov Incident</a:t>
            </a:r>
          </a:p>
        </p:txBody>
      </p:sp>
      <p:sp>
        <p:nvSpPr>
          <p:cNvPr id="5" name="Rounded Rectangle 4"/>
          <p:cNvSpPr/>
          <p:nvPr/>
        </p:nvSpPr>
        <p:spPr>
          <a:xfrm>
            <a:off x="457200" y="1417320"/>
            <a:ext cx="2651760" cy="868680"/>
          </a:xfrm>
          <a:prstGeom prst="roundRect">
            <a:avLst>
              <a:gd name="adj" fmla="val 8000"/>
            </a:avLst>
          </a:prstGeom>
          <a:solidFill>
            <a:srgbClr val="EEF1FB"/>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1463040"/>
            <a:ext cx="2468880" cy="822960"/>
          </a:xfrm>
          <a:prstGeom prst="rect">
            <a:avLst/>
          </a:prstGeom>
          <a:noFill/>
        </p:spPr>
        <p:txBody>
          <a:bodyPr wrap="square" anchor="t" lIns="36576" rIns="36576">
            <a:spAutoFit/>
          </a:bodyPr>
          <a:lstStyle/>
          <a:p>
            <a:pPr algn="l">
              <a:spcAft>
                <a:spcPts val="100"/>
              </a:spcAft>
            </a:pPr>
            <a:r>
              <a:rPr sz="1250" b="1" i="0">
                <a:solidFill>
                  <a:srgbClr val="1D2433"/>
                </a:solidFill>
                <a:latin typeface="Calibri"/>
              </a:rPr>
              <a:t>Organisation</a:t>
            </a:r>
          </a:p>
          <a:p>
            <a:pPr algn="l">
              <a:spcAft>
                <a:spcPts val="100"/>
              </a:spcAft>
            </a:pPr>
            <a:r>
              <a:rPr sz="1250" b="0" i="0">
                <a:solidFill>
                  <a:srgbClr val="1D2433"/>
                </a:solidFill>
                <a:latin typeface="Calibri"/>
              </a:rPr>
              <a:t>Codecov: SaaS code-coverage tool, 29,000+ customers</a:t>
            </a:r>
          </a:p>
        </p:txBody>
      </p:sp>
      <p:sp>
        <p:nvSpPr>
          <p:cNvPr id="7" name="Rounded Rectangle 6"/>
          <p:cNvSpPr/>
          <p:nvPr/>
        </p:nvSpPr>
        <p:spPr>
          <a:xfrm>
            <a:off x="3246120" y="1417320"/>
            <a:ext cx="2651760" cy="868680"/>
          </a:xfrm>
          <a:prstGeom prst="roundRect">
            <a:avLst>
              <a:gd name="adj" fmla="val 8000"/>
            </a:avLst>
          </a:prstGeom>
          <a:solidFill>
            <a:srgbClr val="EEF1FB"/>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7560" y="1463040"/>
            <a:ext cx="2468880" cy="822960"/>
          </a:xfrm>
          <a:prstGeom prst="rect">
            <a:avLst/>
          </a:prstGeom>
          <a:noFill/>
        </p:spPr>
        <p:txBody>
          <a:bodyPr wrap="square" anchor="t" lIns="36576" rIns="36576">
            <a:spAutoFit/>
          </a:bodyPr>
          <a:lstStyle/>
          <a:p>
            <a:pPr algn="l">
              <a:spcAft>
                <a:spcPts val="100"/>
              </a:spcAft>
            </a:pPr>
            <a:r>
              <a:rPr sz="1250" b="1" i="0">
                <a:solidFill>
                  <a:srgbClr val="1D2433"/>
                </a:solidFill>
                <a:latin typeface="Calibri"/>
              </a:rPr>
              <a:t>Sector</a:t>
            </a:r>
          </a:p>
          <a:p>
            <a:pPr algn="l">
              <a:spcAft>
                <a:spcPts val="100"/>
              </a:spcAft>
            </a:pPr>
            <a:r>
              <a:rPr sz="1250" b="0" i="0">
                <a:solidFill>
                  <a:srgbClr val="1D2433"/>
                </a:solidFill>
                <a:latin typeface="Calibri"/>
              </a:rPr>
              <a:t>DevOps / CI-CD, software supply chain</a:t>
            </a:r>
          </a:p>
        </p:txBody>
      </p:sp>
      <p:sp>
        <p:nvSpPr>
          <p:cNvPr id="9" name="Rounded Rectangle 8"/>
          <p:cNvSpPr/>
          <p:nvPr/>
        </p:nvSpPr>
        <p:spPr>
          <a:xfrm>
            <a:off x="6035040" y="1417320"/>
            <a:ext cx="2651760" cy="868680"/>
          </a:xfrm>
          <a:prstGeom prst="roundRect">
            <a:avLst>
              <a:gd name="adj" fmla="val 8000"/>
            </a:avLst>
          </a:prstGeom>
          <a:solidFill>
            <a:srgbClr val="EEF1FB"/>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126479" y="1463040"/>
            <a:ext cx="2468880" cy="822960"/>
          </a:xfrm>
          <a:prstGeom prst="rect">
            <a:avLst/>
          </a:prstGeom>
          <a:noFill/>
        </p:spPr>
        <p:txBody>
          <a:bodyPr wrap="square" anchor="t" lIns="36576" rIns="36576">
            <a:spAutoFit/>
          </a:bodyPr>
          <a:lstStyle/>
          <a:p>
            <a:pPr algn="l">
              <a:spcAft>
                <a:spcPts val="100"/>
              </a:spcAft>
            </a:pPr>
            <a:r>
              <a:rPr sz="1250" b="1" i="0">
                <a:solidFill>
                  <a:srgbClr val="1D2433"/>
                </a:solidFill>
                <a:latin typeface="Calibri"/>
              </a:rPr>
              <a:t>Date</a:t>
            </a:r>
          </a:p>
          <a:p>
            <a:pPr algn="l">
              <a:spcAft>
                <a:spcPts val="100"/>
              </a:spcAft>
            </a:pPr>
            <a:r>
              <a:rPr sz="1250" b="0" i="0">
                <a:solidFill>
                  <a:srgbClr val="1D2433"/>
                </a:solidFill>
                <a:latin typeface="Calibri"/>
              </a:rPr>
              <a:t>31 Jan to 1 Apr 2021 (disclosed 15 Apr)</a:t>
            </a:r>
          </a:p>
        </p:txBody>
      </p:sp>
      <p:sp>
        <p:nvSpPr>
          <p:cNvPr id="11" name="Rectangle 10"/>
          <p:cNvSpPr/>
          <p:nvPr/>
        </p:nvSpPr>
        <p:spPr>
          <a:xfrm>
            <a:off x="448056" y="2459736"/>
            <a:ext cx="8247888" cy="2673248"/>
          </a:xfrm>
          <a:prstGeom prst="rect">
            <a:avLst/>
          </a:prstGeom>
          <a:solidFill>
            <a:srgbClr val="FFFFFF"/>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timeline.png"/>
          <p:cNvPicPr>
            <a:picLocks noChangeAspect="1"/>
          </p:cNvPicPr>
          <p:nvPr/>
        </p:nvPicPr>
        <p:blipFill>
          <a:blip r:embed="rId3"/>
          <a:stretch>
            <a:fillRect/>
          </a:stretch>
        </p:blipFill>
        <p:spPr>
          <a:xfrm>
            <a:off x="502920" y="2514600"/>
            <a:ext cx="8138160" cy="2563520"/>
          </a:xfrm>
          <a:prstGeom prst="rect">
            <a:avLst/>
          </a:prstGeom>
        </p:spPr>
      </p:pic>
      <p:sp>
        <p:nvSpPr>
          <p:cNvPr id="13" name="TextBox 12"/>
          <p:cNvSpPr txBox="1"/>
          <p:nvPr/>
        </p:nvSpPr>
        <p:spPr>
          <a:xfrm>
            <a:off x="457200" y="5257800"/>
            <a:ext cx="2743200" cy="365760"/>
          </a:xfrm>
          <a:prstGeom prst="rect">
            <a:avLst/>
          </a:prstGeom>
          <a:noFill/>
        </p:spPr>
        <p:txBody>
          <a:bodyPr wrap="square" anchor="t" lIns="36576" rIns="36576">
            <a:spAutoFit/>
          </a:bodyPr>
          <a:lstStyle/>
          <a:p>
            <a:pPr algn="l">
              <a:spcAft>
                <a:spcPts val="400"/>
              </a:spcAft>
            </a:pPr>
            <a:r>
              <a:rPr sz="1400" b="1" i="0">
                <a:solidFill>
                  <a:srgbClr val="1D2433"/>
                </a:solidFill>
                <a:latin typeface="Calibri"/>
              </a:rPr>
              <a:t>Security requirements violated:</a:t>
            </a:r>
          </a:p>
        </p:txBody>
      </p:sp>
      <p:sp>
        <p:nvSpPr>
          <p:cNvPr id="14" name="Rounded Rectangle 13"/>
          <p:cNvSpPr/>
          <p:nvPr/>
        </p:nvSpPr>
        <p:spPr>
          <a:xfrm>
            <a:off x="457200" y="5669280"/>
            <a:ext cx="1938528" cy="457200"/>
          </a:xfrm>
          <a:prstGeom prst="roundRect">
            <a:avLst>
              <a:gd name="adj" fmla="val 8000"/>
            </a:avLst>
          </a:prstGeom>
          <a:solidFill>
            <a:srgbClr val="FDECEA"/>
          </a:solidFill>
          <a:ln w="15875">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7200" y="5669280"/>
            <a:ext cx="1938528" cy="457200"/>
          </a:xfrm>
          <a:prstGeom prst="rect">
            <a:avLst/>
          </a:prstGeom>
          <a:noFill/>
        </p:spPr>
        <p:txBody>
          <a:bodyPr wrap="square" anchor="ctr" lIns="36576" rIns="36576">
            <a:spAutoFit/>
          </a:bodyPr>
          <a:lstStyle/>
          <a:p>
            <a:pPr algn="ctr">
              <a:spcAft>
                <a:spcPts val="400"/>
              </a:spcAft>
            </a:pPr>
            <a:r>
              <a:rPr sz="1300" b="1" i="0">
                <a:solidFill>
                  <a:srgbClr val="B3261E"/>
                </a:solidFill>
                <a:latin typeface="Calibri"/>
              </a:rPr>
              <a:t>Integrity (primary)</a:t>
            </a:r>
          </a:p>
        </p:txBody>
      </p:sp>
      <p:sp>
        <p:nvSpPr>
          <p:cNvPr id="16" name="Rounded Rectangle 15"/>
          <p:cNvSpPr/>
          <p:nvPr/>
        </p:nvSpPr>
        <p:spPr>
          <a:xfrm>
            <a:off x="2542032" y="5669280"/>
            <a:ext cx="1938528" cy="457200"/>
          </a:xfrm>
          <a:prstGeom prst="roundRect">
            <a:avLst>
              <a:gd name="adj" fmla="val 8000"/>
            </a:avLst>
          </a:prstGeom>
          <a:solidFill>
            <a:srgbClr val="FDECEA"/>
          </a:solidFill>
          <a:ln w="15875">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542032" y="5669280"/>
            <a:ext cx="1938528" cy="457200"/>
          </a:xfrm>
          <a:prstGeom prst="rect">
            <a:avLst/>
          </a:prstGeom>
          <a:noFill/>
        </p:spPr>
        <p:txBody>
          <a:bodyPr wrap="square" anchor="ctr" lIns="36576" rIns="36576">
            <a:spAutoFit/>
          </a:bodyPr>
          <a:lstStyle/>
          <a:p>
            <a:pPr algn="ctr">
              <a:spcAft>
                <a:spcPts val="400"/>
              </a:spcAft>
            </a:pPr>
            <a:r>
              <a:rPr sz="1300" b="1" i="0">
                <a:solidFill>
                  <a:srgbClr val="B3261E"/>
                </a:solidFill>
                <a:latin typeface="Calibri"/>
              </a:rPr>
              <a:t>Authentication</a:t>
            </a:r>
          </a:p>
        </p:txBody>
      </p:sp>
      <p:sp>
        <p:nvSpPr>
          <p:cNvPr id="18" name="Rounded Rectangle 17"/>
          <p:cNvSpPr/>
          <p:nvPr/>
        </p:nvSpPr>
        <p:spPr>
          <a:xfrm>
            <a:off x="4626864" y="5669280"/>
            <a:ext cx="1938528" cy="457200"/>
          </a:xfrm>
          <a:prstGeom prst="roundRect">
            <a:avLst>
              <a:gd name="adj" fmla="val 8000"/>
            </a:avLst>
          </a:prstGeom>
          <a:solidFill>
            <a:srgbClr val="FDECEA"/>
          </a:solidFill>
          <a:ln w="15875">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626864" y="5669280"/>
            <a:ext cx="1938528" cy="457200"/>
          </a:xfrm>
          <a:prstGeom prst="rect">
            <a:avLst/>
          </a:prstGeom>
          <a:noFill/>
        </p:spPr>
        <p:txBody>
          <a:bodyPr wrap="square" anchor="ctr" lIns="36576" rIns="36576">
            <a:spAutoFit/>
          </a:bodyPr>
          <a:lstStyle/>
          <a:p>
            <a:pPr algn="ctr">
              <a:spcAft>
                <a:spcPts val="400"/>
              </a:spcAft>
            </a:pPr>
            <a:r>
              <a:rPr sz="1300" b="1" i="0">
                <a:solidFill>
                  <a:srgbClr val="B3261E"/>
                </a:solidFill>
                <a:latin typeface="Calibri"/>
              </a:rPr>
              <a:t>Confidentiality</a:t>
            </a:r>
          </a:p>
        </p:txBody>
      </p:sp>
      <p:sp>
        <p:nvSpPr>
          <p:cNvPr id="20" name="Rounded Rectangle 19"/>
          <p:cNvSpPr/>
          <p:nvPr/>
        </p:nvSpPr>
        <p:spPr>
          <a:xfrm>
            <a:off x="6711696" y="5669280"/>
            <a:ext cx="1938528" cy="457200"/>
          </a:xfrm>
          <a:prstGeom prst="roundRect">
            <a:avLst>
              <a:gd name="adj" fmla="val 8000"/>
            </a:avLst>
          </a:prstGeom>
          <a:solidFill>
            <a:srgbClr val="EEF1FB"/>
          </a:solidFill>
          <a:ln w="15875">
            <a:solidFill>
              <a:srgbClr val="1B2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711696" y="5669280"/>
            <a:ext cx="1938528" cy="457200"/>
          </a:xfrm>
          <a:prstGeom prst="rect">
            <a:avLst/>
          </a:prstGeom>
          <a:noFill/>
        </p:spPr>
        <p:txBody>
          <a:bodyPr wrap="square" anchor="ctr" lIns="36576" rIns="36576">
            <a:spAutoFit/>
          </a:bodyPr>
          <a:lstStyle/>
          <a:p>
            <a:pPr algn="ctr">
              <a:spcAft>
                <a:spcPts val="400"/>
              </a:spcAft>
            </a:pPr>
            <a:r>
              <a:rPr sz="1300" b="1" i="0">
                <a:solidFill>
                  <a:srgbClr val="1B2F5B"/>
                </a:solidFill>
                <a:latin typeface="Calibri"/>
              </a:rPr>
              <a:t>Key management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11480" y="713232"/>
            <a:ext cx="8321040" cy="566928"/>
          </a:xfrm>
          <a:prstGeom prst="rect">
            <a:avLst/>
          </a:prstGeom>
          <a:noFill/>
        </p:spPr>
        <p:txBody>
          <a:bodyPr wrap="square" lIns="0" rIns="0" anchor="ctr">
            <a:spAutoFit/>
          </a:bodyPr>
          <a:lstStyle/>
          <a:p>
            <a:r>
              <a:rPr sz="2800" b="1" i="0">
                <a:solidFill>
                  <a:srgbClr val="1B2F5B"/>
                </a:solidFill>
                <a:latin typeface="Times New Roman"/>
              </a:rPr>
              <a:t>Problem Statement</a:t>
            </a:r>
          </a:p>
        </p:txBody>
      </p:sp>
      <p:sp>
        <p:nvSpPr>
          <p:cNvPr id="5" name="Rounded Rectangle 4"/>
          <p:cNvSpPr/>
          <p:nvPr/>
        </p:nvSpPr>
        <p:spPr>
          <a:xfrm>
            <a:off x="457200" y="1371600"/>
            <a:ext cx="8229600" cy="713232"/>
          </a:xfrm>
          <a:prstGeom prst="roundRect">
            <a:avLst>
              <a:gd name="adj" fmla="val 8000"/>
            </a:avLst>
          </a:prstGeom>
          <a:solidFill>
            <a:srgbClr val="FDECEA"/>
          </a:solidFill>
          <a:ln w="15875">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94360" y="1371600"/>
            <a:ext cx="7955279" cy="713232"/>
          </a:xfrm>
          <a:prstGeom prst="rect">
            <a:avLst/>
          </a:prstGeom>
          <a:noFill/>
        </p:spPr>
        <p:txBody>
          <a:bodyPr wrap="square" anchor="ctr" lIns="36576" rIns="36576">
            <a:spAutoFit/>
          </a:bodyPr>
          <a:lstStyle/>
          <a:p>
            <a:pPr algn="l">
              <a:spcAft>
                <a:spcPts val="400"/>
              </a:spcAft>
            </a:pPr>
            <a:r>
              <a:rPr sz="1400" b="1" i="0">
                <a:solidFill>
                  <a:srgbClr val="B3261E"/>
                </a:solidFill>
                <a:latin typeface="Calibri"/>
              </a:rPr>
              <a:t>CI/CD pipelines download and execute third-party tools with full access to secrets, but have no enforced way to verify the tool is authentic and unmodified before running it.</a:t>
            </a:r>
          </a:p>
        </p:txBody>
      </p:sp>
      <p:sp>
        <p:nvSpPr>
          <p:cNvPr id="7" name="Rectangle 6"/>
          <p:cNvSpPr/>
          <p:nvPr/>
        </p:nvSpPr>
        <p:spPr>
          <a:xfrm>
            <a:off x="448056" y="2231136"/>
            <a:ext cx="8247888" cy="2524048"/>
          </a:xfrm>
          <a:prstGeom prst="rect">
            <a:avLst/>
          </a:prstGeom>
          <a:solidFill>
            <a:srgbClr val="FFFFFF"/>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attack.png"/>
          <p:cNvPicPr>
            <a:picLocks noChangeAspect="1"/>
          </p:cNvPicPr>
          <p:nvPr/>
        </p:nvPicPr>
        <p:blipFill>
          <a:blip r:embed="rId3"/>
          <a:stretch>
            <a:fillRect/>
          </a:stretch>
        </p:blipFill>
        <p:spPr>
          <a:xfrm>
            <a:off x="502920" y="2286000"/>
            <a:ext cx="8138160" cy="2414320"/>
          </a:xfrm>
          <a:prstGeom prst="rect">
            <a:avLst/>
          </a:prstGeom>
        </p:spPr>
      </p:pic>
      <p:sp>
        <p:nvSpPr>
          <p:cNvPr id="9" name="Rounded Rectangle 8"/>
          <p:cNvSpPr/>
          <p:nvPr/>
        </p:nvSpPr>
        <p:spPr>
          <a:xfrm>
            <a:off x="457200" y="4892040"/>
            <a:ext cx="2651760" cy="548640"/>
          </a:xfrm>
          <a:prstGeom prst="roundRect">
            <a:avLst>
              <a:gd name="adj" fmla="val 8000"/>
            </a:avLst>
          </a:prstGeom>
          <a:solidFill>
            <a:srgbClr val="FFFFFF"/>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0352" y="4892040"/>
            <a:ext cx="2542032" cy="548640"/>
          </a:xfrm>
          <a:prstGeom prst="rect">
            <a:avLst/>
          </a:prstGeom>
          <a:noFill/>
        </p:spPr>
        <p:txBody>
          <a:bodyPr wrap="square" anchor="ctr" lIns="36576" rIns="36576">
            <a:spAutoFit/>
          </a:bodyPr>
          <a:lstStyle/>
          <a:p>
            <a:pPr algn="l">
              <a:spcAft>
                <a:spcPts val="400"/>
              </a:spcAft>
            </a:pPr>
            <a:r>
              <a:rPr sz="1200" b="1" i="0">
                <a:solidFill>
                  <a:srgbClr val="1D2433"/>
                </a:solidFill>
                <a:latin typeface="Calibri"/>
              </a:rPr>
              <a:t>V1</a:t>
            </a:r>
            <a:r>
              <a:rPr sz="1200" b="0" i="0">
                <a:solidFill>
                  <a:srgbClr val="1D2433"/>
                </a:solidFill>
                <a:latin typeface="Calibri"/>
              </a:rPr>
              <a:t>  Secret left in public Docker image layer</a:t>
            </a:r>
          </a:p>
        </p:txBody>
      </p:sp>
      <p:sp>
        <p:nvSpPr>
          <p:cNvPr id="11" name="Rounded Rectangle 10"/>
          <p:cNvSpPr/>
          <p:nvPr/>
        </p:nvSpPr>
        <p:spPr>
          <a:xfrm>
            <a:off x="3246120" y="4892040"/>
            <a:ext cx="2651760" cy="548640"/>
          </a:xfrm>
          <a:prstGeom prst="roundRect">
            <a:avLst>
              <a:gd name="adj" fmla="val 8000"/>
            </a:avLst>
          </a:prstGeom>
          <a:solidFill>
            <a:srgbClr val="FFFFFF"/>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319272" y="4892040"/>
            <a:ext cx="2542032" cy="548640"/>
          </a:xfrm>
          <a:prstGeom prst="rect">
            <a:avLst/>
          </a:prstGeom>
          <a:noFill/>
        </p:spPr>
        <p:txBody>
          <a:bodyPr wrap="square" anchor="ctr" lIns="36576" rIns="36576">
            <a:spAutoFit/>
          </a:bodyPr>
          <a:lstStyle/>
          <a:p>
            <a:pPr algn="l">
              <a:spcAft>
                <a:spcPts val="400"/>
              </a:spcAft>
            </a:pPr>
            <a:r>
              <a:rPr sz="1200" b="1" i="0">
                <a:solidFill>
                  <a:srgbClr val="1D2433"/>
                </a:solidFill>
                <a:latin typeface="Calibri"/>
              </a:rPr>
              <a:t>V2</a:t>
            </a:r>
            <a:r>
              <a:rPr sz="1200" b="0" i="0">
                <a:solidFill>
                  <a:srgbClr val="1D2433"/>
                </a:solidFill>
                <a:latin typeface="Calibri"/>
              </a:rPr>
              <a:t>  Static, over-privileged storage HMAC key</a:t>
            </a:r>
          </a:p>
        </p:txBody>
      </p:sp>
      <p:sp>
        <p:nvSpPr>
          <p:cNvPr id="13" name="Rounded Rectangle 12"/>
          <p:cNvSpPr/>
          <p:nvPr/>
        </p:nvSpPr>
        <p:spPr>
          <a:xfrm>
            <a:off x="6035040" y="4892040"/>
            <a:ext cx="2651760" cy="548640"/>
          </a:xfrm>
          <a:prstGeom prst="roundRect">
            <a:avLst>
              <a:gd name="adj" fmla="val 8000"/>
            </a:avLst>
          </a:prstGeom>
          <a:solidFill>
            <a:srgbClr val="FFFFFF"/>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108192" y="4892040"/>
            <a:ext cx="2542032" cy="548640"/>
          </a:xfrm>
          <a:prstGeom prst="rect">
            <a:avLst/>
          </a:prstGeom>
          <a:noFill/>
        </p:spPr>
        <p:txBody>
          <a:bodyPr wrap="square" anchor="ctr" lIns="36576" rIns="36576">
            <a:spAutoFit/>
          </a:bodyPr>
          <a:lstStyle/>
          <a:p>
            <a:pPr algn="l">
              <a:spcAft>
                <a:spcPts val="400"/>
              </a:spcAft>
            </a:pPr>
            <a:r>
              <a:rPr sz="1200" b="1" i="0">
                <a:solidFill>
                  <a:srgbClr val="1D2433"/>
                </a:solidFill>
                <a:latin typeface="Calibri"/>
              </a:rPr>
              <a:t>V3</a:t>
            </a:r>
            <a:r>
              <a:rPr sz="1200" b="0" i="0">
                <a:solidFill>
                  <a:srgbClr val="1D2433"/>
                </a:solidFill>
                <a:latin typeface="Calibri"/>
              </a:rPr>
              <a:t>  Uploader not signed; SHA-256 not enforced</a:t>
            </a:r>
          </a:p>
        </p:txBody>
      </p:sp>
      <p:sp>
        <p:nvSpPr>
          <p:cNvPr id="15" name="Rounded Rectangle 14"/>
          <p:cNvSpPr/>
          <p:nvPr/>
        </p:nvSpPr>
        <p:spPr>
          <a:xfrm>
            <a:off x="457200" y="5550407"/>
            <a:ext cx="2651760" cy="548640"/>
          </a:xfrm>
          <a:prstGeom prst="roundRect">
            <a:avLst>
              <a:gd name="adj" fmla="val 8000"/>
            </a:avLst>
          </a:prstGeom>
          <a:solidFill>
            <a:srgbClr val="FFFFFF"/>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30352" y="5550407"/>
            <a:ext cx="2542032" cy="548640"/>
          </a:xfrm>
          <a:prstGeom prst="rect">
            <a:avLst/>
          </a:prstGeom>
          <a:noFill/>
        </p:spPr>
        <p:txBody>
          <a:bodyPr wrap="square" anchor="ctr" lIns="36576" rIns="36576">
            <a:spAutoFit/>
          </a:bodyPr>
          <a:lstStyle/>
          <a:p>
            <a:pPr algn="l">
              <a:spcAft>
                <a:spcPts val="400"/>
              </a:spcAft>
            </a:pPr>
            <a:r>
              <a:rPr sz="1200" b="1" i="0">
                <a:solidFill>
                  <a:srgbClr val="1D2433"/>
                </a:solidFill>
                <a:latin typeface="Calibri"/>
              </a:rPr>
              <a:t>V4</a:t>
            </a:r>
            <a:r>
              <a:rPr sz="1200" b="0" i="0">
                <a:solidFill>
                  <a:srgbClr val="1D2433"/>
                </a:solidFill>
                <a:latin typeface="Calibri"/>
              </a:rPr>
              <a:t>  'curl | bash' runs whatever is served</a:t>
            </a:r>
          </a:p>
        </p:txBody>
      </p:sp>
      <p:sp>
        <p:nvSpPr>
          <p:cNvPr id="17" name="Rounded Rectangle 16"/>
          <p:cNvSpPr/>
          <p:nvPr/>
        </p:nvSpPr>
        <p:spPr>
          <a:xfrm>
            <a:off x="3246120" y="5550407"/>
            <a:ext cx="2651760" cy="548640"/>
          </a:xfrm>
          <a:prstGeom prst="roundRect">
            <a:avLst>
              <a:gd name="adj" fmla="val 8000"/>
            </a:avLst>
          </a:prstGeom>
          <a:solidFill>
            <a:srgbClr val="FFFFFF"/>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319272" y="5550407"/>
            <a:ext cx="2542032" cy="548640"/>
          </a:xfrm>
          <a:prstGeom prst="rect">
            <a:avLst/>
          </a:prstGeom>
          <a:noFill/>
        </p:spPr>
        <p:txBody>
          <a:bodyPr wrap="square" anchor="ctr" lIns="36576" rIns="36576">
            <a:spAutoFit/>
          </a:bodyPr>
          <a:lstStyle/>
          <a:p>
            <a:pPr algn="l">
              <a:spcAft>
                <a:spcPts val="400"/>
              </a:spcAft>
            </a:pPr>
            <a:r>
              <a:rPr sz="1200" b="1" i="0">
                <a:solidFill>
                  <a:srgbClr val="1D2433"/>
                </a:solidFill>
                <a:latin typeface="Calibri"/>
              </a:rPr>
              <a:t>V5</a:t>
            </a:r>
            <a:r>
              <a:rPr sz="1200" b="0" i="0">
                <a:solidFill>
                  <a:srgbClr val="1D2433"/>
                </a:solidFill>
                <a:latin typeface="Calibri"/>
              </a:rPr>
              <a:t>  Every CI step can read every secret</a:t>
            </a:r>
          </a:p>
        </p:txBody>
      </p:sp>
      <p:sp>
        <p:nvSpPr>
          <p:cNvPr id="19" name="Rounded Rectangle 18"/>
          <p:cNvSpPr/>
          <p:nvPr/>
        </p:nvSpPr>
        <p:spPr>
          <a:xfrm>
            <a:off x="6035040" y="5550407"/>
            <a:ext cx="2651760" cy="548640"/>
          </a:xfrm>
          <a:prstGeom prst="roundRect">
            <a:avLst>
              <a:gd name="adj" fmla="val 8000"/>
            </a:avLst>
          </a:prstGeom>
          <a:solidFill>
            <a:srgbClr val="FFFFFF"/>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108192" y="5550407"/>
            <a:ext cx="2542032" cy="548640"/>
          </a:xfrm>
          <a:prstGeom prst="rect">
            <a:avLst/>
          </a:prstGeom>
          <a:noFill/>
        </p:spPr>
        <p:txBody>
          <a:bodyPr wrap="square" anchor="ctr" lIns="36576" rIns="36576">
            <a:spAutoFit/>
          </a:bodyPr>
          <a:lstStyle/>
          <a:p>
            <a:pPr algn="l">
              <a:spcAft>
                <a:spcPts val="400"/>
              </a:spcAft>
            </a:pPr>
            <a:r>
              <a:rPr sz="1200" b="1" i="0">
                <a:solidFill>
                  <a:srgbClr val="1D2433"/>
                </a:solidFill>
                <a:latin typeface="Calibri"/>
              </a:rPr>
              <a:t>V6</a:t>
            </a:r>
            <a:r>
              <a:rPr sz="1200" b="0" i="0">
                <a:solidFill>
                  <a:srgbClr val="1D2433"/>
                </a:solidFill>
                <a:latin typeface="Calibri"/>
              </a:rPr>
              <a:t>  No monitoring → ~2 months dwell time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11480" y="713232"/>
            <a:ext cx="8321040" cy="566928"/>
          </a:xfrm>
          <a:prstGeom prst="rect">
            <a:avLst/>
          </a:prstGeom>
          <a:noFill/>
        </p:spPr>
        <p:txBody>
          <a:bodyPr wrap="square" lIns="0" rIns="0" anchor="ctr">
            <a:spAutoFit/>
          </a:bodyPr>
          <a:lstStyle/>
          <a:p>
            <a:r>
              <a:rPr sz="2800" b="1" i="0">
                <a:solidFill>
                  <a:srgbClr val="1B2F5B"/>
                </a:solidFill>
                <a:latin typeface="Times New Roman"/>
              </a:rPr>
              <a:t>Objectives</a:t>
            </a:r>
          </a:p>
        </p:txBody>
      </p:sp>
      <p:sp>
        <p:nvSpPr>
          <p:cNvPr id="5" name="Rounded Rectangle 4"/>
          <p:cNvSpPr/>
          <p:nvPr/>
        </p:nvSpPr>
        <p:spPr>
          <a:xfrm>
            <a:off x="457200" y="1508760"/>
            <a:ext cx="2651760" cy="2148840"/>
          </a:xfrm>
          <a:prstGeom prst="roundRect">
            <a:avLst>
              <a:gd name="adj" fmla="val 8000"/>
            </a:avLst>
          </a:prstGeom>
          <a:solidFill>
            <a:srgbClr val="FFFFFF"/>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640080" y="1709928"/>
            <a:ext cx="502920" cy="502920"/>
          </a:xfrm>
          <a:prstGeom prst="ellipse">
            <a:avLst/>
          </a:prstGeom>
          <a:solidFill>
            <a:srgbClr val="1B2F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O1</a:t>
            </a:r>
          </a:p>
        </p:txBody>
      </p:sp>
      <p:sp>
        <p:nvSpPr>
          <p:cNvPr id="7" name="TextBox 6"/>
          <p:cNvSpPr txBox="1"/>
          <p:nvPr/>
        </p:nvSpPr>
        <p:spPr>
          <a:xfrm>
            <a:off x="640080" y="2331720"/>
            <a:ext cx="2331720" cy="411480"/>
          </a:xfrm>
          <a:prstGeom prst="rect">
            <a:avLst/>
          </a:prstGeom>
          <a:noFill/>
        </p:spPr>
        <p:txBody>
          <a:bodyPr wrap="square" anchor="t" lIns="36576" rIns="36576">
            <a:spAutoFit/>
          </a:bodyPr>
          <a:lstStyle/>
          <a:p>
            <a:pPr algn="l">
              <a:spcAft>
                <a:spcPts val="400"/>
              </a:spcAft>
            </a:pPr>
            <a:r>
              <a:rPr sz="1700" b="1" i="0">
                <a:solidFill>
                  <a:srgbClr val="1B2F5B"/>
                </a:solidFill>
                <a:latin typeface="Calibri"/>
              </a:rPr>
              <a:t>Integrity</a:t>
            </a:r>
          </a:p>
        </p:txBody>
      </p:sp>
      <p:sp>
        <p:nvSpPr>
          <p:cNvPr id="8" name="TextBox 7"/>
          <p:cNvSpPr txBox="1"/>
          <p:nvPr/>
        </p:nvSpPr>
        <p:spPr>
          <a:xfrm>
            <a:off x="640080" y="2743200"/>
            <a:ext cx="2331720" cy="914400"/>
          </a:xfrm>
          <a:prstGeom prst="rect">
            <a:avLst/>
          </a:prstGeom>
          <a:noFill/>
        </p:spPr>
        <p:txBody>
          <a:bodyPr wrap="square" anchor="t" lIns="36576" rIns="36576">
            <a:spAutoFit/>
          </a:bodyPr>
          <a:lstStyle/>
          <a:p>
            <a:pPr algn="l">
              <a:spcAft>
                <a:spcPts val="400"/>
              </a:spcAft>
            </a:pPr>
            <a:r>
              <a:rPr sz="1300" b="0" i="0">
                <a:solidFill>
                  <a:srgbClr val="1D2433"/>
                </a:solidFill>
                <a:latin typeface="Calibri"/>
              </a:rPr>
              <a:t>Detect any modification of the uploader before it executes</a:t>
            </a:r>
          </a:p>
        </p:txBody>
      </p:sp>
      <p:sp>
        <p:nvSpPr>
          <p:cNvPr id="9" name="Rounded Rectangle 8"/>
          <p:cNvSpPr/>
          <p:nvPr/>
        </p:nvSpPr>
        <p:spPr>
          <a:xfrm>
            <a:off x="3246120" y="1508760"/>
            <a:ext cx="2651760" cy="2148840"/>
          </a:xfrm>
          <a:prstGeom prst="roundRect">
            <a:avLst>
              <a:gd name="adj" fmla="val 8000"/>
            </a:avLst>
          </a:prstGeom>
          <a:solidFill>
            <a:srgbClr val="FFFFFF"/>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3429000" y="1709928"/>
            <a:ext cx="502920" cy="502920"/>
          </a:xfrm>
          <a:prstGeom prst="ellipse">
            <a:avLst/>
          </a:prstGeom>
          <a:solidFill>
            <a:srgbClr val="1B2F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O2</a:t>
            </a:r>
          </a:p>
        </p:txBody>
      </p:sp>
      <p:sp>
        <p:nvSpPr>
          <p:cNvPr id="11" name="TextBox 10"/>
          <p:cNvSpPr txBox="1"/>
          <p:nvPr/>
        </p:nvSpPr>
        <p:spPr>
          <a:xfrm>
            <a:off x="3429000" y="2331720"/>
            <a:ext cx="2331720" cy="411480"/>
          </a:xfrm>
          <a:prstGeom prst="rect">
            <a:avLst/>
          </a:prstGeom>
          <a:noFill/>
        </p:spPr>
        <p:txBody>
          <a:bodyPr wrap="square" anchor="t" lIns="36576" rIns="36576">
            <a:spAutoFit/>
          </a:bodyPr>
          <a:lstStyle/>
          <a:p>
            <a:pPr algn="l">
              <a:spcAft>
                <a:spcPts val="400"/>
              </a:spcAft>
            </a:pPr>
            <a:r>
              <a:rPr sz="1700" b="1" i="0">
                <a:solidFill>
                  <a:srgbClr val="1B2F5B"/>
                </a:solidFill>
                <a:latin typeface="Calibri"/>
              </a:rPr>
              <a:t>Authenticity</a:t>
            </a:r>
          </a:p>
        </p:txBody>
      </p:sp>
      <p:sp>
        <p:nvSpPr>
          <p:cNvPr id="12" name="TextBox 11"/>
          <p:cNvSpPr txBox="1"/>
          <p:nvPr/>
        </p:nvSpPr>
        <p:spPr>
          <a:xfrm>
            <a:off x="3429000" y="2743200"/>
            <a:ext cx="2331720" cy="914400"/>
          </a:xfrm>
          <a:prstGeom prst="rect">
            <a:avLst/>
          </a:prstGeom>
          <a:noFill/>
        </p:spPr>
        <p:txBody>
          <a:bodyPr wrap="square" anchor="t" lIns="36576" rIns="36576">
            <a:spAutoFit/>
          </a:bodyPr>
          <a:lstStyle/>
          <a:p>
            <a:pPr algn="l">
              <a:spcAft>
                <a:spcPts val="400"/>
              </a:spcAft>
            </a:pPr>
            <a:r>
              <a:rPr sz="1300" b="0" i="0">
                <a:solidFill>
                  <a:srgbClr val="1D2433"/>
                </a:solidFill>
                <a:latin typeface="Calibri"/>
              </a:rPr>
              <a:t>Accept only software signed by the genuine publisher key, even if the bucket and hash are attacker-controlled</a:t>
            </a:r>
          </a:p>
        </p:txBody>
      </p:sp>
      <p:sp>
        <p:nvSpPr>
          <p:cNvPr id="13" name="Rounded Rectangle 12"/>
          <p:cNvSpPr/>
          <p:nvPr/>
        </p:nvSpPr>
        <p:spPr>
          <a:xfrm>
            <a:off x="6035040" y="1508760"/>
            <a:ext cx="2651760" cy="2148840"/>
          </a:xfrm>
          <a:prstGeom prst="roundRect">
            <a:avLst>
              <a:gd name="adj" fmla="val 8000"/>
            </a:avLst>
          </a:prstGeom>
          <a:solidFill>
            <a:srgbClr val="FFFFFF"/>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217920" y="1709928"/>
            <a:ext cx="502920" cy="502920"/>
          </a:xfrm>
          <a:prstGeom prst="ellipse">
            <a:avLst/>
          </a:prstGeom>
          <a:solidFill>
            <a:srgbClr val="1B2F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O3</a:t>
            </a:r>
          </a:p>
        </p:txBody>
      </p:sp>
      <p:sp>
        <p:nvSpPr>
          <p:cNvPr id="15" name="TextBox 14"/>
          <p:cNvSpPr txBox="1"/>
          <p:nvPr/>
        </p:nvSpPr>
        <p:spPr>
          <a:xfrm>
            <a:off x="6217920" y="2331720"/>
            <a:ext cx="2331720" cy="411480"/>
          </a:xfrm>
          <a:prstGeom prst="rect">
            <a:avLst/>
          </a:prstGeom>
          <a:noFill/>
        </p:spPr>
        <p:txBody>
          <a:bodyPr wrap="square" anchor="t" lIns="36576" rIns="36576">
            <a:spAutoFit/>
          </a:bodyPr>
          <a:lstStyle/>
          <a:p>
            <a:pPr algn="l">
              <a:spcAft>
                <a:spcPts val="400"/>
              </a:spcAft>
            </a:pPr>
            <a:r>
              <a:rPr sz="1700" b="1" i="0">
                <a:solidFill>
                  <a:srgbClr val="1B2F5B"/>
                </a:solidFill>
                <a:latin typeface="Calibri"/>
              </a:rPr>
              <a:t>Key management</a:t>
            </a:r>
          </a:p>
        </p:txBody>
      </p:sp>
      <p:sp>
        <p:nvSpPr>
          <p:cNvPr id="16" name="TextBox 15"/>
          <p:cNvSpPr txBox="1"/>
          <p:nvPr/>
        </p:nvSpPr>
        <p:spPr>
          <a:xfrm>
            <a:off x="6217920" y="2743200"/>
            <a:ext cx="2331720" cy="914400"/>
          </a:xfrm>
          <a:prstGeom prst="rect">
            <a:avLst/>
          </a:prstGeom>
          <a:noFill/>
        </p:spPr>
        <p:txBody>
          <a:bodyPr wrap="square" anchor="t" lIns="36576" rIns="36576">
            <a:spAutoFit/>
          </a:bodyPr>
          <a:lstStyle/>
          <a:p>
            <a:pPr algn="l">
              <a:spcAft>
                <a:spcPts val="400"/>
              </a:spcAft>
            </a:pPr>
            <a:r>
              <a:rPr sz="1300" b="0" i="0">
                <a:solidFill>
                  <a:srgbClr val="1D2433"/>
                </a:solidFill>
                <a:latin typeface="Calibri"/>
              </a:rPr>
              <a:t>Protected keys, 90-day rotation, instant revocation without changing customer pipelines</a:t>
            </a:r>
          </a:p>
        </p:txBody>
      </p:sp>
      <p:sp>
        <p:nvSpPr>
          <p:cNvPr id="17" name="Rounded Rectangle 16"/>
          <p:cNvSpPr/>
          <p:nvPr/>
        </p:nvSpPr>
        <p:spPr>
          <a:xfrm>
            <a:off x="457200" y="3886200"/>
            <a:ext cx="2651760" cy="2148840"/>
          </a:xfrm>
          <a:prstGeom prst="roundRect">
            <a:avLst>
              <a:gd name="adj" fmla="val 8000"/>
            </a:avLst>
          </a:prstGeom>
          <a:solidFill>
            <a:srgbClr val="FFFFFF"/>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0080" y="4087368"/>
            <a:ext cx="502920" cy="502920"/>
          </a:xfrm>
          <a:prstGeom prst="ellipse">
            <a:avLst/>
          </a:prstGeom>
          <a:solidFill>
            <a:srgbClr val="1B2F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O4</a:t>
            </a:r>
          </a:p>
        </p:txBody>
      </p:sp>
      <p:sp>
        <p:nvSpPr>
          <p:cNvPr id="19" name="TextBox 18"/>
          <p:cNvSpPr txBox="1"/>
          <p:nvPr/>
        </p:nvSpPr>
        <p:spPr>
          <a:xfrm>
            <a:off x="640080" y="4709160"/>
            <a:ext cx="2331720" cy="411480"/>
          </a:xfrm>
          <a:prstGeom prst="rect">
            <a:avLst/>
          </a:prstGeom>
          <a:noFill/>
        </p:spPr>
        <p:txBody>
          <a:bodyPr wrap="square" anchor="t" lIns="36576" rIns="36576">
            <a:spAutoFit/>
          </a:bodyPr>
          <a:lstStyle/>
          <a:p>
            <a:pPr algn="l">
              <a:spcAft>
                <a:spcPts val="400"/>
              </a:spcAft>
            </a:pPr>
            <a:r>
              <a:rPr sz="1700" b="1" i="0">
                <a:solidFill>
                  <a:srgbClr val="1B2F5B"/>
                </a:solidFill>
                <a:latin typeface="Calibri"/>
              </a:rPr>
              <a:t>Misuse &amp; rollback</a:t>
            </a:r>
          </a:p>
        </p:txBody>
      </p:sp>
      <p:sp>
        <p:nvSpPr>
          <p:cNvPr id="20" name="TextBox 19"/>
          <p:cNvSpPr txBox="1"/>
          <p:nvPr/>
        </p:nvSpPr>
        <p:spPr>
          <a:xfrm>
            <a:off x="640080" y="5120640"/>
            <a:ext cx="2331720" cy="914400"/>
          </a:xfrm>
          <a:prstGeom prst="rect">
            <a:avLst/>
          </a:prstGeom>
          <a:noFill/>
        </p:spPr>
        <p:txBody>
          <a:bodyPr wrap="square" anchor="t" lIns="36576" rIns="36576">
            <a:spAutoFit/>
          </a:bodyPr>
          <a:lstStyle/>
          <a:p>
            <a:pPr algn="l">
              <a:spcAft>
                <a:spcPts val="400"/>
              </a:spcAft>
            </a:pPr>
            <a:r>
              <a:rPr sz="1300" b="0" i="0">
                <a:solidFill>
                  <a:srgbClr val="1D2433"/>
                </a:solidFill>
                <a:latin typeface="Calibri"/>
              </a:rPr>
              <a:t>Expose silent use of a stolen key; block downgrade to old vulnerable versions</a:t>
            </a:r>
          </a:p>
        </p:txBody>
      </p:sp>
      <p:sp>
        <p:nvSpPr>
          <p:cNvPr id="21" name="Rounded Rectangle 20"/>
          <p:cNvSpPr/>
          <p:nvPr/>
        </p:nvSpPr>
        <p:spPr>
          <a:xfrm>
            <a:off x="3246120" y="3886200"/>
            <a:ext cx="2651760" cy="2148840"/>
          </a:xfrm>
          <a:prstGeom prst="roundRect">
            <a:avLst>
              <a:gd name="adj" fmla="val 8000"/>
            </a:avLst>
          </a:prstGeom>
          <a:solidFill>
            <a:srgbClr val="FFFFFF"/>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3429000" y="4087368"/>
            <a:ext cx="502920" cy="502920"/>
          </a:xfrm>
          <a:prstGeom prst="ellipse">
            <a:avLst/>
          </a:prstGeom>
          <a:solidFill>
            <a:srgbClr val="1B2F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O5</a:t>
            </a:r>
          </a:p>
        </p:txBody>
      </p:sp>
      <p:sp>
        <p:nvSpPr>
          <p:cNvPr id="23" name="TextBox 22"/>
          <p:cNvSpPr txBox="1"/>
          <p:nvPr/>
        </p:nvSpPr>
        <p:spPr>
          <a:xfrm>
            <a:off x="3429000" y="4709160"/>
            <a:ext cx="2331720" cy="411480"/>
          </a:xfrm>
          <a:prstGeom prst="rect">
            <a:avLst/>
          </a:prstGeom>
          <a:noFill/>
        </p:spPr>
        <p:txBody>
          <a:bodyPr wrap="square" anchor="t" lIns="36576" rIns="36576">
            <a:spAutoFit/>
          </a:bodyPr>
          <a:lstStyle/>
          <a:p>
            <a:pPr algn="l">
              <a:spcAft>
                <a:spcPts val="400"/>
              </a:spcAft>
            </a:pPr>
            <a:r>
              <a:rPr sz="1700" b="1" i="0">
                <a:solidFill>
                  <a:srgbClr val="1B2F5B"/>
                </a:solidFill>
                <a:latin typeface="Calibri"/>
              </a:rPr>
              <a:t>Least privilege</a:t>
            </a:r>
          </a:p>
        </p:txBody>
      </p:sp>
      <p:sp>
        <p:nvSpPr>
          <p:cNvPr id="24" name="TextBox 23"/>
          <p:cNvSpPr txBox="1"/>
          <p:nvPr/>
        </p:nvSpPr>
        <p:spPr>
          <a:xfrm>
            <a:off x="3429000" y="5120640"/>
            <a:ext cx="2331720" cy="914400"/>
          </a:xfrm>
          <a:prstGeom prst="rect">
            <a:avLst/>
          </a:prstGeom>
          <a:noFill/>
        </p:spPr>
        <p:txBody>
          <a:bodyPr wrap="square" anchor="t" lIns="36576" rIns="36576">
            <a:spAutoFit/>
          </a:bodyPr>
          <a:lstStyle/>
          <a:p>
            <a:pPr algn="l">
              <a:spcAft>
                <a:spcPts val="400"/>
              </a:spcAft>
            </a:pPr>
            <a:r>
              <a:rPr sz="1300" b="0" i="0">
                <a:solidFill>
                  <a:srgbClr val="1D2433"/>
                </a:solidFill>
                <a:latin typeface="Calibri"/>
              </a:rPr>
              <a:t>If malicious code ever runs, it sees only the one token it needs</a:t>
            </a:r>
          </a:p>
        </p:txBody>
      </p:sp>
      <p:sp>
        <p:nvSpPr>
          <p:cNvPr id="25" name="Rounded Rectangle 24"/>
          <p:cNvSpPr/>
          <p:nvPr/>
        </p:nvSpPr>
        <p:spPr>
          <a:xfrm>
            <a:off x="6035040" y="3886200"/>
            <a:ext cx="2651760" cy="2148840"/>
          </a:xfrm>
          <a:prstGeom prst="roundRect">
            <a:avLst>
              <a:gd name="adj" fmla="val 8000"/>
            </a:avLst>
          </a:prstGeom>
          <a:solidFill>
            <a:srgbClr val="FFFFFF"/>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217920" y="4087368"/>
            <a:ext cx="502920" cy="502920"/>
          </a:xfrm>
          <a:prstGeom prst="ellipse">
            <a:avLst/>
          </a:prstGeom>
          <a:solidFill>
            <a:srgbClr val="1B2F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Calibri"/>
              </a:rPr>
              <a:t>O6</a:t>
            </a:r>
          </a:p>
        </p:txBody>
      </p:sp>
      <p:sp>
        <p:nvSpPr>
          <p:cNvPr id="27" name="TextBox 26"/>
          <p:cNvSpPr txBox="1"/>
          <p:nvPr/>
        </p:nvSpPr>
        <p:spPr>
          <a:xfrm>
            <a:off x="6217920" y="4709160"/>
            <a:ext cx="2331720" cy="411480"/>
          </a:xfrm>
          <a:prstGeom prst="rect">
            <a:avLst/>
          </a:prstGeom>
          <a:noFill/>
        </p:spPr>
        <p:txBody>
          <a:bodyPr wrap="square" anchor="t" lIns="36576" rIns="36576">
            <a:spAutoFit/>
          </a:bodyPr>
          <a:lstStyle/>
          <a:p>
            <a:pPr algn="l">
              <a:spcAft>
                <a:spcPts val="400"/>
              </a:spcAft>
            </a:pPr>
            <a:r>
              <a:rPr sz="1700" b="1" i="0">
                <a:solidFill>
                  <a:srgbClr val="1B2F5B"/>
                </a:solidFill>
                <a:latin typeface="Calibri"/>
              </a:rPr>
              <a:t>Simple &amp; cheap</a:t>
            </a:r>
          </a:p>
        </p:txBody>
      </p:sp>
      <p:sp>
        <p:nvSpPr>
          <p:cNvPr id="28" name="TextBox 27"/>
          <p:cNvSpPr txBox="1"/>
          <p:nvPr/>
        </p:nvSpPr>
        <p:spPr>
          <a:xfrm>
            <a:off x="6217920" y="5120640"/>
            <a:ext cx="2331720" cy="914400"/>
          </a:xfrm>
          <a:prstGeom prst="rect">
            <a:avLst/>
          </a:prstGeom>
          <a:noFill/>
        </p:spPr>
        <p:txBody>
          <a:bodyPr wrap="square" anchor="t" lIns="36576" rIns="36576">
            <a:spAutoFit/>
          </a:bodyPr>
          <a:lstStyle/>
          <a:p>
            <a:pPr algn="l">
              <a:spcAft>
                <a:spcPts val="400"/>
              </a:spcAft>
            </a:pPr>
            <a:r>
              <a:rPr sz="1300" b="0" i="0">
                <a:solidFill>
                  <a:srgbClr val="1D2433"/>
                </a:solidFill>
                <a:latin typeface="Calibri"/>
              </a:rPr>
              <a:t>Standard algorithms, ~1 ms overhead, one-line CI change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11480" y="713232"/>
            <a:ext cx="8321040" cy="566928"/>
          </a:xfrm>
          <a:prstGeom prst="rect">
            <a:avLst/>
          </a:prstGeom>
          <a:noFill/>
        </p:spPr>
        <p:txBody>
          <a:bodyPr wrap="square" lIns="0" rIns="0" anchor="ctr">
            <a:spAutoFit/>
          </a:bodyPr>
          <a:lstStyle/>
          <a:p>
            <a:r>
              <a:rPr sz="2800" b="1" i="0">
                <a:solidFill>
                  <a:srgbClr val="1B2F5B"/>
                </a:solidFill>
                <a:latin typeface="Times New Roman"/>
              </a:rPr>
              <a:t>Requirements</a:t>
            </a:r>
          </a:p>
        </p:txBody>
      </p:sp>
      <p:sp>
        <p:nvSpPr>
          <p:cNvPr id="5" name="Rounded Rectangle 4"/>
          <p:cNvSpPr/>
          <p:nvPr/>
        </p:nvSpPr>
        <p:spPr>
          <a:xfrm>
            <a:off x="457200" y="1463040"/>
            <a:ext cx="2651760" cy="4206240"/>
          </a:xfrm>
          <a:prstGeom prst="roundRect">
            <a:avLst>
              <a:gd name="adj" fmla="val 8000"/>
            </a:avLst>
          </a:prstGeom>
          <a:solidFill>
            <a:srgbClr val="EEF1FB"/>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94360" y="1572768"/>
            <a:ext cx="2377440" cy="457200"/>
          </a:xfrm>
          <a:prstGeom prst="rect">
            <a:avLst/>
          </a:prstGeom>
          <a:noFill/>
        </p:spPr>
        <p:txBody>
          <a:bodyPr wrap="square" anchor="t" lIns="36576" rIns="36576">
            <a:spAutoFit/>
          </a:bodyPr>
          <a:lstStyle/>
          <a:p>
            <a:pPr algn="l">
              <a:spcAft>
                <a:spcPts val="400"/>
              </a:spcAft>
            </a:pPr>
            <a:r>
              <a:rPr sz="1900" b="1" i="0">
                <a:solidFill>
                  <a:srgbClr val="1B2F5B"/>
                </a:solidFill>
                <a:latin typeface="Calibri"/>
              </a:rPr>
              <a:t>Functional</a:t>
            </a:r>
          </a:p>
        </p:txBody>
      </p:sp>
      <p:sp>
        <p:nvSpPr>
          <p:cNvPr id="7" name="TextBox 6"/>
          <p:cNvSpPr txBox="1"/>
          <p:nvPr/>
        </p:nvSpPr>
        <p:spPr>
          <a:xfrm>
            <a:off x="548640" y="2103120"/>
            <a:ext cx="2468880" cy="3474720"/>
          </a:xfrm>
          <a:prstGeom prst="rect">
            <a:avLst/>
          </a:prstGeom>
          <a:noFill/>
        </p:spPr>
        <p:txBody>
          <a:bodyPr wrap="square" anchor="t" lIns="36576" rIns="36576">
            <a:spAutoFit/>
          </a:bodyPr>
          <a:lstStyle/>
          <a:p>
            <a:pPr algn="l" marL="228600" indent="-201168">
              <a:spcAft>
                <a:spcPts val="1000"/>
              </a:spcAft>
              <a:buChar char="•"/>
            </a:pPr>
            <a:r>
              <a:rPr sz="1500" b="0" i="0">
                <a:solidFill>
                  <a:srgbClr val="1D2433"/>
                </a:solidFill>
                <a:latin typeface="Calibri"/>
              </a:rPr>
              <a:t>FR1 Sign release manifest</a:t>
            </a:r>
          </a:p>
          <a:p>
            <a:pPr algn="l" marL="228600" indent="-201168">
              <a:spcAft>
                <a:spcPts val="1000"/>
              </a:spcAft>
              <a:buChar char="•"/>
            </a:pPr>
            <a:r>
              <a:rPr sz="1500" b="0" i="0">
                <a:solidFill>
                  <a:srgbClr val="1D2433"/>
                </a:solidFill>
                <a:latin typeface="Calibri"/>
              </a:rPr>
              <a:t>FR2 Root certifies keys + revocation list</a:t>
            </a:r>
          </a:p>
          <a:p>
            <a:pPr algn="l" marL="228600" indent="-201168">
              <a:spcAft>
                <a:spcPts val="1000"/>
              </a:spcAft>
              <a:buChar char="•"/>
            </a:pPr>
            <a:r>
              <a:rPr sz="1500" b="0" i="0">
                <a:solidFill>
                  <a:srgbClr val="1D2433"/>
                </a:solidFill>
                <a:latin typeface="Calibri"/>
              </a:rPr>
              <a:t>FR3 Append every release to a transparency log</a:t>
            </a:r>
          </a:p>
          <a:p>
            <a:pPr algn="l" marL="228600" indent="-201168">
              <a:spcAft>
                <a:spcPts val="1000"/>
              </a:spcAft>
              <a:buChar char="•"/>
            </a:pPr>
            <a:r>
              <a:rPr sz="1500" b="0" i="0">
                <a:solidFill>
                  <a:srgbClr val="1D2433"/>
                </a:solidFill>
                <a:latin typeface="Calibri"/>
              </a:rPr>
              <a:t>FR4 Six-check verification in CI</a:t>
            </a:r>
          </a:p>
          <a:p>
            <a:pPr algn="l" marL="228600" indent="-201168">
              <a:spcAft>
                <a:spcPts val="1000"/>
              </a:spcAft>
              <a:buChar char="•"/>
            </a:pPr>
            <a:r>
              <a:rPr sz="1500" b="0" i="0">
                <a:solidFill>
                  <a:srgbClr val="1D2433"/>
                </a:solidFill>
                <a:latin typeface="Calibri"/>
              </a:rPr>
              <a:t>FR5 Execute with env allowlist</a:t>
            </a:r>
          </a:p>
          <a:p>
            <a:pPr algn="l" marL="228600" indent="-201168">
              <a:spcAft>
                <a:spcPts val="1000"/>
              </a:spcAft>
              <a:buChar char="•"/>
            </a:pPr>
            <a:r>
              <a:rPr sz="1500" b="0" i="0">
                <a:solidFill>
                  <a:srgbClr val="1D2433"/>
                </a:solidFill>
                <a:latin typeface="Calibri"/>
              </a:rPr>
              <a:t>FR6 Monitor served artifact</a:t>
            </a:r>
          </a:p>
        </p:txBody>
      </p:sp>
      <p:sp>
        <p:nvSpPr>
          <p:cNvPr id="8" name="Rounded Rectangle 7"/>
          <p:cNvSpPr/>
          <p:nvPr/>
        </p:nvSpPr>
        <p:spPr>
          <a:xfrm>
            <a:off x="3246120" y="1463040"/>
            <a:ext cx="2651760" cy="4206240"/>
          </a:xfrm>
          <a:prstGeom prst="roundRect">
            <a:avLst>
              <a:gd name="adj" fmla="val 8000"/>
            </a:avLst>
          </a:prstGeom>
          <a:solidFill>
            <a:srgbClr val="FDECEA"/>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383279" y="1572768"/>
            <a:ext cx="2377440" cy="457200"/>
          </a:xfrm>
          <a:prstGeom prst="rect">
            <a:avLst/>
          </a:prstGeom>
          <a:noFill/>
        </p:spPr>
        <p:txBody>
          <a:bodyPr wrap="square" anchor="t" lIns="36576" rIns="36576">
            <a:spAutoFit/>
          </a:bodyPr>
          <a:lstStyle/>
          <a:p>
            <a:pPr algn="l">
              <a:spcAft>
                <a:spcPts val="400"/>
              </a:spcAft>
            </a:pPr>
            <a:r>
              <a:rPr sz="1900" b="1" i="0">
                <a:solidFill>
                  <a:srgbClr val="1B2F5B"/>
                </a:solidFill>
                <a:latin typeface="Calibri"/>
              </a:rPr>
              <a:t>Security</a:t>
            </a:r>
          </a:p>
        </p:txBody>
      </p:sp>
      <p:sp>
        <p:nvSpPr>
          <p:cNvPr id="10" name="TextBox 9"/>
          <p:cNvSpPr txBox="1"/>
          <p:nvPr/>
        </p:nvSpPr>
        <p:spPr>
          <a:xfrm>
            <a:off x="3337560" y="2103120"/>
            <a:ext cx="2468880" cy="3474720"/>
          </a:xfrm>
          <a:prstGeom prst="rect">
            <a:avLst/>
          </a:prstGeom>
          <a:noFill/>
        </p:spPr>
        <p:txBody>
          <a:bodyPr wrap="square" anchor="t" lIns="36576" rIns="36576">
            <a:spAutoFit/>
          </a:bodyPr>
          <a:lstStyle/>
          <a:p>
            <a:pPr algn="l" marL="228600" indent="-201168">
              <a:spcAft>
                <a:spcPts val="1000"/>
              </a:spcAft>
              <a:buChar char="•"/>
            </a:pPr>
            <a:r>
              <a:rPr sz="1500" b="0" i="0">
                <a:solidFill>
                  <a:srgbClr val="1D2433"/>
                </a:solidFill>
                <a:latin typeface="Calibri"/>
              </a:rPr>
              <a:t>SR1 Detect any 1-bit change (SHA-256)</a:t>
            </a:r>
          </a:p>
          <a:p>
            <a:pPr algn="l" marL="228600" indent="-201168">
              <a:spcAft>
                <a:spcPts val="1000"/>
              </a:spcAft>
              <a:buChar char="•"/>
            </a:pPr>
            <a:r>
              <a:rPr sz="1500" b="0" i="0">
                <a:solidFill>
                  <a:srgbClr val="1D2433"/>
                </a:solidFill>
                <a:latin typeface="Calibri"/>
              </a:rPr>
              <a:t>SR2 Unforgeable signature (Ed25519)</a:t>
            </a:r>
          </a:p>
          <a:p>
            <a:pPr algn="l" marL="228600" indent="-201168">
              <a:spcAft>
                <a:spcPts val="1000"/>
              </a:spcAft>
              <a:buChar char="•"/>
            </a:pPr>
            <a:r>
              <a:rPr sz="1500" b="0" i="0">
                <a:solidFill>
                  <a:srgbClr val="1D2433"/>
                </a:solidFill>
                <a:latin typeface="Calibri"/>
              </a:rPr>
              <a:t>SR3 Pinned trust anchor</a:t>
            </a:r>
          </a:p>
          <a:p>
            <a:pPr algn="l" marL="228600" indent="-201168">
              <a:spcAft>
                <a:spcPts val="1000"/>
              </a:spcAft>
              <a:buChar char="•"/>
            </a:pPr>
            <a:r>
              <a:rPr sz="1500" b="0" i="0">
                <a:solidFill>
                  <a:srgbClr val="1D2433"/>
                </a:solidFill>
                <a:latin typeface="Calibri"/>
              </a:rPr>
              <a:t>SR4 Keys in HSM/KMS, AES-256 at rest</a:t>
            </a:r>
          </a:p>
          <a:p>
            <a:pPr algn="l" marL="228600" indent="-201168">
              <a:spcAft>
                <a:spcPts val="1000"/>
              </a:spcAft>
              <a:buChar char="•"/>
            </a:pPr>
            <a:r>
              <a:rPr sz="1500" b="0" i="0">
                <a:solidFill>
                  <a:srgbClr val="1D2433"/>
                </a:solidFill>
                <a:latin typeface="Calibri"/>
              </a:rPr>
              <a:t>SR5 Fail-closed</a:t>
            </a:r>
          </a:p>
          <a:p>
            <a:pPr algn="l" marL="228600" indent="-201168">
              <a:spcAft>
                <a:spcPts val="1000"/>
              </a:spcAft>
              <a:buChar char="•"/>
            </a:pPr>
            <a:r>
              <a:rPr sz="1500" b="0" i="0">
                <a:solidFill>
                  <a:srgbClr val="1D2433"/>
                </a:solidFill>
                <a:latin typeface="Calibri"/>
              </a:rPr>
              <a:t>SR6 &lt; 50 ms overhead</a:t>
            </a:r>
          </a:p>
        </p:txBody>
      </p:sp>
      <p:sp>
        <p:nvSpPr>
          <p:cNvPr id="11" name="Rounded Rectangle 10"/>
          <p:cNvSpPr/>
          <p:nvPr/>
        </p:nvSpPr>
        <p:spPr>
          <a:xfrm>
            <a:off x="6035040" y="1463040"/>
            <a:ext cx="2651760" cy="4206240"/>
          </a:xfrm>
          <a:prstGeom prst="roundRect">
            <a:avLst>
              <a:gd name="adj" fmla="val 8000"/>
            </a:avLst>
          </a:prstGeom>
          <a:solidFill>
            <a:srgbClr val="E6F4EC"/>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172200" y="1572768"/>
            <a:ext cx="2377440" cy="457200"/>
          </a:xfrm>
          <a:prstGeom prst="rect">
            <a:avLst/>
          </a:prstGeom>
          <a:noFill/>
        </p:spPr>
        <p:txBody>
          <a:bodyPr wrap="square" anchor="t" lIns="36576" rIns="36576">
            <a:spAutoFit/>
          </a:bodyPr>
          <a:lstStyle/>
          <a:p>
            <a:pPr algn="l">
              <a:spcAft>
                <a:spcPts val="400"/>
              </a:spcAft>
            </a:pPr>
            <a:r>
              <a:rPr sz="1900" b="1" i="0">
                <a:solidFill>
                  <a:srgbClr val="1B2F5B"/>
                </a:solidFill>
                <a:latin typeface="Calibri"/>
              </a:rPr>
              <a:t>Hardware / Software</a:t>
            </a:r>
          </a:p>
        </p:txBody>
      </p:sp>
      <p:sp>
        <p:nvSpPr>
          <p:cNvPr id="13" name="TextBox 12"/>
          <p:cNvSpPr txBox="1"/>
          <p:nvPr/>
        </p:nvSpPr>
        <p:spPr>
          <a:xfrm>
            <a:off x="6126479" y="2103120"/>
            <a:ext cx="2468880" cy="3474720"/>
          </a:xfrm>
          <a:prstGeom prst="rect">
            <a:avLst/>
          </a:prstGeom>
          <a:noFill/>
        </p:spPr>
        <p:txBody>
          <a:bodyPr wrap="square" anchor="t" lIns="36576" rIns="36576">
            <a:spAutoFit/>
          </a:bodyPr>
          <a:lstStyle/>
          <a:p>
            <a:pPr algn="l" marL="228600" indent="-201168">
              <a:spcAft>
                <a:spcPts val="1000"/>
              </a:spcAft>
              <a:buChar char="•"/>
            </a:pPr>
            <a:r>
              <a:rPr sz="1500" b="0" i="0">
                <a:solidFill>
                  <a:srgbClr val="1D2433"/>
                </a:solidFill>
                <a:latin typeface="Calibri"/>
              </a:rPr>
              <a:t>Any x86/ARM machine, 2 GB RAM</a:t>
            </a:r>
          </a:p>
          <a:p>
            <a:pPr algn="l" marL="228600" indent="-201168">
              <a:spcAft>
                <a:spcPts val="1000"/>
              </a:spcAft>
              <a:buChar char="•"/>
            </a:pPr>
            <a:r>
              <a:rPr sz="1500" b="0" i="0">
                <a:solidFill>
                  <a:srgbClr val="1D2433"/>
                </a:solidFill>
                <a:latin typeface="Calibri"/>
              </a:rPr>
              <a:t>Python 3.9+, pyca/cryptography</a:t>
            </a:r>
          </a:p>
          <a:p>
            <a:pPr algn="l" marL="228600" indent="-201168">
              <a:spcAft>
                <a:spcPts val="1000"/>
              </a:spcAft>
              <a:buChar char="•"/>
            </a:pPr>
            <a:r>
              <a:rPr sz="1500" b="0" i="0">
                <a:solidFill>
                  <a:srgbClr val="1D2433"/>
                </a:solidFill>
                <a:latin typeface="Calibri"/>
              </a:rPr>
              <a:t>Bash, Git, GitHub Actions</a:t>
            </a:r>
          </a:p>
          <a:p>
            <a:pPr algn="l" marL="228600" indent="-201168">
              <a:spcAft>
                <a:spcPts val="1000"/>
              </a:spcAft>
              <a:buChar char="•"/>
            </a:pPr>
            <a:r>
              <a:rPr sz="1500" b="0" i="0">
                <a:solidFill>
                  <a:srgbClr val="1D2433"/>
                </a:solidFill>
                <a:latin typeface="Calibri"/>
              </a:rPr>
              <a:t>Production: Cloud KMS / HSM</a:t>
            </a:r>
          </a:p>
          <a:p>
            <a:pPr algn="l" marL="228600" indent="-201168">
              <a:spcAft>
                <a:spcPts val="1000"/>
              </a:spcAft>
              <a:buChar char="•"/>
            </a:pPr>
            <a:r>
              <a:rPr sz="1500" b="0" i="0">
                <a:solidFill>
                  <a:srgbClr val="1D2433"/>
                </a:solidFill>
                <a:latin typeface="Calibri"/>
              </a:rPr>
              <a:t>Object storage / CDN over TLS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11480" y="713232"/>
            <a:ext cx="8321040" cy="566928"/>
          </a:xfrm>
          <a:prstGeom prst="rect">
            <a:avLst/>
          </a:prstGeom>
          <a:noFill/>
        </p:spPr>
        <p:txBody>
          <a:bodyPr wrap="square" lIns="0" rIns="0" anchor="ctr">
            <a:spAutoFit/>
          </a:bodyPr>
          <a:lstStyle/>
          <a:p>
            <a:r>
              <a:rPr sz="2800" b="1" i="0">
                <a:solidFill>
                  <a:srgbClr val="1B2F5B"/>
                </a:solidFill>
                <a:latin typeface="Times New Roman"/>
              </a:rPr>
              <a:t>Methodology</a:t>
            </a:r>
          </a:p>
        </p:txBody>
      </p:sp>
      <p:sp>
        <p:nvSpPr>
          <p:cNvPr id="5" name="Pentagon 4"/>
          <p:cNvSpPr/>
          <p:nvPr/>
        </p:nvSpPr>
        <p:spPr>
          <a:xfrm>
            <a:off x="457200" y="1554480"/>
            <a:ext cx="2651760" cy="640080"/>
          </a:xfrm>
          <a:prstGeom prst="homePlate">
            <a:avLst/>
          </a:prstGeom>
          <a:solidFill>
            <a:srgbClr val="1B2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FFFFFF"/>
                </a:solidFill>
                <a:latin typeface="Calibri"/>
              </a:rPr>
              <a:t>1. Study incident</a:t>
            </a:r>
          </a:p>
        </p:txBody>
      </p:sp>
      <p:sp>
        <p:nvSpPr>
          <p:cNvPr id="6" name="Rounded Rectangle 5"/>
          <p:cNvSpPr/>
          <p:nvPr/>
        </p:nvSpPr>
        <p:spPr>
          <a:xfrm>
            <a:off x="457200" y="2331720"/>
            <a:ext cx="2651760" cy="1234440"/>
          </a:xfrm>
          <a:prstGeom prst="roundRect">
            <a:avLst>
              <a:gd name="adj" fmla="val 8000"/>
            </a:avLst>
          </a:prstGeom>
          <a:solidFill>
            <a:srgbClr val="FFFFFF"/>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2395728"/>
            <a:ext cx="2432304" cy="1143000"/>
          </a:xfrm>
          <a:prstGeom prst="rect">
            <a:avLst/>
          </a:prstGeom>
          <a:noFill/>
        </p:spPr>
        <p:txBody>
          <a:bodyPr wrap="square" anchor="t" lIns="36576" rIns="36576">
            <a:spAutoFit/>
          </a:bodyPr>
          <a:lstStyle/>
          <a:p>
            <a:pPr algn="l">
              <a:spcAft>
                <a:spcPts val="400"/>
              </a:spcAft>
            </a:pPr>
            <a:r>
              <a:rPr sz="1350" b="0" i="0">
                <a:solidFill>
                  <a:srgbClr val="1D2433"/>
                </a:solidFill>
                <a:latin typeface="Calibri"/>
              </a:rPr>
              <a:t>Codecov security update, post-mortem, Reuters, HashiCorp bulletin</a:t>
            </a:r>
          </a:p>
        </p:txBody>
      </p:sp>
      <p:sp>
        <p:nvSpPr>
          <p:cNvPr id="8" name="Chevron 7"/>
          <p:cNvSpPr/>
          <p:nvPr/>
        </p:nvSpPr>
        <p:spPr>
          <a:xfrm>
            <a:off x="3246120" y="1554480"/>
            <a:ext cx="2651760" cy="640080"/>
          </a:xfrm>
          <a:prstGeom prst="chevron">
            <a:avLst/>
          </a:prstGeom>
          <a:solidFill>
            <a:srgbClr val="1B2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FFFFFF"/>
                </a:solidFill>
                <a:latin typeface="Calibri"/>
              </a:rPr>
              <a:t>2. Analyse</a:t>
            </a:r>
          </a:p>
        </p:txBody>
      </p:sp>
      <p:sp>
        <p:nvSpPr>
          <p:cNvPr id="9" name="Rounded Rectangle 8"/>
          <p:cNvSpPr/>
          <p:nvPr/>
        </p:nvSpPr>
        <p:spPr>
          <a:xfrm>
            <a:off x="3246120" y="2331720"/>
            <a:ext cx="2651760" cy="1234440"/>
          </a:xfrm>
          <a:prstGeom prst="roundRect">
            <a:avLst>
              <a:gd name="adj" fmla="val 8000"/>
            </a:avLst>
          </a:prstGeom>
          <a:solidFill>
            <a:srgbClr val="FFFFFF"/>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355848" y="2395728"/>
            <a:ext cx="2432304" cy="1143000"/>
          </a:xfrm>
          <a:prstGeom prst="rect">
            <a:avLst/>
          </a:prstGeom>
          <a:noFill/>
        </p:spPr>
        <p:txBody>
          <a:bodyPr wrap="square" anchor="t" lIns="36576" rIns="36576">
            <a:spAutoFit/>
          </a:bodyPr>
          <a:lstStyle/>
          <a:p>
            <a:pPr algn="l">
              <a:spcAft>
                <a:spcPts val="400"/>
              </a:spcAft>
            </a:pPr>
            <a:r>
              <a:rPr sz="1350" b="0" i="0">
                <a:solidFill>
                  <a:srgbClr val="1D2433"/>
                </a:solidFill>
                <a:latin typeface="Calibri"/>
              </a:rPr>
              <a:t>Attack chain, vulnerabilities V1–V6, STRIDE threat model</a:t>
            </a:r>
          </a:p>
        </p:txBody>
      </p:sp>
      <p:sp>
        <p:nvSpPr>
          <p:cNvPr id="11" name="Chevron 10"/>
          <p:cNvSpPr/>
          <p:nvPr/>
        </p:nvSpPr>
        <p:spPr>
          <a:xfrm>
            <a:off x="6035040" y="1554480"/>
            <a:ext cx="2651760" cy="640080"/>
          </a:xfrm>
          <a:prstGeom prst="chevron">
            <a:avLst/>
          </a:prstGeom>
          <a:solidFill>
            <a:srgbClr val="1B2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FFFFFF"/>
                </a:solidFill>
                <a:latin typeface="Calibri"/>
              </a:rPr>
              <a:t>3. Design</a:t>
            </a:r>
          </a:p>
        </p:txBody>
      </p:sp>
      <p:sp>
        <p:nvSpPr>
          <p:cNvPr id="12" name="Rounded Rectangle 11"/>
          <p:cNvSpPr/>
          <p:nvPr/>
        </p:nvSpPr>
        <p:spPr>
          <a:xfrm>
            <a:off x="6035040" y="2331720"/>
            <a:ext cx="2651760" cy="1234440"/>
          </a:xfrm>
          <a:prstGeom prst="roundRect">
            <a:avLst>
              <a:gd name="adj" fmla="val 8000"/>
            </a:avLst>
          </a:prstGeom>
          <a:solidFill>
            <a:srgbClr val="FFFFFF"/>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144768" y="2395728"/>
            <a:ext cx="2432304" cy="1143000"/>
          </a:xfrm>
          <a:prstGeom prst="rect">
            <a:avLst/>
          </a:prstGeom>
          <a:noFill/>
        </p:spPr>
        <p:txBody>
          <a:bodyPr wrap="square" anchor="t" lIns="36576" rIns="36576">
            <a:spAutoFit/>
          </a:bodyPr>
          <a:lstStyle/>
          <a:p>
            <a:pPr algn="l">
              <a:spcAft>
                <a:spcPts val="400"/>
              </a:spcAft>
            </a:pPr>
            <a:r>
              <a:rPr sz="1350" b="0" i="0">
                <a:solidFill>
                  <a:srgbClr val="1D2433"/>
                </a:solidFill>
                <a:latin typeface="Calibri"/>
              </a:rPr>
              <a:t>Map each weakness to a crypto / security control</a:t>
            </a:r>
          </a:p>
        </p:txBody>
      </p:sp>
      <p:sp>
        <p:nvSpPr>
          <p:cNvPr id="14" name="Pentagon 13"/>
          <p:cNvSpPr/>
          <p:nvPr/>
        </p:nvSpPr>
        <p:spPr>
          <a:xfrm>
            <a:off x="457200" y="3840480"/>
            <a:ext cx="2651760" cy="640080"/>
          </a:xfrm>
          <a:prstGeom prst="homePlate">
            <a:avLst/>
          </a:prstGeom>
          <a:solidFill>
            <a:srgbClr val="1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FFFFFF"/>
                </a:solidFill>
                <a:latin typeface="Calibri"/>
              </a:rPr>
              <a:t>4. Implement</a:t>
            </a:r>
          </a:p>
        </p:txBody>
      </p:sp>
      <p:sp>
        <p:nvSpPr>
          <p:cNvPr id="15" name="Rounded Rectangle 14"/>
          <p:cNvSpPr/>
          <p:nvPr/>
        </p:nvSpPr>
        <p:spPr>
          <a:xfrm>
            <a:off x="457200" y="4617720"/>
            <a:ext cx="2651760" cy="1234440"/>
          </a:xfrm>
          <a:prstGeom prst="roundRect">
            <a:avLst>
              <a:gd name="adj" fmla="val 8000"/>
            </a:avLst>
          </a:prstGeom>
          <a:solidFill>
            <a:srgbClr val="FFFFFF"/>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66928" y="4681728"/>
            <a:ext cx="2432304" cy="1143000"/>
          </a:xfrm>
          <a:prstGeom prst="rect">
            <a:avLst/>
          </a:prstGeom>
          <a:noFill/>
        </p:spPr>
        <p:txBody>
          <a:bodyPr wrap="square" anchor="t" lIns="36576" rIns="36576">
            <a:spAutoFit/>
          </a:bodyPr>
          <a:lstStyle/>
          <a:p>
            <a:pPr algn="l">
              <a:spcAft>
                <a:spcPts val="400"/>
              </a:spcAft>
            </a:pPr>
            <a:r>
              <a:rPr sz="1350" b="0" i="0">
                <a:solidFill>
                  <a:srgbClr val="1D2433"/>
                </a:solidFill>
                <a:latin typeface="Calibri"/>
              </a:rPr>
              <a:t>Python + pyca/cryptography prototype (~500 lines)</a:t>
            </a:r>
          </a:p>
        </p:txBody>
      </p:sp>
      <p:sp>
        <p:nvSpPr>
          <p:cNvPr id="17" name="Chevron 16"/>
          <p:cNvSpPr/>
          <p:nvPr/>
        </p:nvSpPr>
        <p:spPr>
          <a:xfrm>
            <a:off x="3246120" y="3840480"/>
            <a:ext cx="2651760" cy="640080"/>
          </a:xfrm>
          <a:prstGeom prst="chevron">
            <a:avLst/>
          </a:prstGeom>
          <a:solidFill>
            <a:srgbClr val="1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FFFFFF"/>
                </a:solidFill>
                <a:latin typeface="Calibri"/>
              </a:rPr>
              <a:t>5. Attack &amp; test</a:t>
            </a:r>
          </a:p>
        </p:txBody>
      </p:sp>
      <p:sp>
        <p:nvSpPr>
          <p:cNvPr id="18" name="Rounded Rectangle 17"/>
          <p:cNvSpPr/>
          <p:nvPr/>
        </p:nvSpPr>
        <p:spPr>
          <a:xfrm>
            <a:off x="3246120" y="4617720"/>
            <a:ext cx="2651760" cy="1234440"/>
          </a:xfrm>
          <a:prstGeom prst="roundRect">
            <a:avLst>
              <a:gd name="adj" fmla="val 8000"/>
            </a:avLst>
          </a:prstGeom>
          <a:solidFill>
            <a:srgbClr val="FFFFFF"/>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355848" y="4681728"/>
            <a:ext cx="2432304" cy="1143000"/>
          </a:xfrm>
          <a:prstGeom prst="rect">
            <a:avLst/>
          </a:prstGeom>
          <a:noFill/>
        </p:spPr>
        <p:txBody>
          <a:bodyPr wrap="square" anchor="t" lIns="36576" rIns="36576">
            <a:spAutoFit/>
          </a:bodyPr>
          <a:lstStyle/>
          <a:p>
            <a:pPr algn="l">
              <a:spcAft>
                <a:spcPts val="400"/>
              </a:spcAft>
            </a:pPr>
            <a:r>
              <a:rPr sz="1350" b="0" i="0">
                <a:solidFill>
                  <a:srgbClr val="1D2433"/>
                </a:solidFill>
                <a:latin typeface="Calibri"/>
              </a:rPr>
              <a:t>7 attack scenarios, assume-breach test, 13 unit tests, timing</a:t>
            </a:r>
          </a:p>
        </p:txBody>
      </p:sp>
      <p:sp>
        <p:nvSpPr>
          <p:cNvPr id="20" name="Chevron 19"/>
          <p:cNvSpPr/>
          <p:nvPr/>
        </p:nvSpPr>
        <p:spPr>
          <a:xfrm>
            <a:off x="6035040" y="3840480"/>
            <a:ext cx="2651760" cy="640080"/>
          </a:xfrm>
          <a:prstGeom prst="chevron">
            <a:avLst/>
          </a:prstGeom>
          <a:solidFill>
            <a:srgbClr val="1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FFFFFF"/>
                </a:solidFill>
                <a:latin typeface="Calibri"/>
              </a:rPr>
              <a:t>6. Evaluate</a:t>
            </a:r>
          </a:p>
        </p:txBody>
      </p:sp>
      <p:sp>
        <p:nvSpPr>
          <p:cNvPr id="21" name="Rounded Rectangle 20"/>
          <p:cNvSpPr/>
          <p:nvPr/>
        </p:nvSpPr>
        <p:spPr>
          <a:xfrm>
            <a:off x="6035040" y="4617720"/>
            <a:ext cx="2651760" cy="1234440"/>
          </a:xfrm>
          <a:prstGeom prst="roundRect">
            <a:avLst>
              <a:gd name="adj" fmla="val 8000"/>
            </a:avLst>
          </a:prstGeom>
          <a:solidFill>
            <a:srgbClr val="FFFFFF"/>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144768" y="4681728"/>
            <a:ext cx="2432304" cy="1143000"/>
          </a:xfrm>
          <a:prstGeom prst="rect">
            <a:avLst/>
          </a:prstGeom>
          <a:noFill/>
        </p:spPr>
        <p:txBody>
          <a:bodyPr wrap="square" anchor="t" lIns="36576" rIns="36576">
            <a:spAutoFit/>
          </a:bodyPr>
          <a:lstStyle/>
          <a:p>
            <a:pPr algn="l">
              <a:spcAft>
                <a:spcPts val="400"/>
              </a:spcAft>
            </a:pPr>
            <a:r>
              <a:rPr sz="1350" b="0" i="0">
                <a:solidFill>
                  <a:srgbClr val="1D2433"/>
                </a:solidFill>
                <a:latin typeface="Calibri"/>
              </a:rPr>
              <a:t>Compare with standard fix; cost and feasibility</a:t>
            </a:r>
          </a:p>
        </p:txBody>
      </p:sp>
      <p:sp>
        <p:nvSpPr>
          <p:cNvPr id="23" name="TextBox 22"/>
          <p:cNvSpPr txBox="1"/>
          <p:nvPr/>
        </p:nvSpPr>
        <p:spPr>
          <a:xfrm>
            <a:off x="457200" y="5989320"/>
            <a:ext cx="8229600" cy="365760"/>
          </a:xfrm>
          <a:prstGeom prst="rect">
            <a:avLst/>
          </a:prstGeom>
          <a:noFill/>
        </p:spPr>
        <p:txBody>
          <a:bodyPr wrap="square" anchor="t" lIns="36576" rIns="36576">
            <a:spAutoFit/>
          </a:bodyPr>
          <a:lstStyle/>
          <a:p>
            <a:pPr algn="l">
              <a:spcAft>
                <a:spcPts val="400"/>
              </a:spcAft>
            </a:pPr>
            <a:r>
              <a:rPr sz="1300" b="1" i="0">
                <a:solidFill>
                  <a:srgbClr val="4A5263"/>
                </a:solidFill>
                <a:latin typeface="Calibri"/>
              </a:rPr>
              <a:t>Tools: </a:t>
            </a:r>
            <a:r>
              <a:rPr sz="1300" b="0" i="0">
                <a:solidFill>
                  <a:srgbClr val="4A5263"/>
                </a:solidFill>
                <a:latin typeface="Calibri"/>
              </a:rPr>
              <a:t>Python 3, pyca/cryptography (Ed25519, AES), Bash, unittest, GitHub Actions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11480" y="713232"/>
            <a:ext cx="8321040" cy="566928"/>
          </a:xfrm>
          <a:prstGeom prst="rect">
            <a:avLst/>
          </a:prstGeom>
          <a:noFill/>
        </p:spPr>
        <p:txBody>
          <a:bodyPr wrap="square" lIns="0" rIns="0" anchor="ctr">
            <a:spAutoFit/>
          </a:bodyPr>
          <a:lstStyle/>
          <a:p>
            <a:r>
              <a:rPr sz="2800" b="1" i="0">
                <a:solidFill>
                  <a:srgbClr val="1B2F5B"/>
                </a:solidFill>
                <a:latin typeface="Times New Roman"/>
              </a:rPr>
              <a:t>Design: SignGate Architecture</a:t>
            </a:r>
          </a:p>
        </p:txBody>
      </p:sp>
      <p:sp>
        <p:nvSpPr>
          <p:cNvPr id="5" name="Rounded Rectangle 4"/>
          <p:cNvSpPr/>
          <p:nvPr/>
        </p:nvSpPr>
        <p:spPr>
          <a:xfrm>
            <a:off x="457200" y="1371600"/>
            <a:ext cx="8229600" cy="502920"/>
          </a:xfrm>
          <a:prstGeom prst="roundRect">
            <a:avLst>
              <a:gd name="adj" fmla="val 8000"/>
            </a:avLst>
          </a:prstGeom>
          <a:solidFill>
            <a:srgbClr val="EEF1FB"/>
          </a:solidFill>
          <a:ln w="15875">
            <a:solidFill>
              <a:srgbClr val="1B2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57200" y="1371600"/>
            <a:ext cx="8229600" cy="502920"/>
          </a:xfrm>
          <a:prstGeom prst="rect">
            <a:avLst/>
          </a:prstGeom>
          <a:noFill/>
        </p:spPr>
        <p:txBody>
          <a:bodyPr wrap="square" anchor="ctr" lIns="36576" rIns="36576">
            <a:spAutoFit/>
          </a:bodyPr>
          <a:lstStyle/>
          <a:p>
            <a:pPr algn="ctr">
              <a:spcAft>
                <a:spcPts val="400"/>
              </a:spcAft>
            </a:pPr>
            <a:r>
              <a:rPr sz="1600" b="1" i="0">
                <a:solidFill>
                  <a:srgbClr val="1B2F5B"/>
                </a:solidFill>
                <a:latin typeface="Calibri"/>
              </a:rPr>
              <a:t>Idea: move trust from the storage bucket to cryptographic keys</a:t>
            </a:r>
          </a:p>
        </p:txBody>
      </p:sp>
      <p:sp>
        <p:nvSpPr>
          <p:cNvPr id="7" name="Rectangle 6"/>
          <p:cNvSpPr/>
          <p:nvPr/>
        </p:nvSpPr>
        <p:spPr>
          <a:xfrm>
            <a:off x="448056" y="2002536"/>
            <a:ext cx="8247888" cy="4226280"/>
          </a:xfrm>
          <a:prstGeom prst="rect">
            <a:avLst/>
          </a:prstGeom>
          <a:solidFill>
            <a:srgbClr val="FFFFFF"/>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arch.png"/>
          <p:cNvPicPr>
            <a:picLocks noChangeAspect="1"/>
          </p:cNvPicPr>
          <p:nvPr/>
        </p:nvPicPr>
        <p:blipFill>
          <a:blip r:embed="rId3"/>
          <a:stretch>
            <a:fillRect/>
          </a:stretch>
        </p:blipFill>
        <p:spPr>
          <a:xfrm>
            <a:off x="502920" y="2057400"/>
            <a:ext cx="8138160" cy="41165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11480" y="713232"/>
            <a:ext cx="8321040" cy="566928"/>
          </a:xfrm>
          <a:prstGeom prst="rect">
            <a:avLst/>
          </a:prstGeom>
          <a:noFill/>
        </p:spPr>
        <p:txBody>
          <a:bodyPr wrap="square" lIns="0" rIns="0" anchor="ctr">
            <a:spAutoFit/>
          </a:bodyPr>
          <a:lstStyle/>
          <a:p>
            <a:r>
              <a:rPr sz="2800" b="1" i="0">
                <a:solidFill>
                  <a:srgbClr val="1B2F5B"/>
                </a:solidFill>
                <a:latin typeface="Times New Roman"/>
              </a:rPr>
              <a:t>Design: Cryptographic Building Blocks</a:t>
            </a:r>
          </a:p>
        </p:txBody>
      </p:sp>
      <p:graphicFrame>
        <p:nvGraphicFramePr>
          <p:cNvPr id="5" name="Table 4"/>
          <p:cNvGraphicFramePr>
            <a:graphicFrameLocks noGrp="1"/>
          </p:cNvGraphicFramePr>
          <p:nvPr/>
        </p:nvGraphicFramePr>
        <p:xfrm>
          <a:off x="457200" y="1417320"/>
          <a:ext cx="8229600" cy="3438144"/>
        </p:xfrm>
        <a:graphic>
          <a:graphicData uri="http://schemas.openxmlformats.org/drawingml/2006/table">
            <a:tbl>
              <a:tblPr firstRow="0" bandRow="0">
                <a:tableStyleId>{5C22544A-7EE6-4342-B048-85BDC9FD1C3A}</a:tableStyleId>
              </a:tblPr>
              <a:tblGrid>
                <a:gridCol w="2651760"/>
                <a:gridCol w="2103120"/>
                <a:gridCol w="3474720"/>
              </a:tblGrid>
              <a:tr h="429768">
                <a:tc>
                  <a:txBody>
                    <a:bodyPr wrap="square"/>
                    <a:lstStyle/>
                    <a:p>
                      <a:r>
                        <a:rPr sz="1300" b="1" i="0">
                          <a:solidFill>
                            <a:srgbClr val="FFFFFF"/>
                          </a:solidFill>
                          <a:latin typeface="Calibri"/>
                        </a:rPr>
                        <a:t>Mechanism</a:t>
                      </a:r>
                    </a:p>
                  </a:txBody>
                  <a:tcPr marL="54864" marR="54864" marT="27432" marB="27432" anchor="ctr">
                    <a:solidFill>
                      <a:srgbClr val="1B2F5B"/>
                    </a:solidFill>
                  </a:tcPr>
                </a:tc>
                <a:tc>
                  <a:txBody>
                    <a:bodyPr wrap="square"/>
                    <a:lstStyle/>
                    <a:p>
                      <a:r>
                        <a:rPr sz="1300" b="1" i="0">
                          <a:solidFill>
                            <a:srgbClr val="FFFFFF"/>
                          </a:solidFill>
                          <a:latin typeface="Calibri"/>
                        </a:rPr>
                        <a:t>Standard</a:t>
                      </a:r>
                    </a:p>
                  </a:txBody>
                  <a:tcPr marL="54864" marR="54864" marT="27432" marB="27432" anchor="ctr">
                    <a:solidFill>
                      <a:srgbClr val="1B2F5B"/>
                    </a:solidFill>
                  </a:tcPr>
                </a:tc>
                <a:tc>
                  <a:txBody>
                    <a:bodyPr wrap="square"/>
                    <a:lstStyle/>
                    <a:p>
                      <a:r>
                        <a:rPr sz="1300" b="1" i="0">
                          <a:solidFill>
                            <a:srgbClr val="FFFFFF"/>
                          </a:solidFill>
                          <a:latin typeface="Calibri"/>
                        </a:rPr>
                        <a:t>Role in SignGate</a:t>
                      </a:r>
                    </a:p>
                  </a:txBody>
                  <a:tcPr marL="54864" marR="54864" marT="27432" marB="27432" anchor="ctr">
                    <a:solidFill>
                      <a:srgbClr val="1B2F5B"/>
                    </a:solidFill>
                  </a:tcPr>
                </a:tc>
              </a:tr>
              <a:tr h="429768">
                <a:tc>
                  <a:txBody>
                    <a:bodyPr wrap="square"/>
                    <a:lstStyle/>
                    <a:p>
                      <a:r>
                        <a:rPr sz="1300" b="0" i="0">
                          <a:solidFill>
                            <a:srgbClr val="1D2433"/>
                          </a:solidFill>
                          <a:latin typeface="Calibri"/>
                        </a:rPr>
                        <a:t>SHA-256</a:t>
                      </a:r>
                    </a:p>
                  </a:txBody>
                  <a:tcPr marL="54864" marR="54864" marT="27432" marB="27432" anchor="ctr">
                    <a:solidFill>
                      <a:srgbClr val="FFFFFF"/>
                    </a:solidFill>
                  </a:tcPr>
                </a:tc>
                <a:tc>
                  <a:txBody>
                    <a:bodyPr wrap="square"/>
                    <a:lstStyle/>
                    <a:p>
                      <a:r>
                        <a:rPr sz="1300" b="0" i="0">
                          <a:solidFill>
                            <a:srgbClr val="1D2433"/>
                          </a:solidFill>
                          <a:latin typeface="Calibri"/>
                        </a:rPr>
                        <a:t>FIPS 180-4</a:t>
                      </a:r>
                    </a:p>
                  </a:txBody>
                  <a:tcPr marL="54864" marR="54864" marT="27432" marB="27432" anchor="ctr">
                    <a:solidFill>
                      <a:srgbClr val="FFFFFF"/>
                    </a:solidFill>
                  </a:tcPr>
                </a:tc>
                <a:tc>
                  <a:txBody>
                    <a:bodyPr wrap="square"/>
                    <a:lstStyle/>
                    <a:p>
                      <a:r>
                        <a:rPr sz="1300" b="0" i="0">
                          <a:solidFill>
                            <a:srgbClr val="1D2433"/>
                          </a:solidFill>
                          <a:latin typeface="Calibri"/>
                        </a:rPr>
                        <a:t>Fingerprint of uploader; log hash chain</a:t>
                      </a:r>
                    </a:p>
                  </a:txBody>
                  <a:tcPr marL="54864" marR="54864" marT="27432" marB="27432" anchor="ctr">
                    <a:solidFill>
                      <a:srgbClr val="FFFFFF"/>
                    </a:solidFill>
                  </a:tcPr>
                </a:tc>
              </a:tr>
              <a:tr h="429768">
                <a:tc>
                  <a:txBody>
                    <a:bodyPr wrap="square"/>
                    <a:lstStyle/>
                    <a:p>
                      <a:r>
                        <a:rPr sz="1300" b="0" i="0">
                          <a:solidFill>
                            <a:srgbClr val="1D2433"/>
                          </a:solidFill>
                          <a:latin typeface="Calibri"/>
                        </a:rPr>
                        <a:t>Ed25519 signature</a:t>
                      </a:r>
                    </a:p>
                  </a:txBody>
                  <a:tcPr marL="54864" marR="54864" marT="27432" marB="27432" anchor="ctr">
                    <a:solidFill>
                      <a:srgbClr val="EEF1FB"/>
                    </a:solidFill>
                  </a:tcPr>
                </a:tc>
                <a:tc>
                  <a:txBody>
                    <a:bodyPr wrap="square"/>
                    <a:lstStyle/>
                    <a:p>
                      <a:r>
                        <a:rPr sz="1300" b="0" i="0">
                          <a:solidFill>
                            <a:srgbClr val="1D2433"/>
                          </a:solidFill>
                          <a:latin typeface="Calibri"/>
                        </a:rPr>
                        <a:t>RFC 8032 / FIPS 186-5</a:t>
                      </a:r>
                    </a:p>
                  </a:txBody>
                  <a:tcPr marL="54864" marR="54864" marT="27432" marB="27432" anchor="ctr">
                    <a:solidFill>
                      <a:srgbClr val="EEF1FB"/>
                    </a:solidFill>
                  </a:tcPr>
                </a:tc>
                <a:tc>
                  <a:txBody>
                    <a:bodyPr wrap="square"/>
                    <a:lstStyle/>
                    <a:p>
                      <a:r>
                        <a:rPr sz="1300" b="0" i="0">
                          <a:solidFill>
                            <a:srgbClr val="1D2433"/>
                          </a:solidFill>
                          <a:latin typeface="Calibri"/>
                        </a:rPr>
                        <a:t>Signs manifest, key certs, CRL, log head</a:t>
                      </a:r>
                    </a:p>
                  </a:txBody>
                  <a:tcPr marL="54864" marR="54864" marT="27432" marB="27432" anchor="ctr">
                    <a:solidFill>
                      <a:srgbClr val="EEF1FB"/>
                    </a:solidFill>
                  </a:tcPr>
                </a:tc>
              </a:tr>
              <a:tr h="429768">
                <a:tc>
                  <a:txBody>
                    <a:bodyPr wrap="square"/>
                    <a:lstStyle/>
                    <a:p>
                      <a:r>
                        <a:rPr sz="1300" b="0" i="0">
                          <a:solidFill>
                            <a:srgbClr val="1D2433"/>
                          </a:solidFill>
                          <a:latin typeface="Calibri"/>
                        </a:rPr>
                        <a:t>Mini-PKI (root → release key)</a:t>
                      </a:r>
                    </a:p>
                  </a:txBody>
                  <a:tcPr marL="54864" marR="54864" marT="27432" marB="27432" anchor="ctr">
                    <a:solidFill>
                      <a:srgbClr val="FFFFFF"/>
                    </a:solidFill>
                  </a:tcPr>
                </a:tc>
                <a:tc>
                  <a:txBody>
                    <a:bodyPr wrap="square"/>
                    <a:lstStyle/>
                    <a:p>
                      <a:r>
                        <a:rPr sz="1300" b="0" i="0">
                          <a:solidFill>
                            <a:srgbClr val="1D2433"/>
                          </a:solidFill>
                          <a:latin typeface="Calibri"/>
                        </a:rPr>
                        <a:t>NIST SP 800-57</a:t>
                      </a:r>
                    </a:p>
                  </a:txBody>
                  <a:tcPr marL="54864" marR="54864" marT="27432" marB="27432" anchor="ctr">
                    <a:solidFill>
                      <a:srgbClr val="FFFFFF"/>
                    </a:solidFill>
                  </a:tcPr>
                </a:tc>
                <a:tc>
                  <a:txBody>
                    <a:bodyPr wrap="square"/>
                    <a:lstStyle/>
                    <a:p>
                      <a:r>
                        <a:rPr sz="1300" b="0" i="0">
                          <a:solidFill>
                            <a:srgbClr val="1D2433"/>
                          </a:solidFill>
                          <a:latin typeface="Calibri"/>
                        </a:rPr>
                        <a:t>90-day certified keys; rotation</a:t>
                      </a:r>
                    </a:p>
                  </a:txBody>
                  <a:tcPr marL="54864" marR="54864" marT="27432" marB="27432" anchor="ctr">
                    <a:solidFill>
                      <a:srgbClr val="FFFFFF"/>
                    </a:solidFill>
                  </a:tcPr>
                </a:tc>
              </a:tr>
              <a:tr h="429768">
                <a:tc>
                  <a:txBody>
                    <a:bodyPr wrap="square"/>
                    <a:lstStyle/>
                    <a:p>
                      <a:r>
                        <a:rPr sz="1300" b="0" i="0">
                          <a:solidFill>
                            <a:srgbClr val="1D2433"/>
                          </a:solidFill>
                          <a:latin typeface="Calibri"/>
                        </a:rPr>
                        <a:t>Signed revocation list</a:t>
                      </a:r>
                    </a:p>
                  </a:txBody>
                  <a:tcPr marL="54864" marR="54864" marT="27432" marB="27432" anchor="ctr">
                    <a:solidFill>
                      <a:srgbClr val="EEF1FB"/>
                    </a:solidFill>
                  </a:tcPr>
                </a:tc>
                <a:tc>
                  <a:txBody>
                    <a:bodyPr wrap="square"/>
                    <a:lstStyle/>
                    <a:p>
                      <a:r>
                        <a:rPr sz="1300" b="0" i="0">
                          <a:solidFill>
                            <a:srgbClr val="1D2433"/>
                          </a:solidFill>
                          <a:latin typeface="Calibri"/>
                        </a:rPr>
                        <a:t>X.509-CRL style</a:t>
                      </a:r>
                    </a:p>
                  </a:txBody>
                  <a:tcPr marL="54864" marR="54864" marT="27432" marB="27432" anchor="ctr">
                    <a:solidFill>
                      <a:srgbClr val="EEF1FB"/>
                    </a:solidFill>
                  </a:tcPr>
                </a:tc>
                <a:tc>
                  <a:txBody>
                    <a:bodyPr wrap="square"/>
                    <a:lstStyle/>
                    <a:p>
                      <a:r>
                        <a:rPr sz="1300" b="0" i="0">
                          <a:solidFill>
                            <a:srgbClr val="1D2433"/>
                          </a:solidFill>
                          <a:latin typeface="Calibri"/>
                        </a:rPr>
                        <a:t>Blocks stolen keys / bad artifacts</a:t>
                      </a:r>
                    </a:p>
                  </a:txBody>
                  <a:tcPr marL="54864" marR="54864" marT="27432" marB="27432" anchor="ctr">
                    <a:solidFill>
                      <a:srgbClr val="EEF1FB"/>
                    </a:solidFill>
                  </a:tcPr>
                </a:tc>
              </a:tr>
              <a:tr h="429768">
                <a:tc>
                  <a:txBody>
                    <a:bodyPr wrap="square"/>
                    <a:lstStyle/>
                    <a:p>
                      <a:r>
                        <a:rPr sz="1300" b="0" i="0">
                          <a:solidFill>
                            <a:srgbClr val="1D2433"/>
                          </a:solidFill>
                          <a:latin typeface="Calibri"/>
                        </a:rPr>
                        <a:t>Hash-chained transparency log</a:t>
                      </a:r>
                    </a:p>
                  </a:txBody>
                  <a:tcPr marL="54864" marR="54864" marT="27432" marB="27432" anchor="ctr">
                    <a:solidFill>
                      <a:srgbClr val="FFFFFF"/>
                    </a:solidFill>
                  </a:tcPr>
                </a:tc>
                <a:tc>
                  <a:txBody>
                    <a:bodyPr wrap="square"/>
                    <a:lstStyle/>
                    <a:p>
                      <a:r>
                        <a:rPr sz="1300" b="0" i="0">
                          <a:solidFill>
                            <a:srgbClr val="1D2433"/>
                          </a:solidFill>
                          <a:latin typeface="Calibri"/>
                        </a:rPr>
                        <a:t>RFC 6962 (CT) idea</a:t>
                      </a:r>
                    </a:p>
                  </a:txBody>
                  <a:tcPr marL="54864" marR="54864" marT="27432" marB="27432" anchor="ctr">
                    <a:solidFill>
                      <a:srgbClr val="FFFFFF"/>
                    </a:solidFill>
                  </a:tcPr>
                </a:tc>
                <a:tc>
                  <a:txBody>
                    <a:bodyPr wrap="square"/>
                    <a:lstStyle/>
                    <a:p>
                      <a:r>
                        <a:rPr sz="1300" b="0" i="0">
                          <a:solidFill>
                            <a:srgbClr val="1D2433"/>
                          </a:solidFill>
                          <a:latin typeface="Calibri"/>
                        </a:rPr>
                        <a:t>Makes silent key misuse visible</a:t>
                      </a:r>
                    </a:p>
                  </a:txBody>
                  <a:tcPr marL="54864" marR="54864" marT="27432" marB="27432" anchor="ctr">
                    <a:solidFill>
                      <a:srgbClr val="FFFFFF"/>
                    </a:solidFill>
                  </a:tcPr>
                </a:tc>
              </a:tr>
              <a:tr h="429768">
                <a:tc>
                  <a:txBody>
                    <a:bodyPr wrap="square"/>
                    <a:lstStyle/>
                    <a:p>
                      <a:r>
                        <a:rPr sz="1300" b="0" i="0">
                          <a:solidFill>
                            <a:srgbClr val="1D2433"/>
                          </a:solidFill>
                          <a:latin typeface="Calibri"/>
                        </a:rPr>
                        <a:t>AES-256 PKCS#8, HSM/KMS</a:t>
                      </a:r>
                    </a:p>
                  </a:txBody>
                  <a:tcPr marL="54864" marR="54864" marT="27432" marB="27432" anchor="ctr">
                    <a:solidFill>
                      <a:srgbClr val="EEF1FB"/>
                    </a:solidFill>
                  </a:tcPr>
                </a:tc>
                <a:tc>
                  <a:txBody>
                    <a:bodyPr wrap="square"/>
                    <a:lstStyle/>
                    <a:p>
                      <a:r>
                        <a:rPr sz="1300" b="0" i="0">
                          <a:solidFill>
                            <a:srgbClr val="1D2433"/>
                          </a:solidFill>
                          <a:latin typeface="Calibri"/>
                        </a:rPr>
                        <a:t>FIPS 197</a:t>
                      </a:r>
                    </a:p>
                  </a:txBody>
                  <a:tcPr marL="54864" marR="54864" marT="27432" marB="27432" anchor="ctr">
                    <a:solidFill>
                      <a:srgbClr val="EEF1FB"/>
                    </a:solidFill>
                  </a:tcPr>
                </a:tc>
                <a:tc>
                  <a:txBody>
                    <a:bodyPr wrap="square"/>
                    <a:lstStyle/>
                    <a:p>
                      <a:r>
                        <a:rPr sz="1300" b="0" i="0">
                          <a:solidFill>
                            <a:srgbClr val="1D2433"/>
                          </a:solidFill>
                          <a:latin typeface="Calibri"/>
                        </a:rPr>
                        <a:t>Private keys never in plain text</a:t>
                      </a:r>
                    </a:p>
                  </a:txBody>
                  <a:tcPr marL="54864" marR="54864" marT="27432" marB="27432" anchor="ctr">
                    <a:solidFill>
                      <a:srgbClr val="EEF1FB"/>
                    </a:solidFill>
                  </a:tcPr>
                </a:tc>
              </a:tr>
              <a:tr h="429768">
                <a:tc>
                  <a:txBody>
                    <a:bodyPr wrap="square"/>
                    <a:lstStyle/>
                    <a:p>
                      <a:r>
                        <a:rPr sz="1300" b="0" i="0">
                          <a:solidFill>
                            <a:srgbClr val="1D2433"/>
                          </a:solidFill>
                          <a:latin typeface="Calibri"/>
                        </a:rPr>
                        <a:t>TLS 1.3 + workload identity</a:t>
                      </a:r>
                    </a:p>
                  </a:txBody>
                  <a:tcPr marL="54864" marR="54864" marT="27432" marB="27432" anchor="ctr">
                    <a:solidFill>
                      <a:srgbClr val="FFFFFF"/>
                    </a:solidFill>
                  </a:tcPr>
                </a:tc>
                <a:tc>
                  <a:txBody>
                    <a:bodyPr wrap="square"/>
                    <a:lstStyle/>
                    <a:p>
                      <a:r>
                        <a:rPr sz="1300" b="0" i="0">
                          <a:solidFill>
                            <a:srgbClr val="1D2433"/>
                          </a:solidFill>
                          <a:latin typeface="Calibri"/>
                        </a:rPr>
                        <a:t>RFC 8446, OIDC</a:t>
                      </a:r>
                    </a:p>
                  </a:txBody>
                  <a:tcPr marL="54864" marR="54864" marT="27432" marB="27432" anchor="ctr">
                    <a:solidFill>
                      <a:srgbClr val="FFFFFF"/>
                    </a:solidFill>
                  </a:tcPr>
                </a:tc>
                <a:tc>
                  <a:txBody>
                    <a:bodyPr wrap="square"/>
                    <a:lstStyle/>
                    <a:p>
                      <a:r>
                        <a:rPr sz="1300" b="0" i="0">
                          <a:solidFill>
                            <a:srgbClr val="1D2433"/>
                          </a:solidFill>
                          <a:latin typeface="Calibri"/>
                        </a:rPr>
                        <a:t>Transport; replaces static HMAC key</a:t>
                      </a:r>
                    </a:p>
                  </a:txBody>
                  <a:tcPr marL="54864" marR="54864" marT="27432" marB="27432" anchor="ctr">
                    <a:solidFill>
                      <a:srgbClr val="FFFFFF"/>
                    </a:solidFill>
                  </a:tcPr>
                </a:tc>
              </a:tr>
            </a:tbl>
          </a:graphicData>
        </a:graphic>
      </p:graphicFrame>
      <p:sp>
        <p:nvSpPr>
          <p:cNvPr id="6" name="Rounded Rectangle 5"/>
          <p:cNvSpPr/>
          <p:nvPr/>
        </p:nvSpPr>
        <p:spPr>
          <a:xfrm>
            <a:off x="457200" y="5029200"/>
            <a:ext cx="8229600" cy="1097280"/>
          </a:xfrm>
          <a:prstGeom prst="roundRect">
            <a:avLst>
              <a:gd name="adj" fmla="val 8000"/>
            </a:avLst>
          </a:prstGeom>
          <a:solidFill>
            <a:srgbClr val="E6F4EC"/>
          </a:solidFill>
          <a:ln w="15875">
            <a:solidFill>
              <a:srgbClr val="1E7D4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0080" y="5074920"/>
            <a:ext cx="7863840" cy="1005840"/>
          </a:xfrm>
          <a:prstGeom prst="rect">
            <a:avLst/>
          </a:prstGeom>
          <a:noFill/>
        </p:spPr>
        <p:txBody>
          <a:bodyPr wrap="square" anchor="ctr" lIns="36576" rIns="36576">
            <a:spAutoFit/>
          </a:bodyPr>
          <a:lstStyle/>
          <a:p>
            <a:pPr algn="l">
              <a:spcAft>
                <a:spcPts val="400"/>
              </a:spcAft>
            </a:pPr>
            <a:r>
              <a:rPr sz="1400" b="1" i="0">
                <a:solidFill>
                  <a:srgbClr val="1D2433"/>
                </a:solidFill>
                <a:latin typeface="Calibri"/>
              </a:rPr>
              <a:t>Why a signature, not just a hash?  </a:t>
            </a:r>
            <a:r>
              <a:rPr sz="1400" b="0" i="0">
                <a:solidFill>
                  <a:srgbClr val="1D2433"/>
                </a:solidFill>
                <a:latin typeface="Calibri"/>
              </a:rPr>
              <a:t>An attacker who can edit the file can also edit the published hash. σ = Sign(SK_release, SHA-256 manifest) can only be produced with the private key, and it is verified with a public key pinned in the customer's repo.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11480" y="713232"/>
            <a:ext cx="8321040" cy="566928"/>
          </a:xfrm>
          <a:prstGeom prst="rect">
            <a:avLst/>
          </a:prstGeom>
          <a:noFill/>
        </p:spPr>
        <p:txBody>
          <a:bodyPr wrap="square" lIns="0" rIns="0" anchor="ctr">
            <a:spAutoFit/>
          </a:bodyPr>
          <a:lstStyle/>
          <a:p>
            <a:r>
              <a:rPr sz="2800" b="1" i="0">
                <a:solidFill>
                  <a:srgbClr val="1B2F5B"/>
                </a:solidFill>
                <a:latin typeface="Times New Roman"/>
              </a:rPr>
              <a:t>Design: Key Management</a:t>
            </a:r>
          </a:p>
        </p:txBody>
      </p:sp>
      <p:sp>
        <p:nvSpPr>
          <p:cNvPr id="5" name="Rectangle 4"/>
          <p:cNvSpPr/>
          <p:nvPr/>
        </p:nvSpPr>
        <p:spPr>
          <a:xfrm>
            <a:off x="448056" y="1408176"/>
            <a:ext cx="8247888" cy="3141192"/>
          </a:xfrm>
          <a:prstGeom prst="rect">
            <a:avLst/>
          </a:prstGeom>
          <a:solidFill>
            <a:srgbClr val="FFFFFF"/>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keys.png"/>
          <p:cNvPicPr>
            <a:picLocks noChangeAspect="1"/>
          </p:cNvPicPr>
          <p:nvPr/>
        </p:nvPicPr>
        <p:blipFill>
          <a:blip r:embed="rId3"/>
          <a:stretch>
            <a:fillRect/>
          </a:stretch>
        </p:blipFill>
        <p:spPr>
          <a:xfrm>
            <a:off x="502920" y="1463040"/>
            <a:ext cx="8138160" cy="3031464"/>
          </a:xfrm>
          <a:prstGeom prst="rect">
            <a:avLst/>
          </a:prstGeom>
        </p:spPr>
      </p:pic>
      <p:sp>
        <p:nvSpPr>
          <p:cNvPr id="7" name="TextBox 6"/>
          <p:cNvSpPr txBox="1"/>
          <p:nvPr/>
        </p:nvSpPr>
        <p:spPr>
          <a:xfrm>
            <a:off x="457200" y="4663440"/>
            <a:ext cx="8229600" cy="1645920"/>
          </a:xfrm>
          <a:prstGeom prst="rect">
            <a:avLst/>
          </a:prstGeom>
          <a:noFill/>
        </p:spPr>
        <p:txBody>
          <a:bodyPr wrap="square" anchor="t" lIns="36576" rIns="36576">
            <a:spAutoFit/>
          </a:bodyPr>
          <a:lstStyle/>
          <a:p>
            <a:pPr algn="l" marL="228600" indent="-201168">
              <a:spcAft>
                <a:spcPts val="500"/>
              </a:spcAft>
              <a:buChar char="•"/>
            </a:pPr>
            <a:r>
              <a:rPr sz="1500" b="1" i="0">
                <a:solidFill>
                  <a:srgbClr val="1D2433"/>
                </a:solidFill>
                <a:latin typeface="Calibri"/>
              </a:rPr>
              <a:t>Separation of duties: </a:t>
            </a:r>
            <a:r>
              <a:rPr sz="1500" b="0" i="0">
                <a:solidFill>
                  <a:srgbClr val="1D2433"/>
                </a:solidFill>
                <a:latin typeface="Calibri"/>
              </a:rPr>
              <a:t>root (offline HSM), release (KMS), log (separate operator)</a:t>
            </a:r>
          </a:p>
          <a:p>
            <a:pPr algn="l" marL="228600" indent="-201168">
              <a:spcAft>
                <a:spcPts val="500"/>
              </a:spcAft>
              <a:buChar char="•"/>
            </a:pPr>
            <a:r>
              <a:rPr sz="1500" b="1" i="0">
                <a:solidFill>
                  <a:srgbClr val="1D2433"/>
                </a:solidFill>
                <a:latin typeface="Calibri"/>
              </a:rPr>
              <a:t>Rotation: </a:t>
            </a:r>
            <a:r>
              <a:rPr sz="1500" b="0" i="0">
                <a:solidFill>
                  <a:srgbClr val="1D2433"/>
                </a:solidFill>
                <a:latin typeface="Calibri"/>
              </a:rPr>
              <a:t>new release key every 90 days; customers change nothing</a:t>
            </a:r>
          </a:p>
          <a:p>
            <a:pPr algn="l" marL="228600" indent="-201168">
              <a:spcAft>
                <a:spcPts val="500"/>
              </a:spcAft>
              <a:buChar char="•"/>
            </a:pPr>
            <a:r>
              <a:rPr sz="1500" b="1" i="0">
                <a:solidFill>
                  <a:srgbClr val="1D2433"/>
                </a:solidFill>
                <a:latin typeface="Calibri"/>
              </a:rPr>
              <a:t>Revocation: </a:t>
            </a:r>
            <a:r>
              <a:rPr sz="1500" b="0" i="0">
                <a:solidFill>
                  <a:srgbClr val="1D2433"/>
                </a:solidFill>
                <a:latin typeface="Calibri"/>
              </a:rPr>
              <a:t>root-signed CRL blocks a leaked key on every CI run immediately</a:t>
            </a:r>
          </a:p>
          <a:p>
            <a:pPr algn="l" marL="228600" indent="-201168">
              <a:spcAft>
                <a:spcPts val="500"/>
              </a:spcAft>
              <a:buChar char="•"/>
            </a:pPr>
            <a:r>
              <a:rPr sz="1500" b="1" i="0">
                <a:solidFill>
                  <a:srgbClr val="1D2433"/>
                </a:solidFill>
                <a:latin typeface="Calibri"/>
              </a:rPr>
              <a:t>Root cause fixed: </a:t>
            </a:r>
            <a:r>
              <a:rPr sz="1500" b="0" i="0">
                <a:solidFill>
                  <a:srgbClr val="1D2433"/>
                </a:solidFill>
                <a:latin typeface="Calibri"/>
              </a:rPr>
              <a:t>no long-lived secret inside build images; secret-scan every layer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11480" y="713232"/>
            <a:ext cx="8321040" cy="566928"/>
          </a:xfrm>
          <a:prstGeom prst="rect">
            <a:avLst/>
          </a:prstGeom>
          <a:noFill/>
        </p:spPr>
        <p:txBody>
          <a:bodyPr wrap="square" lIns="0" rIns="0" anchor="ctr">
            <a:spAutoFit/>
          </a:bodyPr>
          <a:lstStyle/>
          <a:p>
            <a:r>
              <a:rPr sz="2800" b="1" i="0">
                <a:solidFill>
                  <a:srgbClr val="1B2F5B"/>
                </a:solidFill>
                <a:latin typeface="Times New Roman"/>
              </a:rPr>
              <a:t>Implementation: Verify-Before-Execute Gate</a:t>
            </a:r>
          </a:p>
        </p:txBody>
      </p:sp>
      <p:sp>
        <p:nvSpPr>
          <p:cNvPr id="5" name="Rectangle 4"/>
          <p:cNvSpPr/>
          <p:nvPr/>
        </p:nvSpPr>
        <p:spPr>
          <a:xfrm>
            <a:off x="448056" y="1650187"/>
            <a:ext cx="5413248" cy="4334865"/>
          </a:xfrm>
          <a:prstGeom prst="rect">
            <a:avLst/>
          </a:prstGeom>
          <a:solidFill>
            <a:srgbClr val="FFFFFF"/>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low.png"/>
          <p:cNvPicPr>
            <a:picLocks noChangeAspect="1"/>
          </p:cNvPicPr>
          <p:nvPr/>
        </p:nvPicPr>
        <p:blipFill>
          <a:blip r:embed="rId3"/>
          <a:stretch>
            <a:fillRect/>
          </a:stretch>
        </p:blipFill>
        <p:spPr>
          <a:xfrm>
            <a:off x="502920" y="1705051"/>
            <a:ext cx="5303520" cy="4225137"/>
          </a:xfrm>
          <a:prstGeom prst="rect">
            <a:avLst/>
          </a:prstGeom>
        </p:spPr>
      </p:pic>
      <p:graphicFrame>
        <p:nvGraphicFramePr>
          <p:cNvPr id="7" name="Table 6"/>
          <p:cNvGraphicFramePr>
            <a:graphicFrameLocks noGrp="1"/>
          </p:cNvGraphicFramePr>
          <p:nvPr/>
        </p:nvGraphicFramePr>
        <p:xfrm>
          <a:off x="6035040" y="1463040"/>
          <a:ext cx="2651760" cy="2304288"/>
        </p:xfrm>
        <a:graphic>
          <a:graphicData uri="http://schemas.openxmlformats.org/drawingml/2006/table">
            <a:tbl>
              <a:tblPr firstRow="0" bandRow="0">
                <a:tableStyleId>{5C22544A-7EE6-4342-B048-85BDC9FD1C3A}</a:tableStyleId>
              </a:tblPr>
              <a:tblGrid>
                <a:gridCol w="1051560"/>
                <a:gridCol w="1600200"/>
              </a:tblGrid>
              <a:tr h="329184">
                <a:tc>
                  <a:txBody>
                    <a:bodyPr wrap="square"/>
                    <a:lstStyle/>
                    <a:p>
                      <a:r>
                        <a:rPr sz="1100" b="1" i="0">
                          <a:solidFill>
                            <a:srgbClr val="FFFFFF"/>
                          </a:solidFill>
                          <a:latin typeface="Calibri"/>
                        </a:rPr>
                        <a:t>Module</a:t>
                      </a:r>
                    </a:p>
                  </a:txBody>
                  <a:tcPr marL="54864" marR="54864" marT="27432" marB="27432" anchor="ctr">
                    <a:solidFill>
                      <a:srgbClr val="1B2F5B"/>
                    </a:solidFill>
                  </a:tcPr>
                </a:tc>
                <a:tc>
                  <a:txBody>
                    <a:bodyPr wrap="square"/>
                    <a:lstStyle/>
                    <a:p>
                      <a:r>
                        <a:rPr sz="1100" b="1" i="0">
                          <a:solidFill>
                            <a:srgbClr val="FFFFFF"/>
                          </a:solidFill>
                          <a:latin typeface="Calibri"/>
                        </a:rPr>
                        <a:t>Does</a:t>
                      </a:r>
                    </a:p>
                  </a:txBody>
                  <a:tcPr marL="54864" marR="54864" marT="27432" marB="27432" anchor="ctr">
                    <a:solidFill>
                      <a:srgbClr val="1B2F5B"/>
                    </a:solidFill>
                  </a:tcPr>
                </a:tc>
              </a:tr>
              <a:tr h="329184">
                <a:tc>
                  <a:txBody>
                    <a:bodyPr wrap="square"/>
                    <a:lstStyle/>
                    <a:p>
                      <a:r>
                        <a:rPr sz="1100" b="0" i="0">
                          <a:solidFill>
                            <a:srgbClr val="1D2433"/>
                          </a:solidFill>
                          <a:latin typeface="Calibri"/>
                        </a:rPr>
                        <a:t>crypto_utils</a:t>
                      </a:r>
                    </a:p>
                  </a:txBody>
                  <a:tcPr marL="54864" marR="54864" marT="27432" marB="27432" anchor="ctr">
                    <a:solidFill>
                      <a:srgbClr val="FFFFFF"/>
                    </a:solidFill>
                  </a:tcPr>
                </a:tc>
                <a:tc>
                  <a:txBody>
                    <a:bodyPr wrap="square"/>
                    <a:lstStyle/>
                    <a:p>
                      <a:r>
                        <a:rPr sz="1100" b="0" i="0">
                          <a:solidFill>
                            <a:srgbClr val="1D2433"/>
                          </a:solidFill>
                          <a:latin typeface="Calibri"/>
                        </a:rPr>
                        <a:t>SHA-256, Ed25519, AES keys</a:t>
                      </a:r>
                    </a:p>
                  </a:txBody>
                  <a:tcPr marL="54864" marR="54864" marT="27432" marB="27432" anchor="ctr">
                    <a:solidFill>
                      <a:srgbClr val="FFFFFF"/>
                    </a:solidFill>
                  </a:tcPr>
                </a:tc>
              </a:tr>
              <a:tr h="329184">
                <a:tc>
                  <a:txBody>
                    <a:bodyPr wrap="square"/>
                    <a:lstStyle/>
                    <a:p>
                      <a:r>
                        <a:rPr sz="1100" b="0" i="0">
                          <a:solidFill>
                            <a:srgbClr val="1D2433"/>
                          </a:solidFill>
                          <a:latin typeface="Calibri"/>
                        </a:rPr>
                        <a:t>pki</a:t>
                      </a:r>
                    </a:p>
                  </a:txBody>
                  <a:tcPr marL="54864" marR="54864" marT="27432" marB="27432" anchor="ctr">
                    <a:solidFill>
                      <a:srgbClr val="EEF1FB"/>
                    </a:solidFill>
                  </a:tcPr>
                </a:tc>
                <a:tc>
                  <a:txBody>
                    <a:bodyPr wrap="square"/>
                    <a:lstStyle/>
                    <a:p>
                      <a:r>
                        <a:rPr sz="1100" b="0" i="0">
                          <a:solidFill>
                            <a:srgbClr val="1D2433"/>
                          </a:solidFill>
                          <a:latin typeface="Calibri"/>
                        </a:rPr>
                        <a:t>Key certs, revocation</a:t>
                      </a:r>
                    </a:p>
                  </a:txBody>
                  <a:tcPr marL="54864" marR="54864" marT="27432" marB="27432" anchor="ctr">
                    <a:solidFill>
                      <a:srgbClr val="EEF1FB"/>
                    </a:solidFill>
                  </a:tcPr>
                </a:tc>
              </a:tr>
              <a:tr h="329184">
                <a:tc>
                  <a:txBody>
                    <a:bodyPr wrap="square"/>
                    <a:lstStyle/>
                    <a:p>
                      <a:r>
                        <a:rPr sz="1100" b="0" i="0">
                          <a:solidFill>
                            <a:srgbClr val="1D2433"/>
                          </a:solidFill>
                          <a:latin typeface="Calibri"/>
                        </a:rPr>
                        <a:t>tlog</a:t>
                      </a:r>
                    </a:p>
                  </a:txBody>
                  <a:tcPr marL="54864" marR="54864" marT="27432" marB="27432" anchor="ctr">
                    <a:solidFill>
                      <a:srgbClr val="FFFFFF"/>
                    </a:solidFill>
                  </a:tcPr>
                </a:tc>
                <a:tc>
                  <a:txBody>
                    <a:bodyPr wrap="square"/>
                    <a:lstStyle/>
                    <a:p>
                      <a:r>
                        <a:rPr sz="1100" b="0" i="0">
                          <a:solidFill>
                            <a:srgbClr val="1D2433"/>
                          </a:solidFill>
                          <a:latin typeface="Calibri"/>
                        </a:rPr>
                        <a:t>Hash-chained log</a:t>
                      </a:r>
                    </a:p>
                  </a:txBody>
                  <a:tcPr marL="54864" marR="54864" marT="27432" marB="27432" anchor="ctr">
                    <a:solidFill>
                      <a:srgbClr val="FFFFFF"/>
                    </a:solidFill>
                  </a:tcPr>
                </a:tc>
              </a:tr>
              <a:tr h="329184">
                <a:tc>
                  <a:txBody>
                    <a:bodyPr wrap="square"/>
                    <a:lstStyle/>
                    <a:p>
                      <a:r>
                        <a:rPr sz="1100" b="0" i="0">
                          <a:solidFill>
                            <a:srgbClr val="1D2433"/>
                          </a:solidFill>
                          <a:latin typeface="Calibri"/>
                        </a:rPr>
                        <a:t>publisher</a:t>
                      </a:r>
                    </a:p>
                  </a:txBody>
                  <a:tcPr marL="54864" marR="54864" marT="27432" marB="27432" anchor="ctr">
                    <a:solidFill>
                      <a:srgbClr val="EEF1FB"/>
                    </a:solidFill>
                  </a:tcPr>
                </a:tc>
                <a:tc>
                  <a:txBody>
                    <a:bodyPr wrap="square"/>
                    <a:lstStyle/>
                    <a:p>
                      <a:r>
                        <a:rPr sz="1100" b="0" i="0">
                          <a:solidFill>
                            <a:srgbClr val="1D2433"/>
                          </a:solidFill>
                          <a:latin typeface="Calibri"/>
                        </a:rPr>
                        <a:t>Hash → sign → log → publish</a:t>
                      </a:r>
                    </a:p>
                  </a:txBody>
                  <a:tcPr marL="54864" marR="54864" marT="27432" marB="27432" anchor="ctr">
                    <a:solidFill>
                      <a:srgbClr val="EEF1FB"/>
                    </a:solidFill>
                  </a:tcPr>
                </a:tc>
              </a:tr>
              <a:tr h="329184">
                <a:tc>
                  <a:txBody>
                    <a:bodyPr wrap="square"/>
                    <a:lstStyle/>
                    <a:p>
                      <a:r>
                        <a:rPr sz="1100" b="0" i="0">
                          <a:solidFill>
                            <a:srgbClr val="1D2433"/>
                          </a:solidFill>
                          <a:latin typeface="Calibri"/>
                        </a:rPr>
                        <a:t>gate</a:t>
                      </a:r>
                    </a:p>
                  </a:txBody>
                  <a:tcPr marL="54864" marR="54864" marT="27432" marB="27432" anchor="ctr">
                    <a:solidFill>
                      <a:srgbClr val="FFFFFF"/>
                    </a:solidFill>
                  </a:tcPr>
                </a:tc>
                <a:tc>
                  <a:txBody>
                    <a:bodyPr wrap="square"/>
                    <a:lstStyle/>
                    <a:p>
                      <a:r>
                        <a:rPr sz="1100" b="0" i="0">
                          <a:solidFill>
                            <a:srgbClr val="1D2433"/>
                          </a:solidFill>
                          <a:latin typeface="Calibri"/>
                        </a:rPr>
                        <a:t>6 checks + env allowlist</a:t>
                      </a:r>
                    </a:p>
                  </a:txBody>
                  <a:tcPr marL="54864" marR="54864" marT="27432" marB="27432" anchor="ctr">
                    <a:solidFill>
                      <a:srgbClr val="FFFFFF"/>
                    </a:solidFill>
                  </a:tcPr>
                </a:tc>
              </a:tr>
              <a:tr h="329184">
                <a:tc>
                  <a:txBody>
                    <a:bodyPr wrap="square"/>
                    <a:lstStyle/>
                    <a:p>
                      <a:r>
                        <a:rPr sz="1100" b="0" i="0">
                          <a:solidFill>
                            <a:srgbClr val="1D2433"/>
                          </a:solidFill>
                          <a:latin typeface="Calibri"/>
                        </a:rPr>
                        <a:t>monitor</a:t>
                      </a:r>
                    </a:p>
                  </a:txBody>
                  <a:tcPr marL="54864" marR="54864" marT="27432" marB="27432" anchor="ctr">
                    <a:solidFill>
                      <a:srgbClr val="EEF1FB"/>
                    </a:solidFill>
                  </a:tcPr>
                </a:tc>
                <a:tc>
                  <a:txBody>
                    <a:bodyPr wrap="square"/>
                    <a:lstStyle/>
                    <a:p>
                      <a:r>
                        <a:rPr sz="1100" b="0" i="0">
                          <a:solidFill>
                            <a:srgbClr val="1D2433"/>
                          </a:solidFill>
                          <a:latin typeface="Calibri"/>
                        </a:rPr>
                        <a:t>Tamper alerts</a:t>
                      </a:r>
                    </a:p>
                  </a:txBody>
                  <a:tcPr marL="54864" marR="54864" marT="27432" marB="27432" anchor="ctr">
                    <a:solidFill>
                      <a:srgbClr val="EEF1FB"/>
                    </a:solidFill>
                  </a:tcPr>
                </a:tc>
              </a:tr>
            </a:tbl>
          </a:graphicData>
        </a:graphic>
      </p:graphicFrame>
      <p:sp>
        <p:nvSpPr>
          <p:cNvPr id="8" name="Rounded Rectangle 7"/>
          <p:cNvSpPr/>
          <p:nvPr/>
        </p:nvSpPr>
        <p:spPr>
          <a:xfrm>
            <a:off x="6035040" y="3977639"/>
            <a:ext cx="2651760" cy="868680"/>
          </a:xfrm>
          <a:prstGeom prst="roundRect">
            <a:avLst>
              <a:gd name="adj" fmla="val 8000"/>
            </a:avLst>
          </a:prstGeom>
          <a:solidFill>
            <a:srgbClr val="FDECEA"/>
          </a:solidFill>
          <a:ln w="15875">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108192" y="4005072"/>
            <a:ext cx="2514600" cy="822960"/>
          </a:xfrm>
          <a:prstGeom prst="rect">
            <a:avLst/>
          </a:prstGeom>
          <a:noFill/>
        </p:spPr>
        <p:txBody>
          <a:bodyPr wrap="square" anchor="t" lIns="36576" rIns="36576">
            <a:spAutoFit/>
          </a:bodyPr>
          <a:lstStyle/>
          <a:p>
            <a:pPr algn="l">
              <a:spcAft>
                <a:spcPts val="100"/>
              </a:spcAft>
            </a:pPr>
            <a:r>
              <a:rPr sz="1150" b="1" i="0">
                <a:solidFill>
                  <a:srgbClr val="B3261E"/>
                </a:solidFill>
                <a:latin typeface="Calibri"/>
              </a:rPr>
              <a:t>Before</a:t>
            </a:r>
          </a:p>
          <a:p>
            <a:pPr algn="l">
              <a:spcAft>
                <a:spcPts val="100"/>
              </a:spcAft>
            </a:pPr>
            <a:r>
              <a:rPr sz="1150" b="0" i="0">
                <a:solidFill>
                  <a:srgbClr val="B3261E"/>
                </a:solidFill>
                <a:latin typeface="Calibri"/>
              </a:rPr>
              <a:t>bash &lt;(curl -s codecov.io/bash)</a:t>
            </a:r>
          </a:p>
        </p:txBody>
      </p:sp>
      <p:sp>
        <p:nvSpPr>
          <p:cNvPr id="10" name="Rounded Rectangle 9"/>
          <p:cNvSpPr/>
          <p:nvPr/>
        </p:nvSpPr>
        <p:spPr>
          <a:xfrm>
            <a:off x="6035040" y="4983480"/>
            <a:ext cx="2651760" cy="1188720"/>
          </a:xfrm>
          <a:prstGeom prst="roundRect">
            <a:avLst>
              <a:gd name="adj" fmla="val 8000"/>
            </a:avLst>
          </a:prstGeom>
          <a:solidFill>
            <a:srgbClr val="E6F4EC"/>
          </a:solidFill>
          <a:ln w="15875">
            <a:solidFill>
              <a:srgbClr val="1E7D4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108192" y="5010912"/>
            <a:ext cx="2514600" cy="1143000"/>
          </a:xfrm>
          <a:prstGeom prst="rect">
            <a:avLst/>
          </a:prstGeom>
          <a:noFill/>
        </p:spPr>
        <p:txBody>
          <a:bodyPr wrap="square" anchor="t" lIns="36576" rIns="36576">
            <a:spAutoFit/>
          </a:bodyPr>
          <a:lstStyle/>
          <a:p>
            <a:pPr algn="l">
              <a:spcAft>
                <a:spcPts val="100"/>
              </a:spcAft>
            </a:pPr>
            <a:r>
              <a:rPr sz="1150" b="1" i="0">
                <a:solidFill>
                  <a:srgbClr val="1E7D46"/>
                </a:solidFill>
                <a:latin typeface="Calibri"/>
              </a:rPr>
              <a:t>After</a:t>
            </a:r>
          </a:p>
          <a:p>
            <a:pPr algn="l">
              <a:spcAft>
                <a:spcPts val="100"/>
              </a:spcAft>
            </a:pPr>
            <a:r>
              <a:rPr sz="1150" b="0" i="0">
                <a:solidFill>
                  <a:srgbClr val="1E7D46"/>
                </a:solidFill>
                <a:latin typeface="Calibri"/>
              </a:rPr>
              <a:t>python -m signgate.cli run --bucket b/ --policy policy.json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11480" y="713232"/>
            <a:ext cx="8321040" cy="566928"/>
          </a:xfrm>
          <a:prstGeom prst="rect">
            <a:avLst/>
          </a:prstGeom>
          <a:noFill/>
        </p:spPr>
        <p:txBody>
          <a:bodyPr wrap="square" lIns="0" rIns="0" anchor="ctr">
            <a:spAutoFit/>
          </a:bodyPr>
          <a:lstStyle/>
          <a:p>
            <a:r>
              <a:rPr sz="2800" b="1" i="0">
                <a:solidFill>
                  <a:srgbClr val="1B2F5B"/>
                </a:solidFill>
                <a:latin typeface="Times New Roman"/>
              </a:rPr>
              <a:t>Security Analysis: STRIDE Threat Model</a:t>
            </a:r>
          </a:p>
        </p:txBody>
      </p:sp>
      <p:graphicFrame>
        <p:nvGraphicFramePr>
          <p:cNvPr id="5" name="Table 4"/>
          <p:cNvGraphicFramePr>
            <a:graphicFrameLocks noGrp="1"/>
          </p:cNvGraphicFramePr>
          <p:nvPr/>
        </p:nvGraphicFramePr>
        <p:xfrm>
          <a:off x="457200" y="1417320"/>
          <a:ext cx="8229600" cy="3438144"/>
        </p:xfrm>
        <a:graphic>
          <a:graphicData uri="http://schemas.openxmlformats.org/drawingml/2006/table">
            <a:tbl>
              <a:tblPr firstRow="0" bandRow="0">
                <a:tableStyleId>{5C22544A-7EE6-4342-B048-85BDC9FD1C3A}</a:tableStyleId>
              </a:tblPr>
              <a:tblGrid>
                <a:gridCol w="1600200"/>
                <a:gridCol w="2514600"/>
                <a:gridCol w="3200400"/>
                <a:gridCol w="914400"/>
              </a:tblGrid>
              <a:tr h="429768">
                <a:tc>
                  <a:txBody>
                    <a:bodyPr wrap="square"/>
                    <a:lstStyle/>
                    <a:p>
                      <a:r>
                        <a:rPr sz="1300" b="1" i="0">
                          <a:solidFill>
                            <a:srgbClr val="FFFFFF"/>
                          </a:solidFill>
                          <a:latin typeface="Calibri"/>
                        </a:rPr>
                        <a:t>STRIDE</a:t>
                      </a:r>
                    </a:p>
                  </a:txBody>
                  <a:tcPr marL="54864" marR="54864" marT="27432" marB="27432" anchor="ctr">
                    <a:solidFill>
                      <a:srgbClr val="1B2F5B"/>
                    </a:solidFill>
                  </a:tcPr>
                </a:tc>
                <a:tc>
                  <a:txBody>
                    <a:bodyPr wrap="square"/>
                    <a:lstStyle/>
                    <a:p>
                      <a:r>
                        <a:rPr sz="1300" b="1" i="0">
                          <a:solidFill>
                            <a:srgbClr val="FFFFFF"/>
                          </a:solidFill>
                          <a:latin typeface="Calibri"/>
                        </a:rPr>
                        <a:t>Threat</a:t>
                      </a:r>
                    </a:p>
                  </a:txBody>
                  <a:tcPr marL="54864" marR="54864" marT="27432" marB="27432" anchor="ctr">
                    <a:solidFill>
                      <a:srgbClr val="1B2F5B"/>
                    </a:solidFill>
                  </a:tcPr>
                </a:tc>
                <a:tc>
                  <a:txBody>
                    <a:bodyPr wrap="square"/>
                    <a:lstStyle/>
                    <a:p>
                      <a:r>
                        <a:rPr sz="1300" b="1" i="0">
                          <a:solidFill>
                            <a:srgbClr val="FFFFFF"/>
                          </a:solidFill>
                          <a:latin typeface="Calibri"/>
                        </a:rPr>
                        <a:t>SignGate control</a:t>
                      </a:r>
                    </a:p>
                  </a:txBody>
                  <a:tcPr marL="54864" marR="54864" marT="27432" marB="27432" anchor="ctr">
                    <a:solidFill>
                      <a:srgbClr val="1B2F5B"/>
                    </a:solidFill>
                  </a:tcPr>
                </a:tc>
                <a:tc>
                  <a:txBody>
                    <a:bodyPr wrap="square"/>
                    <a:lstStyle/>
                    <a:p>
                      <a:r>
                        <a:rPr sz="1300" b="1" i="0">
                          <a:solidFill>
                            <a:srgbClr val="FFFFFF"/>
                          </a:solidFill>
                          <a:latin typeface="Calibri"/>
                        </a:rPr>
                        <a:t>Check</a:t>
                      </a:r>
                    </a:p>
                  </a:txBody>
                  <a:tcPr marL="54864" marR="54864" marT="27432" marB="27432" anchor="ctr">
                    <a:solidFill>
                      <a:srgbClr val="1B2F5B"/>
                    </a:solidFill>
                  </a:tcPr>
                </a:tc>
              </a:tr>
              <a:tr h="429768">
                <a:tc>
                  <a:txBody>
                    <a:bodyPr wrap="square"/>
                    <a:lstStyle/>
                    <a:p>
                      <a:r>
                        <a:rPr sz="1300" b="0" i="0">
                          <a:solidFill>
                            <a:srgbClr val="1D2433"/>
                          </a:solidFill>
                          <a:latin typeface="Calibri"/>
                        </a:rPr>
                        <a:t>Spoofing</a:t>
                      </a:r>
                    </a:p>
                  </a:txBody>
                  <a:tcPr marL="54864" marR="54864" marT="27432" marB="27432" anchor="ctr">
                    <a:solidFill>
                      <a:srgbClr val="FFFFFF"/>
                    </a:solidFill>
                  </a:tcPr>
                </a:tc>
                <a:tc>
                  <a:txBody>
                    <a:bodyPr wrap="square"/>
                    <a:lstStyle/>
                    <a:p>
                      <a:r>
                        <a:rPr sz="1300" b="0" i="0">
                          <a:solidFill>
                            <a:srgbClr val="1D2433"/>
                          </a:solidFill>
                          <a:latin typeface="Calibri"/>
                        </a:rPr>
                        <a:t>Fake 'Codecov' key</a:t>
                      </a:r>
                    </a:p>
                  </a:txBody>
                  <a:tcPr marL="54864" marR="54864" marT="27432" marB="27432" anchor="ctr">
                    <a:solidFill>
                      <a:srgbClr val="FFFFFF"/>
                    </a:solidFill>
                  </a:tcPr>
                </a:tc>
                <a:tc>
                  <a:txBody>
                    <a:bodyPr wrap="square"/>
                    <a:lstStyle/>
                    <a:p>
                      <a:r>
                        <a:rPr sz="1300" b="0" i="0">
                          <a:solidFill>
                            <a:srgbClr val="1D2433"/>
                          </a:solidFill>
                          <a:latin typeface="Calibri"/>
                        </a:rPr>
                        <a:t>Cert must chain to pinned root</a:t>
                      </a:r>
                    </a:p>
                  </a:txBody>
                  <a:tcPr marL="54864" marR="54864" marT="27432" marB="27432" anchor="ctr">
                    <a:solidFill>
                      <a:srgbClr val="FFFFFF"/>
                    </a:solidFill>
                  </a:tcPr>
                </a:tc>
                <a:tc>
                  <a:txBody>
                    <a:bodyPr wrap="square"/>
                    <a:lstStyle/>
                    <a:p>
                      <a:r>
                        <a:rPr sz="1300" b="0" i="0">
                          <a:solidFill>
                            <a:srgbClr val="1D2433"/>
                          </a:solidFill>
                          <a:latin typeface="Calibri"/>
                        </a:rPr>
                        <a:t>1</a:t>
                      </a:r>
                    </a:p>
                  </a:txBody>
                  <a:tcPr marL="54864" marR="54864" marT="27432" marB="27432" anchor="ctr">
                    <a:solidFill>
                      <a:srgbClr val="FFFFFF"/>
                    </a:solidFill>
                  </a:tcPr>
                </a:tc>
              </a:tr>
              <a:tr h="429768">
                <a:tc>
                  <a:txBody>
                    <a:bodyPr wrap="square"/>
                    <a:lstStyle/>
                    <a:p>
                      <a:r>
                        <a:rPr sz="1300" b="0" i="0">
                          <a:solidFill>
                            <a:srgbClr val="1D2433"/>
                          </a:solidFill>
                          <a:latin typeface="Calibri"/>
                        </a:rPr>
                        <a:t>Tampering</a:t>
                      </a:r>
                    </a:p>
                  </a:txBody>
                  <a:tcPr marL="54864" marR="54864" marT="27432" marB="27432" anchor="ctr">
                    <a:solidFill>
                      <a:srgbClr val="EEF1FB"/>
                    </a:solidFill>
                  </a:tcPr>
                </a:tc>
                <a:tc>
                  <a:txBody>
                    <a:bodyPr wrap="square"/>
                    <a:lstStyle/>
                    <a:p>
                      <a:r>
                        <a:rPr sz="1300" b="0" i="0">
                          <a:solidFill>
                            <a:srgbClr val="1D2433"/>
                          </a:solidFill>
                          <a:latin typeface="Calibri"/>
                        </a:rPr>
                        <a:t>Edit uploader (2021 attack)</a:t>
                      </a:r>
                    </a:p>
                  </a:txBody>
                  <a:tcPr marL="54864" marR="54864" marT="27432" marB="27432" anchor="ctr">
                    <a:solidFill>
                      <a:srgbClr val="EEF1FB"/>
                    </a:solidFill>
                  </a:tcPr>
                </a:tc>
                <a:tc>
                  <a:txBody>
                    <a:bodyPr wrap="square"/>
                    <a:lstStyle/>
                    <a:p>
                      <a:r>
                        <a:rPr sz="1300" b="0" i="0">
                          <a:solidFill>
                            <a:srgbClr val="1D2433"/>
                          </a:solidFill>
                          <a:latin typeface="Calibri"/>
                        </a:rPr>
                        <a:t>SHA-256 bound by Ed25519</a:t>
                      </a:r>
                    </a:p>
                  </a:txBody>
                  <a:tcPr marL="54864" marR="54864" marT="27432" marB="27432" anchor="ctr">
                    <a:solidFill>
                      <a:srgbClr val="EEF1FB"/>
                    </a:solidFill>
                  </a:tcPr>
                </a:tc>
                <a:tc>
                  <a:txBody>
                    <a:bodyPr wrap="square"/>
                    <a:lstStyle/>
                    <a:p>
                      <a:r>
                        <a:rPr sz="1300" b="0" i="0">
                          <a:solidFill>
                            <a:srgbClr val="1D2433"/>
                          </a:solidFill>
                          <a:latin typeface="Calibri"/>
                        </a:rPr>
                        <a:t>3, 4</a:t>
                      </a:r>
                    </a:p>
                  </a:txBody>
                  <a:tcPr marL="54864" marR="54864" marT="27432" marB="27432" anchor="ctr">
                    <a:solidFill>
                      <a:srgbClr val="EEF1FB"/>
                    </a:solidFill>
                  </a:tcPr>
                </a:tc>
              </a:tr>
              <a:tr h="429768">
                <a:tc>
                  <a:txBody>
                    <a:bodyPr wrap="square"/>
                    <a:lstStyle/>
                    <a:p>
                      <a:r>
                        <a:rPr sz="1300" b="0" i="0">
                          <a:solidFill>
                            <a:srgbClr val="1D2433"/>
                          </a:solidFill>
                          <a:latin typeface="Calibri"/>
                        </a:rPr>
                        <a:t>Tampering</a:t>
                      </a:r>
                    </a:p>
                  </a:txBody>
                  <a:tcPr marL="54864" marR="54864" marT="27432" marB="27432" anchor="ctr">
                    <a:solidFill>
                      <a:srgbClr val="FFFFFF"/>
                    </a:solidFill>
                  </a:tcPr>
                </a:tc>
                <a:tc>
                  <a:txBody>
                    <a:bodyPr wrap="square"/>
                    <a:lstStyle/>
                    <a:p>
                      <a:r>
                        <a:rPr sz="1300" b="0" i="0">
                          <a:solidFill>
                            <a:srgbClr val="1D2433"/>
                          </a:solidFill>
                          <a:latin typeface="Calibri"/>
                        </a:rPr>
                        <a:t>Replay old signed version</a:t>
                      </a:r>
                    </a:p>
                  </a:txBody>
                  <a:tcPr marL="54864" marR="54864" marT="27432" marB="27432" anchor="ctr">
                    <a:solidFill>
                      <a:srgbClr val="FFFFFF"/>
                    </a:solidFill>
                  </a:tcPr>
                </a:tc>
                <a:tc>
                  <a:txBody>
                    <a:bodyPr wrap="square"/>
                    <a:lstStyle/>
                    <a:p>
                      <a:r>
                        <a:rPr sz="1300" b="0" i="0">
                          <a:solidFill>
                            <a:srgbClr val="1D2433"/>
                          </a:solidFill>
                          <a:latin typeface="Calibri"/>
                        </a:rPr>
                        <a:t>Signed version ≥ last seen</a:t>
                      </a:r>
                    </a:p>
                  </a:txBody>
                  <a:tcPr marL="54864" marR="54864" marT="27432" marB="27432" anchor="ctr">
                    <a:solidFill>
                      <a:srgbClr val="FFFFFF"/>
                    </a:solidFill>
                  </a:tcPr>
                </a:tc>
                <a:tc>
                  <a:txBody>
                    <a:bodyPr wrap="square"/>
                    <a:lstStyle/>
                    <a:p>
                      <a:r>
                        <a:rPr sz="1300" b="0" i="0">
                          <a:solidFill>
                            <a:srgbClr val="1D2433"/>
                          </a:solidFill>
                          <a:latin typeface="Calibri"/>
                        </a:rPr>
                        <a:t>5</a:t>
                      </a:r>
                    </a:p>
                  </a:txBody>
                  <a:tcPr marL="54864" marR="54864" marT="27432" marB="27432" anchor="ctr">
                    <a:solidFill>
                      <a:srgbClr val="FFFFFF"/>
                    </a:solidFill>
                  </a:tcPr>
                </a:tc>
              </a:tr>
              <a:tr h="429768">
                <a:tc>
                  <a:txBody>
                    <a:bodyPr wrap="square"/>
                    <a:lstStyle/>
                    <a:p>
                      <a:r>
                        <a:rPr sz="1300" b="0" i="0">
                          <a:solidFill>
                            <a:srgbClr val="1D2433"/>
                          </a:solidFill>
                          <a:latin typeface="Calibri"/>
                        </a:rPr>
                        <a:t>Repudiation</a:t>
                      </a:r>
                    </a:p>
                  </a:txBody>
                  <a:tcPr marL="54864" marR="54864" marT="27432" marB="27432" anchor="ctr">
                    <a:solidFill>
                      <a:srgbClr val="EEF1FB"/>
                    </a:solidFill>
                  </a:tcPr>
                </a:tc>
                <a:tc>
                  <a:txBody>
                    <a:bodyPr wrap="square"/>
                    <a:lstStyle/>
                    <a:p>
                      <a:r>
                        <a:rPr sz="1300" b="0" i="0">
                          <a:solidFill>
                            <a:srgbClr val="1D2433"/>
                          </a:solidFill>
                          <a:latin typeface="Calibri"/>
                        </a:rPr>
                        <a:t>Hidden / denied release</a:t>
                      </a:r>
                    </a:p>
                  </a:txBody>
                  <a:tcPr marL="54864" marR="54864" marT="27432" marB="27432" anchor="ctr">
                    <a:solidFill>
                      <a:srgbClr val="EEF1FB"/>
                    </a:solidFill>
                  </a:tcPr>
                </a:tc>
                <a:tc>
                  <a:txBody>
                    <a:bodyPr wrap="square"/>
                    <a:lstStyle/>
                    <a:p>
                      <a:r>
                        <a:rPr sz="1300" b="0" i="0">
                          <a:solidFill>
                            <a:srgbClr val="1D2433"/>
                          </a:solidFill>
                          <a:latin typeface="Calibri"/>
                        </a:rPr>
                        <a:t>Append-only signed log</a:t>
                      </a:r>
                    </a:p>
                  </a:txBody>
                  <a:tcPr marL="54864" marR="54864" marT="27432" marB="27432" anchor="ctr">
                    <a:solidFill>
                      <a:srgbClr val="EEF1FB"/>
                    </a:solidFill>
                  </a:tcPr>
                </a:tc>
                <a:tc>
                  <a:txBody>
                    <a:bodyPr wrap="square"/>
                    <a:lstStyle/>
                    <a:p>
                      <a:r>
                        <a:rPr sz="1300" b="0" i="0">
                          <a:solidFill>
                            <a:srgbClr val="1D2433"/>
                          </a:solidFill>
                          <a:latin typeface="Calibri"/>
                        </a:rPr>
                        <a:t>6</a:t>
                      </a:r>
                    </a:p>
                  </a:txBody>
                  <a:tcPr marL="54864" marR="54864" marT="27432" marB="27432" anchor="ctr">
                    <a:solidFill>
                      <a:srgbClr val="EEF1FB"/>
                    </a:solidFill>
                  </a:tcPr>
                </a:tc>
              </a:tr>
              <a:tr h="429768">
                <a:tc>
                  <a:txBody>
                    <a:bodyPr wrap="square"/>
                    <a:lstStyle/>
                    <a:p>
                      <a:r>
                        <a:rPr sz="1300" b="0" i="0">
                          <a:solidFill>
                            <a:srgbClr val="1D2433"/>
                          </a:solidFill>
                          <a:latin typeface="Calibri"/>
                        </a:rPr>
                        <a:t>Info. disclosure</a:t>
                      </a:r>
                    </a:p>
                  </a:txBody>
                  <a:tcPr marL="54864" marR="54864" marT="27432" marB="27432" anchor="ctr">
                    <a:solidFill>
                      <a:srgbClr val="FFFFFF"/>
                    </a:solidFill>
                  </a:tcPr>
                </a:tc>
                <a:tc>
                  <a:txBody>
                    <a:bodyPr wrap="square"/>
                    <a:lstStyle/>
                    <a:p>
                      <a:r>
                        <a:rPr sz="1300" b="0" i="0">
                          <a:solidFill>
                            <a:srgbClr val="1D2433"/>
                          </a:solidFill>
                          <a:latin typeface="Calibri"/>
                        </a:rPr>
                        <a:t>Read all CI secrets</a:t>
                      </a:r>
                    </a:p>
                  </a:txBody>
                  <a:tcPr marL="54864" marR="54864" marT="27432" marB="27432" anchor="ctr">
                    <a:solidFill>
                      <a:srgbClr val="FFFFFF"/>
                    </a:solidFill>
                  </a:tcPr>
                </a:tc>
                <a:tc>
                  <a:txBody>
                    <a:bodyPr wrap="square"/>
                    <a:lstStyle/>
                    <a:p>
                      <a:r>
                        <a:rPr sz="1300" b="0" i="0">
                          <a:solidFill>
                            <a:srgbClr val="1D2433"/>
                          </a:solidFill>
                          <a:latin typeface="Calibri"/>
                        </a:rPr>
                        <a:t>Env allowlist</a:t>
                      </a:r>
                    </a:p>
                  </a:txBody>
                  <a:tcPr marL="54864" marR="54864" marT="27432" marB="27432" anchor="ctr">
                    <a:solidFill>
                      <a:srgbClr val="FFFFFF"/>
                    </a:solidFill>
                  </a:tcPr>
                </a:tc>
                <a:tc>
                  <a:txBody>
                    <a:bodyPr wrap="square"/>
                    <a:lstStyle/>
                    <a:p>
                      <a:r>
                        <a:rPr sz="1300" b="0" i="0">
                          <a:solidFill>
                            <a:srgbClr val="1D2433"/>
                          </a:solidFill>
                          <a:latin typeface="Calibri"/>
                        </a:rPr>
                        <a:t>exec</a:t>
                      </a:r>
                    </a:p>
                  </a:txBody>
                  <a:tcPr marL="54864" marR="54864" marT="27432" marB="27432" anchor="ctr">
                    <a:solidFill>
                      <a:srgbClr val="FFFFFF"/>
                    </a:solidFill>
                  </a:tcPr>
                </a:tc>
              </a:tr>
              <a:tr h="429768">
                <a:tc>
                  <a:txBody>
                    <a:bodyPr wrap="square"/>
                    <a:lstStyle/>
                    <a:p>
                      <a:r>
                        <a:rPr sz="1300" b="0" i="0">
                          <a:solidFill>
                            <a:srgbClr val="1D2433"/>
                          </a:solidFill>
                          <a:latin typeface="Calibri"/>
                        </a:rPr>
                        <a:t>DoS</a:t>
                      </a:r>
                    </a:p>
                  </a:txBody>
                  <a:tcPr marL="54864" marR="54864" marT="27432" marB="27432" anchor="ctr">
                    <a:solidFill>
                      <a:srgbClr val="EEF1FB"/>
                    </a:solidFill>
                  </a:tcPr>
                </a:tc>
                <a:tc>
                  <a:txBody>
                    <a:bodyPr wrap="square"/>
                    <a:lstStyle/>
                    <a:p>
                      <a:r>
                        <a:rPr sz="1300" b="0" i="0">
                          <a:solidFill>
                            <a:srgbClr val="1D2433"/>
                          </a:solidFill>
                          <a:latin typeface="Calibri"/>
                        </a:rPr>
                        <a:t>Corrupt files to break builds</a:t>
                      </a:r>
                    </a:p>
                  </a:txBody>
                  <a:tcPr marL="54864" marR="54864" marT="27432" marB="27432" anchor="ctr">
                    <a:solidFill>
                      <a:srgbClr val="EEF1FB"/>
                    </a:solidFill>
                  </a:tcPr>
                </a:tc>
                <a:tc>
                  <a:txBody>
                    <a:bodyPr wrap="square"/>
                    <a:lstStyle/>
                    <a:p>
                      <a:r>
                        <a:rPr sz="1300" b="0" i="0">
                          <a:solidFill>
                            <a:srgbClr val="1D2433"/>
                          </a:solidFill>
                          <a:latin typeface="Calibri"/>
                        </a:rPr>
                        <a:t>Fail-closed + mirrors</a:t>
                      </a:r>
                    </a:p>
                  </a:txBody>
                  <a:tcPr marL="54864" marR="54864" marT="27432" marB="27432" anchor="ctr">
                    <a:solidFill>
                      <a:srgbClr val="EEF1FB"/>
                    </a:solidFill>
                  </a:tcPr>
                </a:tc>
                <a:tc>
                  <a:txBody>
                    <a:bodyPr wrap="square"/>
                    <a:lstStyle/>
                    <a:p>
                      <a:r>
                        <a:rPr sz="1300" b="0" i="0">
                          <a:solidFill>
                            <a:srgbClr val="1D2433"/>
                          </a:solidFill>
                          <a:latin typeface="Calibri"/>
                        </a:rPr>
                        <a:t>-</a:t>
                      </a:r>
                    </a:p>
                  </a:txBody>
                  <a:tcPr marL="54864" marR="54864" marT="27432" marB="27432" anchor="ctr">
                    <a:solidFill>
                      <a:srgbClr val="EEF1FB"/>
                    </a:solidFill>
                  </a:tcPr>
                </a:tc>
              </a:tr>
              <a:tr h="429768">
                <a:tc>
                  <a:txBody>
                    <a:bodyPr wrap="square"/>
                    <a:lstStyle/>
                    <a:p>
                      <a:r>
                        <a:rPr sz="1300" b="0" i="0">
                          <a:solidFill>
                            <a:srgbClr val="1D2433"/>
                          </a:solidFill>
                          <a:latin typeface="Calibri"/>
                        </a:rPr>
                        <a:t>Elevation</a:t>
                      </a:r>
                    </a:p>
                  </a:txBody>
                  <a:tcPr marL="54864" marR="54864" marT="27432" marB="27432" anchor="ctr">
                    <a:solidFill>
                      <a:srgbClr val="FFFFFF"/>
                    </a:solidFill>
                  </a:tcPr>
                </a:tc>
                <a:tc>
                  <a:txBody>
                    <a:bodyPr wrap="square"/>
                    <a:lstStyle/>
                    <a:p>
                      <a:r>
                        <a:rPr sz="1300" b="0" i="0">
                          <a:solidFill>
                            <a:srgbClr val="1D2433"/>
                          </a:solidFill>
                          <a:latin typeface="Calibri"/>
                        </a:rPr>
                        <a:t>Stolen release key</a:t>
                      </a:r>
                    </a:p>
                  </a:txBody>
                  <a:tcPr marL="54864" marR="54864" marT="27432" marB="27432" anchor="ctr">
                    <a:solidFill>
                      <a:srgbClr val="FFFFFF"/>
                    </a:solidFill>
                  </a:tcPr>
                </a:tc>
                <a:tc>
                  <a:txBody>
                    <a:bodyPr wrap="square"/>
                    <a:lstStyle/>
                    <a:p>
                      <a:r>
                        <a:rPr sz="1300" b="0" i="0">
                          <a:solidFill>
                            <a:srgbClr val="1D2433"/>
                          </a:solidFill>
                          <a:latin typeface="Calibri"/>
                        </a:rPr>
                        <a:t>Log + monitor + CRL</a:t>
                      </a:r>
                    </a:p>
                  </a:txBody>
                  <a:tcPr marL="54864" marR="54864" marT="27432" marB="27432" anchor="ctr">
                    <a:solidFill>
                      <a:srgbClr val="FFFFFF"/>
                    </a:solidFill>
                  </a:tcPr>
                </a:tc>
                <a:tc>
                  <a:txBody>
                    <a:bodyPr wrap="square"/>
                    <a:lstStyle/>
                    <a:p>
                      <a:r>
                        <a:rPr sz="1300" b="0" i="0">
                          <a:solidFill>
                            <a:srgbClr val="1D2433"/>
                          </a:solidFill>
                          <a:latin typeface="Calibri"/>
                        </a:rPr>
                        <a:t>2, 6</a:t>
                      </a:r>
                    </a:p>
                  </a:txBody>
                  <a:tcPr marL="54864" marR="54864" marT="27432" marB="27432" anchor="ctr">
                    <a:solidFill>
                      <a:srgbClr val="FFFFFF"/>
                    </a:solidFill>
                  </a:tcPr>
                </a:tc>
              </a:tr>
            </a:tbl>
          </a:graphicData>
        </a:graphic>
      </p:graphicFrame>
      <p:sp>
        <p:nvSpPr>
          <p:cNvPr id="6" name="Rounded Rectangle 5"/>
          <p:cNvSpPr/>
          <p:nvPr/>
        </p:nvSpPr>
        <p:spPr>
          <a:xfrm>
            <a:off x="457200" y="5029200"/>
            <a:ext cx="8229600" cy="1097280"/>
          </a:xfrm>
          <a:prstGeom prst="roundRect">
            <a:avLst>
              <a:gd name="adj" fmla="val 8000"/>
            </a:avLst>
          </a:prstGeom>
          <a:solidFill>
            <a:srgbClr val="E6F4EC"/>
          </a:solidFill>
          <a:ln w="15875">
            <a:solidFill>
              <a:srgbClr val="1E7D4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0080" y="5074920"/>
            <a:ext cx="7863840" cy="1005840"/>
          </a:xfrm>
          <a:prstGeom prst="rect">
            <a:avLst/>
          </a:prstGeom>
          <a:noFill/>
        </p:spPr>
        <p:txBody>
          <a:bodyPr wrap="square" anchor="ctr" lIns="36576" rIns="36576">
            <a:spAutoFit/>
          </a:bodyPr>
          <a:lstStyle/>
          <a:p>
            <a:pPr algn="l">
              <a:spcAft>
                <a:spcPts val="400"/>
              </a:spcAft>
            </a:pPr>
            <a:r>
              <a:rPr sz="1350" b="1" i="0">
                <a:solidFill>
                  <a:srgbClr val="1D2433"/>
                </a:solidFill>
                <a:latin typeface="Calibri"/>
              </a:rPr>
              <a:t>Original attack vector: </a:t>
            </a:r>
            <a:r>
              <a:rPr sz="1350" b="0" i="0">
                <a:solidFill>
                  <a:srgbClr val="1D2433"/>
                </a:solidFill>
                <a:latin typeface="Calibri"/>
              </a:rPr>
              <a:t>attacker has bucket write access, no signing key → hash mismatch (check 4). Also rewrites the hash → signature invalid (check 3). Blocked before a single line runs. Residual risk: compromised build server (future: SLSA).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11480" y="713232"/>
            <a:ext cx="8321040" cy="566928"/>
          </a:xfrm>
          <a:prstGeom prst="rect">
            <a:avLst/>
          </a:prstGeom>
          <a:noFill/>
        </p:spPr>
        <p:txBody>
          <a:bodyPr wrap="square" lIns="0" rIns="0" anchor="ctr">
            <a:spAutoFit/>
          </a:bodyPr>
          <a:lstStyle/>
          <a:p>
            <a:r>
              <a:rPr sz="2800" b="1" i="0">
                <a:solidFill>
                  <a:srgbClr val="1B2F5B"/>
                </a:solidFill>
                <a:latin typeface="Times New Roman"/>
              </a:rPr>
              <a:t>Results: System Testing</a:t>
            </a:r>
          </a:p>
        </p:txBody>
      </p:sp>
      <p:graphicFrame>
        <p:nvGraphicFramePr>
          <p:cNvPr id="5" name="Table 4"/>
          <p:cNvGraphicFramePr>
            <a:graphicFrameLocks noGrp="1"/>
          </p:cNvGraphicFramePr>
          <p:nvPr/>
        </p:nvGraphicFramePr>
        <p:xfrm>
          <a:off x="457200" y="1371600"/>
          <a:ext cx="8229599" cy="2926080"/>
        </p:xfrm>
        <a:graphic>
          <a:graphicData uri="http://schemas.openxmlformats.org/drawingml/2006/table">
            <a:tbl>
              <a:tblPr firstRow="0" bandRow="0">
                <a:tableStyleId>{5C22544A-7EE6-4342-B048-85BDC9FD1C3A}</a:tableStyleId>
              </a:tblPr>
              <a:tblGrid>
                <a:gridCol w="457200"/>
                <a:gridCol w="3749039"/>
                <a:gridCol w="960120"/>
                <a:gridCol w="1051560"/>
                <a:gridCol w="2011680"/>
              </a:tblGrid>
              <a:tr h="365760">
                <a:tc>
                  <a:txBody>
                    <a:bodyPr wrap="square"/>
                    <a:lstStyle/>
                    <a:p>
                      <a:r>
                        <a:rPr sz="1150" b="1" i="0">
                          <a:solidFill>
                            <a:srgbClr val="FFFFFF"/>
                          </a:solidFill>
                          <a:latin typeface="Calibri"/>
                        </a:rPr>
                        <a:t>ID</a:t>
                      </a:r>
                    </a:p>
                  </a:txBody>
                  <a:tcPr marL="54864" marR="54864" marT="27432" marB="27432" anchor="ctr">
                    <a:solidFill>
                      <a:srgbClr val="1B2F5B"/>
                    </a:solidFill>
                  </a:tcPr>
                </a:tc>
                <a:tc>
                  <a:txBody>
                    <a:bodyPr wrap="square"/>
                    <a:lstStyle/>
                    <a:p>
                      <a:r>
                        <a:rPr sz="1150" b="1" i="0">
                          <a:solidFill>
                            <a:srgbClr val="FFFFFF"/>
                          </a:solidFill>
                          <a:latin typeface="Calibri"/>
                        </a:rPr>
                        <a:t>Scenario</a:t>
                      </a:r>
                    </a:p>
                  </a:txBody>
                  <a:tcPr marL="54864" marR="54864" marT="27432" marB="27432" anchor="ctr">
                    <a:solidFill>
                      <a:srgbClr val="1B2F5B"/>
                    </a:solidFill>
                  </a:tcPr>
                </a:tc>
                <a:tc>
                  <a:txBody>
                    <a:bodyPr wrap="square"/>
                    <a:lstStyle/>
                    <a:p>
                      <a:r>
                        <a:rPr sz="1150" b="1" i="0">
                          <a:solidFill>
                            <a:srgbClr val="FFFFFF"/>
                          </a:solidFill>
                          <a:latin typeface="Calibri"/>
                        </a:rPr>
                        <a:t>Expected</a:t>
                      </a:r>
                    </a:p>
                  </a:txBody>
                  <a:tcPr marL="54864" marR="54864" marT="27432" marB="27432" anchor="ctr">
                    <a:solidFill>
                      <a:srgbClr val="1B2F5B"/>
                    </a:solidFill>
                  </a:tcPr>
                </a:tc>
                <a:tc>
                  <a:txBody>
                    <a:bodyPr wrap="square"/>
                    <a:lstStyle/>
                    <a:p>
                      <a:r>
                        <a:rPr sz="1150" b="1" i="0">
                          <a:solidFill>
                            <a:srgbClr val="FFFFFF"/>
                          </a:solidFill>
                          <a:latin typeface="Calibri"/>
                        </a:rPr>
                        <a:t>Result</a:t>
                      </a:r>
                    </a:p>
                  </a:txBody>
                  <a:tcPr marL="54864" marR="54864" marT="27432" marB="27432" anchor="ctr">
                    <a:solidFill>
                      <a:srgbClr val="1B2F5B"/>
                    </a:solidFill>
                  </a:tcPr>
                </a:tc>
                <a:tc>
                  <a:txBody>
                    <a:bodyPr wrap="square"/>
                    <a:lstStyle/>
                    <a:p>
                      <a:r>
                        <a:rPr sz="1150" b="1" i="0">
                          <a:solidFill>
                            <a:srgbClr val="FFFFFF"/>
                          </a:solidFill>
                          <a:latin typeface="Calibri"/>
                        </a:rPr>
                        <a:t>Stopped at</a:t>
                      </a:r>
                    </a:p>
                  </a:txBody>
                  <a:tcPr marL="54864" marR="54864" marT="27432" marB="27432" anchor="ctr">
                    <a:solidFill>
                      <a:srgbClr val="1B2F5B"/>
                    </a:solidFill>
                  </a:tcPr>
                </a:tc>
              </a:tr>
              <a:tr h="365760">
                <a:tc>
                  <a:txBody>
                    <a:bodyPr wrap="square"/>
                    <a:lstStyle/>
                    <a:p>
                      <a:r>
                        <a:rPr sz="1150" b="0" i="0">
                          <a:solidFill>
                            <a:srgbClr val="1D2433"/>
                          </a:solidFill>
                          <a:latin typeface="Calibri"/>
                        </a:rPr>
                        <a:t>S1</a:t>
                      </a:r>
                    </a:p>
                  </a:txBody>
                  <a:tcPr marL="54864" marR="54864" marT="27432" marB="27432" anchor="ctr">
                    <a:solidFill>
                      <a:srgbClr val="FFFFFF"/>
                    </a:solidFill>
                  </a:tcPr>
                </a:tc>
                <a:tc>
                  <a:txBody>
                    <a:bodyPr wrap="square"/>
                    <a:lstStyle/>
                    <a:p>
                      <a:r>
                        <a:rPr sz="1150" b="0" i="0">
                          <a:solidFill>
                            <a:srgbClr val="1D2433"/>
                          </a:solidFill>
                          <a:latin typeface="Calibri"/>
                        </a:rPr>
                        <a:t>Legitimate signed release</a:t>
                      </a:r>
                    </a:p>
                  </a:txBody>
                  <a:tcPr marL="54864" marR="54864" marT="27432" marB="27432" anchor="ctr">
                    <a:solidFill>
                      <a:srgbClr val="FFFFFF"/>
                    </a:solidFill>
                  </a:tcPr>
                </a:tc>
                <a:tc>
                  <a:txBody>
                    <a:bodyPr wrap="square"/>
                    <a:lstStyle/>
                    <a:p>
                      <a:r>
                        <a:rPr sz="1150" b="0" i="0">
                          <a:solidFill>
                            <a:srgbClr val="1D2433"/>
                          </a:solidFill>
                          <a:latin typeface="Calibri"/>
                        </a:rPr>
                        <a:t>ALLOW</a:t>
                      </a:r>
                    </a:p>
                  </a:txBody>
                  <a:tcPr marL="54864" marR="54864" marT="27432" marB="27432" anchor="ctr">
                    <a:solidFill>
                      <a:srgbClr val="FFFFFF"/>
                    </a:solidFill>
                  </a:tcPr>
                </a:tc>
                <a:tc>
                  <a:txBody>
                    <a:bodyPr wrap="square"/>
                    <a:lstStyle/>
                    <a:p>
                      <a:r>
                        <a:rPr sz="1150" b="1" i="0">
                          <a:solidFill>
                            <a:srgbClr val="1E7D46"/>
                          </a:solidFill>
                          <a:latin typeface="Calibri"/>
                        </a:rPr>
                        <a:t>ALLOWED</a:t>
                      </a:r>
                    </a:p>
                  </a:txBody>
                  <a:tcPr marL="54864" marR="54864" marT="27432" marB="27432" anchor="ctr">
                    <a:solidFill>
                      <a:srgbClr val="FFFFFF"/>
                    </a:solidFill>
                  </a:tcPr>
                </a:tc>
                <a:tc>
                  <a:txBody>
                    <a:bodyPr wrap="square"/>
                    <a:lstStyle/>
                    <a:p>
                      <a:r>
                        <a:rPr sz="1150" b="0" i="0">
                          <a:solidFill>
                            <a:srgbClr val="1D2433"/>
                          </a:solidFill>
                          <a:latin typeface="Calibri"/>
                        </a:rPr>
                        <a:t>-</a:t>
                      </a:r>
                    </a:p>
                  </a:txBody>
                  <a:tcPr marL="54864" marR="54864" marT="27432" marB="27432" anchor="ctr">
                    <a:solidFill>
                      <a:srgbClr val="FFFFFF"/>
                    </a:solidFill>
                  </a:tcPr>
                </a:tc>
              </a:tr>
              <a:tr h="365760">
                <a:tc>
                  <a:txBody>
                    <a:bodyPr wrap="square"/>
                    <a:lstStyle/>
                    <a:p>
                      <a:r>
                        <a:rPr sz="1150" b="0" i="0">
                          <a:solidFill>
                            <a:srgbClr val="1D2433"/>
                          </a:solidFill>
                          <a:latin typeface="Calibri"/>
                        </a:rPr>
                        <a:t>S2</a:t>
                      </a:r>
                    </a:p>
                  </a:txBody>
                  <a:tcPr marL="54864" marR="54864" marT="27432" marB="27432" anchor="ctr">
                    <a:solidFill>
                      <a:srgbClr val="EEF1FB"/>
                    </a:solidFill>
                  </a:tcPr>
                </a:tc>
                <a:tc>
                  <a:txBody>
                    <a:bodyPr wrap="square"/>
                    <a:lstStyle/>
                    <a:p>
                      <a:r>
                        <a:rPr sz="1150" b="0" i="0">
                          <a:solidFill>
                            <a:srgbClr val="1D2433"/>
                          </a:solidFill>
                          <a:latin typeface="Calibri"/>
                        </a:rPr>
                        <a:t>2021 attack: uploader edited in bucket</a:t>
                      </a:r>
                    </a:p>
                  </a:txBody>
                  <a:tcPr marL="54864" marR="54864" marT="27432" marB="27432" anchor="ctr">
                    <a:solidFill>
                      <a:srgbClr val="EEF1FB"/>
                    </a:solidFill>
                  </a:tcPr>
                </a:tc>
                <a:tc>
                  <a:txBody>
                    <a:bodyPr wrap="square"/>
                    <a:lstStyle/>
                    <a:p>
                      <a:r>
                        <a:rPr sz="1150" b="0" i="0">
                          <a:solidFill>
                            <a:srgbClr val="1D2433"/>
                          </a:solidFill>
                          <a:latin typeface="Calibri"/>
                        </a:rPr>
                        <a:t>BLOCK</a:t>
                      </a:r>
                    </a:p>
                  </a:txBody>
                  <a:tcPr marL="54864" marR="54864" marT="27432" marB="27432" anchor="ctr">
                    <a:solidFill>
                      <a:srgbClr val="EEF1FB"/>
                    </a:solidFill>
                  </a:tcPr>
                </a:tc>
                <a:tc>
                  <a:txBody>
                    <a:bodyPr wrap="square"/>
                    <a:lstStyle/>
                    <a:p>
                      <a:r>
                        <a:rPr sz="1150" b="1" i="0">
                          <a:solidFill>
                            <a:srgbClr val="B3261E"/>
                          </a:solidFill>
                          <a:latin typeface="Calibri"/>
                        </a:rPr>
                        <a:t>BLOCKED</a:t>
                      </a:r>
                    </a:p>
                  </a:txBody>
                  <a:tcPr marL="54864" marR="54864" marT="27432" marB="27432" anchor="ctr">
                    <a:solidFill>
                      <a:srgbClr val="EEF1FB"/>
                    </a:solidFill>
                  </a:tcPr>
                </a:tc>
                <a:tc>
                  <a:txBody>
                    <a:bodyPr wrap="square"/>
                    <a:lstStyle/>
                    <a:p>
                      <a:r>
                        <a:rPr sz="1150" b="0" i="0">
                          <a:solidFill>
                            <a:srgbClr val="1D2433"/>
                          </a:solidFill>
                          <a:latin typeface="Calibri"/>
                        </a:rPr>
                        <a:t>4. SHA-256 integrity</a:t>
                      </a:r>
                    </a:p>
                  </a:txBody>
                  <a:tcPr marL="54864" marR="54864" marT="27432" marB="27432" anchor="ctr">
                    <a:solidFill>
                      <a:srgbClr val="EEF1FB"/>
                    </a:solidFill>
                  </a:tcPr>
                </a:tc>
              </a:tr>
              <a:tr h="365760">
                <a:tc>
                  <a:txBody>
                    <a:bodyPr wrap="square"/>
                    <a:lstStyle/>
                    <a:p>
                      <a:r>
                        <a:rPr sz="1150" b="0" i="0">
                          <a:solidFill>
                            <a:srgbClr val="1D2433"/>
                          </a:solidFill>
                          <a:latin typeface="Calibri"/>
                        </a:rPr>
                        <a:t>S3</a:t>
                      </a:r>
                    </a:p>
                  </a:txBody>
                  <a:tcPr marL="54864" marR="54864" marT="27432" marB="27432" anchor="ctr">
                    <a:solidFill>
                      <a:srgbClr val="FFFFFF"/>
                    </a:solidFill>
                  </a:tcPr>
                </a:tc>
                <a:tc>
                  <a:txBody>
                    <a:bodyPr wrap="square"/>
                    <a:lstStyle/>
                    <a:p>
                      <a:r>
                        <a:rPr sz="1150" b="0" i="0">
                          <a:solidFill>
                            <a:srgbClr val="1D2433"/>
                          </a:solidFill>
                          <a:latin typeface="Calibri"/>
                        </a:rPr>
                        <a:t>Attacker also rewrites published SHA-256</a:t>
                      </a:r>
                    </a:p>
                  </a:txBody>
                  <a:tcPr marL="54864" marR="54864" marT="27432" marB="27432" anchor="ctr">
                    <a:solidFill>
                      <a:srgbClr val="FFFFFF"/>
                    </a:solidFill>
                  </a:tcPr>
                </a:tc>
                <a:tc>
                  <a:txBody>
                    <a:bodyPr wrap="square"/>
                    <a:lstStyle/>
                    <a:p>
                      <a:r>
                        <a:rPr sz="1150" b="0" i="0">
                          <a:solidFill>
                            <a:srgbClr val="1D2433"/>
                          </a:solidFill>
                          <a:latin typeface="Calibri"/>
                        </a:rPr>
                        <a:t>BLOCK</a:t>
                      </a:r>
                    </a:p>
                  </a:txBody>
                  <a:tcPr marL="54864" marR="54864" marT="27432" marB="27432" anchor="ctr">
                    <a:solidFill>
                      <a:srgbClr val="FFFFFF"/>
                    </a:solidFill>
                  </a:tcPr>
                </a:tc>
                <a:tc>
                  <a:txBody>
                    <a:bodyPr wrap="square"/>
                    <a:lstStyle/>
                    <a:p>
                      <a:r>
                        <a:rPr sz="1150" b="1" i="0">
                          <a:solidFill>
                            <a:srgbClr val="B3261E"/>
                          </a:solidFill>
                          <a:latin typeface="Calibri"/>
                        </a:rPr>
                        <a:t>BLOCKED</a:t>
                      </a:r>
                    </a:p>
                  </a:txBody>
                  <a:tcPr marL="54864" marR="54864" marT="27432" marB="27432" anchor="ctr">
                    <a:solidFill>
                      <a:srgbClr val="FFFFFF"/>
                    </a:solidFill>
                  </a:tcPr>
                </a:tc>
                <a:tc>
                  <a:txBody>
                    <a:bodyPr wrap="square"/>
                    <a:lstStyle/>
                    <a:p>
                      <a:r>
                        <a:rPr sz="1150" b="0" i="0">
                          <a:solidFill>
                            <a:srgbClr val="1D2433"/>
                          </a:solidFill>
                          <a:latin typeface="Calibri"/>
                        </a:rPr>
                        <a:t>3. Ed25519 signature</a:t>
                      </a:r>
                    </a:p>
                  </a:txBody>
                  <a:tcPr marL="54864" marR="54864" marT="27432" marB="27432" anchor="ctr">
                    <a:solidFill>
                      <a:srgbClr val="FFFFFF"/>
                    </a:solidFill>
                  </a:tcPr>
                </a:tc>
              </a:tr>
              <a:tr h="365760">
                <a:tc>
                  <a:txBody>
                    <a:bodyPr wrap="square"/>
                    <a:lstStyle/>
                    <a:p>
                      <a:r>
                        <a:rPr sz="1150" b="0" i="0">
                          <a:solidFill>
                            <a:srgbClr val="1D2433"/>
                          </a:solidFill>
                          <a:latin typeface="Calibri"/>
                        </a:rPr>
                        <a:t>S4</a:t>
                      </a:r>
                    </a:p>
                  </a:txBody>
                  <a:tcPr marL="54864" marR="54864" marT="27432" marB="27432" anchor="ctr">
                    <a:solidFill>
                      <a:srgbClr val="EEF1FB"/>
                    </a:solidFill>
                  </a:tcPr>
                </a:tc>
                <a:tc>
                  <a:txBody>
                    <a:bodyPr wrap="square"/>
                    <a:lstStyle/>
                    <a:p>
                      <a:r>
                        <a:rPr sz="1150" b="0" i="0">
                          <a:solidFill>
                            <a:srgbClr val="1D2433"/>
                          </a:solidFill>
                          <a:latin typeface="Calibri"/>
                        </a:rPr>
                        <a:t>Attacker signs with own key + fake cert</a:t>
                      </a:r>
                    </a:p>
                  </a:txBody>
                  <a:tcPr marL="54864" marR="54864" marT="27432" marB="27432" anchor="ctr">
                    <a:solidFill>
                      <a:srgbClr val="EEF1FB"/>
                    </a:solidFill>
                  </a:tcPr>
                </a:tc>
                <a:tc>
                  <a:txBody>
                    <a:bodyPr wrap="square"/>
                    <a:lstStyle/>
                    <a:p>
                      <a:r>
                        <a:rPr sz="1150" b="0" i="0">
                          <a:solidFill>
                            <a:srgbClr val="1D2433"/>
                          </a:solidFill>
                          <a:latin typeface="Calibri"/>
                        </a:rPr>
                        <a:t>BLOCK</a:t>
                      </a:r>
                    </a:p>
                  </a:txBody>
                  <a:tcPr marL="54864" marR="54864" marT="27432" marB="27432" anchor="ctr">
                    <a:solidFill>
                      <a:srgbClr val="EEF1FB"/>
                    </a:solidFill>
                  </a:tcPr>
                </a:tc>
                <a:tc>
                  <a:txBody>
                    <a:bodyPr wrap="square"/>
                    <a:lstStyle/>
                    <a:p>
                      <a:r>
                        <a:rPr sz="1150" b="1" i="0">
                          <a:solidFill>
                            <a:srgbClr val="B3261E"/>
                          </a:solidFill>
                          <a:latin typeface="Calibri"/>
                        </a:rPr>
                        <a:t>BLOCKED</a:t>
                      </a:r>
                    </a:p>
                  </a:txBody>
                  <a:tcPr marL="54864" marR="54864" marT="27432" marB="27432" anchor="ctr">
                    <a:solidFill>
                      <a:srgbClr val="EEF1FB"/>
                    </a:solidFill>
                  </a:tcPr>
                </a:tc>
                <a:tc>
                  <a:txBody>
                    <a:bodyPr wrap="square"/>
                    <a:lstStyle/>
                    <a:p>
                      <a:r>
                        <a:rPr sz="1150" b="0" i="0">
                          <a:solidFill>
                            <a:srgbClr val="1D2433"/>
                          </a:solidFill>
                          <a:latin typeface="Calibri"/>
                        </a:rPr>
                        <a:t>1. Key certificate (PKI)</a:t>
                      </a:r>
                    </a:p>
                  </a:txBody>
                  <a:tcPr marL="54864" marR="54864" marT="27432" marB="27432" anchor="ctr">
                    <a:solidFill>
                      <a:srgbClr val="EEF1FB"/>
                    </a:solidFill>
                  </a:tcPr>
                </a:tc>
              </a:tr>
              <a:tr h="365760">
                <a:tc>
                  <a:txBody>
                    <a:bodyPr wrap="square"/>
                    <a:lstStyle/>
                    <a:p>
                      <a:r>
                        <a:rPr sz="1150" b="0" i="0">
                          <a:solidFill>
                            <a:srgbClr val="1D2433"/>
                          </a:solidFill>
                          <a:latin typeface="Calibri"/>
                        </a:rPr>
                        <a:t>S5</a:t>
                      </a:r>
                    </a:p>
                  </a:txBody>
                  <a:tcPr marL="54864" marR="54864" marT="27432" marB="27432" anchor="ctr">
                    <a:solidFill>
                      <a:srgbClr val="FFFFFF"/>
                    </a:solidFill>
                  </a:tcPr>
                </a:tc>
                <a:tc>
                  <a:txBody>
                    <a:bodyPr wrap="square"/>
                    <a:lstStyle/>
                    <a:p>
                      <a:r>
                        <a:rPr sz="1150" b="0" i="0">
                          <a:solidFill>
                            <a:srgbClr val="1D2433"/>
                          </a:solidFill>
                          <a:latin typeface="Calibri"/>
                        </a:rPr>
                        <a:t>Stolen release key, release not logged</a:t>
                      </a:r>
                    </a:p>
                  </a:txBody>
                  <a:tcPr marL="54864" marR="54864" marT="27432" marB="27432" anchor="ctr">
                    <a:solidFill>
                      <a:srgbClr val="FFFFFF"/>
                    </a:solidFill>
                  </a:tcPr>
                </a:tc>
                <a:tc>
                  <a:txBody>
                    <a:bodyPr wrap="square"/>
                    <a:lstStyle/>
                    <a:p>
                      <a:r>
                        <a:rPr sz="1150" b="0" i="0">
                          <a:solidFill>
                            <a:srgbClr val="1D2433"/>
                          </a:solidFill>
                          <a:latin typeface="Calibri"/>
                        </a:rPr>
                        <a:t>BLOCK</a:t>
                      </a:r>
                    </a:p>
                  </a:txBody>
                  <a:tcPr marL="54864" marR="54864" marT="27432" marB="27432" anchor="ctr">
                    <a:solidFill>
                      <a:srgbClr val="FFFFFF"/>
                    </a:solidFill>
                  </a:tcPr>
                </a:tc>
                <a:tc>
                  <a:txBody>
                    <a:bodyPr wrap="square"/>
                    <a:lstStyle/>
                    <a:p>
                      <a:r>
                        <a:rPr sz="1150" b="1" i="0">
                          <a:solidFill>
                            <a:srgbClr val="B3261E"/>
                          </a:solidFill>
                          <a:latin typeface="Calibri"/>
                        </a:rPr>
                        <a:t>BLOCKED</a:t>
                      </a:r>
                    </a:p>
                  </a:txBody>
                  <a:tcPr marL="54864" marR="54864" marT="27432" marB="27432" anchor="ctr">
                    <a:solidFill>
                      <a:srgbClr val="FFFFFF"/>
                    </a:solidFill>
                  </a:tcPr>
                </a:tc>
                <a:tc>
                  <a:txBody>
                    <a:bodyPr wrap="square"/>
                    <a:lstStyle/>
                    <a:p>
                      <a:r>
                        <a:rPr sz="1150" b="0" i="0">
                          <a:solidFill>
                            <a:srgbClr val="1D2433"/>
                          </a:solidFill>
                          <a:latin typeface="Calibri"/>
                        </a:rPr>
                        <a:t>6. Transparency log</a:t>
                      </a:r>
                    </a:p>
                  </a:txBody>
                  <a:tcPr marL="54864" marR="54864" marT="27432" marB="27432" anchor="ctr">
                    <a:solidFill>
                      <a:srgbClr val="FFFFFF"/>
                    </a:solidFill>
                  </a:tcPr>
                </a:tc>
              </a:tr>
              <a:tr h="365760">
                <a:tc>
                  <a:txBody>
                    <a:bodyPr wrap="square"/>
                    <a:lstStyle/>
                    <a:p>
                      <a:r>
                        <a:rPr sz="1150" b="0" i="0">
                          <a:solidFill>
                            <a:srgbClr val="1D2433"/>
                          </a:solidFill>
                          <a:latin typeface="Calibri"/>
                        </a:rPr>
                        <a:t>S6</a:t>
                      </a:r>
                    </a:p>
                  </a:txBody>
                  <a:tcPr marL="54864" marR="54864" marT="27432" marB="27432" anchor="ctr">
                    <a:solidFill>
                      <a:srgbClr val="EEF1FB"/>
                    </a:solidFill>
                  </a:tcPr>
                </a:tc>
                <a:tc>
                  <a:txBody>
                    <a:bodyPr wrap="square"/>
                    <a:lstStyle/>
                    <a:p>
                      <a:r>
                        <a:rPr sz="1150" b="0" i="0">
                          <a:solidFill>
                            <a:srgbClr val="1D2433"/>
                          </a:solidFill>
                          <a:latin typeface="Calibri"/>
                        </a:rPr>
                        <a:t>Stolen key detected by monitor and revoked</a:t>
                      </a:r>
                    </a:p>
                  </a:txBody>
                  <a:tcPr marL="54864" marR="54864" marT="27432" marB="27432" anchor="ctr">
                    <a:solidFill>
                      <a:srgbClr val="EEF1FB"/>
                    </a:solidFill>
                  </a:tcPr>
                </a:tc>
                <a:tc>
                  <a:txBody>
                    <a:bodyPr wrap="square"/>
                    <a:lstStyle/>
                    <a:p>
                      <a:r>
                        <a:rPr sz="1150" b="0" i="0">
                          <a:solidFill>
                            <a:srgbClr val="1D2433"/>
                          </a:solidFill>
                          <a:latin typeface="Calibri"/>
                        </a:rPr>
                        <a:t>BLOCK</a:t>
                      </a:r>
                    </a:p>
                  </a:txBody>
                  <a:tcPr marL="54864" marR="54864" marT="27432" marB="27432" anchor="ctr">
                    <a:solidFill>
                      <a:srgbClr val="EEF1FB"/>
                    </a:solidFill>
                  </a:tcPr>
                </a:tc>
                <a:tc>
                  <a:txBody>
                    <a:bodyPr wrap="square"/>
                    <a:lstStyle/>
                    <a:p>
                      <a:r>
                        <a:rPr sz="1150" b="1" i="0">
                          <a:solidFill>
                            <a:srgbClr val="B3261E"/>
                          </a:solidFill>
                          <a:latin typeface="Calibri"/>
                        </a:rPr>
                        <a:t>BLOCKED</a:t>
                      </a:r>
                    </a:p>
                  </a:txBody>
                  <a:tcPr marL="54864" marR="54864" marT="27432" marB="27432" anchor="ctr">
                    <a:solidFill>
                      <a:srgbClr val="EEF1FB"/>
                    </a:solidFill>
                  </a:tcPr>
                </a:tc>
                <a:tc>
                  <a:txBody>
                    <a:bodyPr wrap="square"/>
                    <a:lstStyle/>
                    <a:p>
                      <a:r>
                        <a:rPr sz="1150" b="0" i="0">
                          <a:solidFill>
                            <a:srgbClr val="1D2433"/>
                          </a:solidFill>
                          <a:latin typeface="Calibri"/>
                        </a:rPr>
                        <a:t>2. Revocation list</a:t>
                      </a:r>
                    </a:p>
                  </a:txBody>
                  <a:tcPr marL="54864" marR="54864" marT="27432" marB="27432" anchor="ctr">
                    <a:solidFill>
                      <a:srgbClr val="EEF1FB"/>
                    </a:solidFill>
                  </a:tcPr>
                </a:tc>
              </a:tr>
              <a:tr h="365760">
                <a:tc>
                  <a:txBody>
                    <a:bodyPr wrap="square"/>
                    <a:lstStyle/>
                    <a:p>
                      <a:r>
                        <a:rPr sz="1150" b="0" i="0">
                          <a:solidFill>
                            <a:srgbClr val="1D2433"/>
                          </a:solidFill>
                          <a:latin typeface="Calibri"/>
                        </a:rPr>
                        <a:t>S7</a:t>
                      </a:r>
                    </a:p>
                  </a:txBody>
                  <a:tcPr marL="54864" marR="54864" marT="27432" marB="27432" anchor="ctr">
                    <a:solidFill>
                      <a:srgbClr val="FFFFFF"/>
                    </a:solidFill>
                  </a:tcPr>
                </a:tc>
                <a:tc>
                  <a:txBody>
                    <a:bodyPr wrap="square"/>
                    <a:lstStyle/>
                    <a:p>
                      <a:r>
                        <a:rPr sz="1150" b="0" i="0">
                          <a:solidFill>
                            <a:srgbClr val="1D2433"/>
                          </a:solidFill>
                          <a:latin typeface="Calibri"/>
                        </a:rPr>
                        <a:t>Rollback to older signed version</a:t>
                      </a:r>
                    </a:p>
                  </a:txBody>
                  <a:tcPr marL="54864" marR="54864" marT="27432" marB="27432" anchor="ctr">
                    <a:solidFill>
                      <a:srgbClr val="FFFFFF"/>
                    </a:solidFill>
                  </a:tcPr>
                </a:tc>
                <a:tc>
                  <a:txBody>
                    <a:bodyPr wrap="square"/>
                    <a:lstStyle/>
                    <a:p>
                      <a:r>
                        <a:rPr sz="1150" b="0" i="0">
                          <a:solidFill>
                            <a:srgbClr val="1D2433"/>
                          </a:solidFill>
                          <a:latin typeface="Calibri"/>
                        </a:rPr>
                        <a:t>BLOCK</a:t>
                      </a:r>
                    </a:p>
                  </a:txBody>
                  <a:tcPr marL="54864" marR="54864" marT="27432" marB="27432" anchor="ctr">
                    <a:solidFill>
                      <a:srgbClr val="FFFFFF"/>
                    </a:solidFill>
                  </a:tcPr>
                </a:tc>
                <a:tc>
                  <a:txBody>
                    <a:bodyPr wrap="square"/>
                    <a:lstStyle/>
                    <a:p>
                      <a:r>
                        <a:rPr sz="1150" b="1" i="0">
                          <a:solidFill>
                            <a:srgbClr val="B3261E"/>
                          </a:solidFill>
                          <a:latin typeface="Calibri"/>
                        </a:rPr>
                        <a:t>BLOCKED</a:t>
                      </a:r>
                    </a:p>
                  </a:txBody>
                  <a:tcPr marL="54864" marR="54864" marT="27432" marB="27432" anchor="ctr">
                    <a:solidFill>
                      <a:srgbClr val="FFFFFF"/>
                    </a:solidFill>
                  </a:tcPr>
                </a:tc>
                <a:tc>
                  <a:txBody>
                    <a:bodyPr wrap="square"/>
                    <a:lstStyle/>
                    <a:p>
                      <a:r>
                        <a:rPr sz="1150" b="0" i="0">
                          <a:solidFill>
                            <a:srgbClr val="1D2433"/>
                          </a:solidFill>
                          <a:latin typeface="Calibri"/>
                        </a:rPr>
                        <a:t>5. Anti-rollback</a:t>
                      </a:r>
                    </a:p>
                  </a:txBody>
                  <a:tcPr marL="54864" marR="54864" marT="27432" marB="27432" anchor="ctr">
                    <a:solidFill>
                      <a:srgbClr val="FFFFFF"/>
                    </a:solidFill>
                  </a:tcPr>
                </a:tc>
              </a:tr>
            </a:tbl>
          </a:graphicData>
        </a:graphic>
      </p:graphicFrame>
      <p:sp>
        <p:nvSpPr>
          <p:cNvPr id="6" name="Rectangle 5"/>
          <p:cNvSpPr/>
          <p:nvPr/>
        </p:nvSpPr>
        <p:spPr>
          <a:xfrm>
            <a:off x="448056" y="4471416"/>
            <a:ext cx="5230368" cy="1645919"/>
          </a:xfrm>
          <a:prstGeom prst="rect">
            <a:avLst/>
          </a:prstGeom>
          <a:solidFill>
            <a:srgbClr val="FFFFFF"/>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exposure.png"/>
          <p:cNvPicPr>
            <a:picLocks noChangeAspect="1"/>
          </p:cNvPicPr>
          <p:nvPr/>
        </p:nvPicPr>
        <p:blipFill>
          <a:blip r:embed="rId3"/>
          <a:stretch>
            <a:fillRect/>
          </a:stretch>
        </p:blipFill>
        <p:spPr>
          <a:xfrm>
            <a:off x="502920" y="4526280"/>
            <a:ext cx="5120640" cy="1536192"/>
          </a:xfrm>
          <a:prstGeom prst="rect">
            <a:avLst/>
          </a:prstGeom>
        </p:spPr>
      </p:pic>
      <p:sp>
        <p:nvSpPr>
          <p:cNvPr id="8" name="Rounded Rectangle 7"/>
          <p:cNvSpPr/>
          <p:nvPr/>
        </p:nvSpPr>
        <p:spPr>
          <a:xfrm>
            <a:off x="5989320" y="4526280"/>
            <a:ext cx="1280160" cy="1508760"/>
          </a:xfrm>
          <a:prstGeom prst="roundRect">
            <a:avLst>
              <a:gd name="adj" fmla="val 8000"/>
            </a:avLst>
          </a:prstGeom>
          <a:solidFill>
            <a:srgbClr val="EEF1FB"/>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989320" y="4663440"/>
            <a:ext cx="1280160" cy="640080"/>
          </a:xfrm>
          <a:prstGeom prst="rect">
            <a:avLst/>
          </a:prstGeom>
          <a:noFill/>
        </p:spPr>
        <p:txBody>
          <a:bodyPr wrap="square" anchor="t" lIns="36576" rIns="36576">
            <a:spAutoFit/>
          </a:bodyPr>
          <a:lstStyle/>
          <a:p>
            <a:pPr algn="ctr">
              <a:spcAft>
                <a:spcPts val="400"/>
              </a:spcAft>
            </a:pPr>
            <a:r>
              <a:rPr sz="1900" b="1" i="0">
                <a:solidFill>
                  <a:srgbClr val="1B2F5B"/>
                </a:solidFill>
                <a:latin typeface="Calibri"/>
              </a:rPr>
              <a:t>0.56 ms</a:t>
            </a:r>
          </a:p>
        </p:txBody>
      </p:sp>
      <p:sp>
        <p:nvSpPr>
          <p:cNvPr id="10" name="TextBox 9"/>
          <p:cNvSpPr txBox="1"/>
          <p:nvPr/>
        </p:nvSpPr>
        <p:spPr>
          <a:xfrm>
            <a:off x="5989320" y="5303520"/>
            <a:ext cx="1280160" cy="640080"/>
          </a:xfrm>
          <a:prstGeom prst="rect">
            <a:avLst/>
          </a:prstGeom>
          <a:noFill/>
        </p:spPr>
        <p:txBody>
          <a:bodyPr wrap="square" anchor="t" lIns="36576" rIns="36576">
            <a:spAutoFit/>
          </a:bodyPr>
          <a:lstStyle/>
          <a:p>
            <a:pPr algn="ctr">
              <a:spcAft>
                <a:spcPts val="400"/>
              </a:spcAft>
            </a:pPr>
            <a:r>
              <a:rPr sz="1200" b="0" i="0">
                <a:solidFill>
                  <a:srgbClr val="4A5263"/>
                </a:solidFill>
                <a:latin typeface="Calibri"/>
              </a:rPr>
              <a:t>avg verification</a:t>
            </a:r>
          </a:p>
        </p:txBody>
      </p:sp>
      <p:sp>
        <p:nvSpPr>
          <p:cNvPr id="11" name="Rounded Rectangle 10"/>
          <p:cNvSpPr/>
          <p:nvPr/>
        </p:nvSpPr>
        <p:spPr>
          <a:xfrm>
            <a:off x="7360920" y="4526280"/>
            <a:ext cx="1280160" cy="1508760"/>
          </a:xfrm>
          <a:prstGeom prst="roundRect">
            <a:avLst>
              <a:gd name="adj" fmla="val 8000"/>
            </a:avLst>
          </a:prstGeom>
          <a:solidFill>
            <a:srgbClr val="EEF1FB"/>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360920" y="4663440"/>
            <a:ext cx="1280160" cy="640080"/>
          </a:xfrm>
          <a:prstGeom prst="rect">
            <a:avLst/>
          </a:prstGeom>
          <a:noFill/>
        </p:spPr>
        <p:txBody>
          <a:bodyPr wrap="square" anchor="t" lIns="36576" rIns="36576">
            <a:spAutoFit/>
          </a:bodyPr>
          <a:lstStyle/>
          <a:p>
            <a:pPr algn="ctr">
              <a:spcAft>
                <a:spcPts val="400"/>
              </a:spcAft>
            </a:pPr>
            <a:r>
              <a:rPr sz="1900" b="1" i="0">
                <a:solidFill>
                  <a:srgbClr val="1B2F5B"/>
                </a:solidFill>
                <a:latin typeface="Calibri"/>
              </a:rPr>
              <a:t>13 / 13</a:t>
            </a:r>
          </a:p>
        </p:txBody>
      </p:sp>
      <p:sp>
        <p:nvSpPr>
          <p:cNvPr id="13" name="TextBox 12"/>
          <p:cNvSpPr txBox="1"/>
          <p:nvPr/>
        </p:nvSpPr>
        <p:spPr>
          <a:xfrm>
            <a:off x="7360920" y="5303520"/>
            <a:ext cx="1280160" cy="640080"/>
          </a:xfrm>
          <a:prstGeom prst="rect">
            <a:avLst/>
          </a:prstGeom>
          <a:noFill/>
        </p:spPr>
        <p:txBody>
          <a:bodyPr wrap="square" anchor="t" lIns="36576" rIns="36576">
            <a:spAutoFit/>
          </a:bodyPr>
          <a:lstStyle/>
          <a:p>
            <a:pPr algn="ctr">
              <a:spcAft>
                <a:spcPts val="400"/>
              </a:spcAft>
            </a:pPr>
            <a:r>
              <a:rPr sz="1200" b="0" i="0">
                <a:solidFill>
                  <a:srgbClr val="4A5263"/>
                </a:solidFill>
                <a:latin typeface="Calibri"/>
              </a:rPr>
              <a:t>unit tests pass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11480" y="713232"/>
            <a:ext cx="8321040" cy="566928"/>
          </a:xfrm>
          <a:prstGeom prst="rect">
            <a:avLst/>
          </a:prstGeom>
          <a:noFill/>
        </p:spPr>
        <p:txBody>
          <a:bodyPr wrap="square" lIns="0" rIns="0" anchor="ctr">
            <a:spAutoFit/>
          </a:bodyPr>
          <a:lstStyle/>
          <a:p>
            <a:r>
              <a:rPr sz="2800" b="1" i="0">
                <a:solidFill>
                  <a:srgbClr val="1B2F5B"/>
                </a:solidFill>
                <a:latin typeface="Times New Roman"/>
              </a:rPr>
              <a:t>Results: Demo Output</a:t>
            </a:r>
          </a:p>
        </p:txBody>
      </p:sp>
      <p:sp>
        <p:nvSpPr>
          <p:cNvPr id="5" name="Rectangle 4"/>
          <p:cNvSpPr/>
          <p:nvPr/>
        </p:nvSpPr>
        <p:spPr>
          <a:xfrm>
            <a:off x="402336" y="2373965"/>
            <a:ext cx="4133088" cy="2841589"/>
          </a:xfrm>
          <a:prstGeom prst="rect">
            <a:avLst/>
          </a:prstGeom>
          <a:solidFill>
            <a:srgbClr val="FFFFFF"/>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term1.png"/>
          <p:cNvPicPr>
            <a:picLocks noChangeAspect="1"/>
          </p:cNvPicPr>
          <p:nvPr/>
        </p:nvPicPr>
        <p:blipFill>
          <a:blip r:embed="rId3"/>
          <a:stretch>
            <a:fillRect/>
          </a:stretch>
        </p:blipFill>
        <p:spPr>
          <a:xfrm>
            <a:off x="457200" y="2428829"/>
            <a:ext cx="4023360" cy="2731861"/>
          </a:xfrm>
          <a:prstGeom prst="rect">
            <a:avLst/>
          </a:prstGeom>
        </p:spPr>
      </p:pic>
      <p:sp>
        <p:nvSpPr>
          <p:cNvPr id="7" name="Rectangle 6"/>
          <p:cNvSpPr/>
          <p:nvPr/>
        </p:nvSpPr>
        <p:spPr>
          <a:xfrm>
            <a:off x="4608576" y="2096353"/>
            <a:ext cx="4133088" cy="3396813"/>
          </a:xfrm>
          <a:prstGeom prst="rect">
            <a:avLst/>
          </a:prstGeom>
          <a:solidFill>
            <a:srgbClr val="FFFFFF"/>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erm2.png"/>
          <p:cNvPicPr>
            <a:picLocks noChangeAspect="1"/>
          </p:cNvPicPr>
          <p:nvPr/>
        </p:nvPicPr>
        <p:blipFill>
          <a:blip r:embed="rId4"/>
          <a:stretch>
            <a:fillRect/>
          </a:stretch>
        </p:blipFill>
        <p:spPr>
          <a:xfrm>
            <a:off x="4663440" y="2151217"/>
            <a:ext cx="4023360" cy="3287085"/>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11480" y="713232"/>
            <a:ext cx="8321040" cy="566928"/>
          </a:xfrm>
          <a:prstGeom prst="rect">
            <a:avLst/>
          </a:prstGeom>
          <a:noFill/>
        </p:spPr>
        <p:txBody>
          <a:bodyPr wrap="square" lIns="0" rIns="0" anchor="ctr">
            <a:spAutoFit/>
          </a:bodyPr>
          <a:lstStyle/>
          <a:p>
            <a:r>
              <a:rPr sz="2800" b="1" i="0">
                <a:solidFill>
                  <a:srgbClr val="1B2F5B"/>
                </a:solidFill>
                <a:latin typeface="Times New Roman"/>
              </a:rPr>
              <a:t>Innovation and Application Relevance</a:t>
            </a:r>
          </a:p>
        </p:txBody>
      </p:sp>
      <p:graphicFrame>
        <p:nvGraphicFramePr>
          <p:cNvPr id="5" name="Table 4"/>
          <p:cNvGraphicFramePr>
            <a:graphicFrameLocks noGrp="1"/>
          </p:cNvGraphicFramePr>
          <p:nvPr/>
        </p:nvGraphicFramePr>
        <p:xfrm>
          <a:off x="457200" y="1417320"/>
          <a:ext cx="8229600" cy="3145536"/>
        </p:xfrm>
        <a:graphic>
          <a:graphicData uri="http://schemas.openxmlformats.org/drawingml/2006/table">
            <a:tbl>
              <a:tblPr firstRow="0" bandRow="0">
                <a:tableStyleId>{5C22544A-7EE6-4342-B048-85BDC9FD1C3A}</a:tableStyleId>
              </a:tblPr>
              <a:tblGrid>
                <a:gridCol w="2194560"/>
                <a:gridCol w="2834640"/>
                <a:gridCol w="3200400"/>
              </a:tblGrid>
              <a:tr h="393192">
                <a:tc>
                  <a:txBody>
                    <a:bodyPr wrap="square"/>
                    <a:lstStyle/>
                    <a:p>
                      <a:r>
                        <a:rPr sz="1300" b="1" i="0">
                          <a:solidFill>
                            <a:srgbClr val="FFFFFF"/>
                          </a:solidFill>
                          <a:latin typeface="Calibri"/>
                        </a:rPr>
                        <a:t>Aspect</a:t>
                      </a:r>
                    </a:p>
                  </a:txBody>
                  <a:tcPr marL="54864" marR="54864" marT="27432" marB="27432" anchor="ctr">
                    <a:solidFill>
                      <a:srgbClr val="1B2F5B"/>
                    </a:solidFill>
                  </a:tcPr>
                </a:tc>
                <a:tc>
                  <a:txBody>
                    <a:bodyPr wrap="square"/>
                    <a:lstStyle/>
                    <a:p>
                      <a:r>
                        <a:rPr sz="1300" b="1" i="0">
                          <a:solidFill>
                            <a:srgbClr val="FFFFFF"/>
                          </a:solidFill>
                          <a:latin typeface="Calibri"/>
                        </a:rPr>
                        <a:t>Standard fix (signed + SHA)</a:t>
                      </a:r>
                    </a:p>
                  </a:txBody>
                  <a:tcPr marL="54864" marR="54864" marT="27432" marB="27432" anchor="ctr">
                    <a:solidFill>
                      <a:srgbClr val="1B2F5B"/>
                    </a:solidFill>
                  </a:tcPr>
                </a:tc>
                <a:tc>
                  <a:txBody>
                    <a:bodyPr wrap="square"/>
                    <a:lstStyle/>
                    <a:p>
                      <a:r>
                        <a:rPr sz="1300" b="1" i="0">
                          <a:solidFill>
                            <a:srgbClr val="FFFFFF"/>
                          </a:solidFill>
                          <a:latin typeface="Calibri"/>
                        </a:rPr>
                        <a:t>SignGate</a:t>
                      </a:r>
                    </a:p>
                  </a:txBody>
                  <a:tcPr marL="54864" marR="54864" marT="27432" marB="27432" anchor="ctr">
                    <a:solidFill>
                      <a:srgbClr val="1B2F5B"/>
                    </a:solidFill>
                  </a:tcPr>
                </a:tc>
              </a:tr>
              <a:tr h="393192">
                <a:tc>
                  <a:txBody>
                    <a:bodyPr wrap="square"/>
                    <a:lstStyle/>
                    <a:p>
                      <a:r>
                        <a:rPr sz="1300" b="0" i="0">
                          <a:solidFill>
                            <a:srgbClr val="1D2433"/>
                          </a:solidFill>
                          <a:latin typeface="Calibri"/>
                        </a:rPr>
                        <a:t>Verification</a:t>
                      </a:r>
                    </a:p>
                  </a:txBody>
                  <a:tcPr marL="54864" marR="54864" marT="27432" marB="27432" anchor="ctr">
                    <a:solidFill>
                      <a:srgbClr val="FFFFFF"/>
                    </a:solidFill>
                  </a:tcPr>
                </a:tc>
                <a:tc>
                  <a:txBody>
                    <a:bodyPr wrap="square"/>
                    <a:lstStyle/>
                    <a:p>
                      <a:r>
                        <a:rPr sz="1300" b="0" i="0">
                          <a:solidFill>
                            <a:srgbClr val="1D2433"/>
                          </a:solidFill>
                          <a:latin typeface="Calibri"/>
                        </a:rPr>
                        <a:t>Optional, manual</a:t>
                      </a:r>
                    </a:p>
                  </a:txBody>
                  <a:tcPr marL="54864" marR="54864" marT="27432" marB="27432" anchor="ctr">
                    <a:solidFill>
                      <a:srgbClr val="FFFFFF"/>
                    </a:solidFill>
                  </a:tcPr>
                </a:tc>
                <a:tc>
                  <a:txBody>
                    <a:bodyPr wrap="square"/>
                    <a:lstStyle/>
                    <a:p>
                      <a:r>
                        <a:rPr sz="1300" b="1" i="0">
                          <a:solidFill>
                            <a:srgbClr val="1E7D46"/>
                          </a:solidFill>
                          <a:latin typeface="Calibri"/>
                        </a:rPr>
                        <a:t>Enforced, fail-closed</a:t>
                      </a:r>
                    </a:p>
                  </a:txBody>
                  <a:tcPr marL="54864" marR="54864" marT="27432" marB="27432" anchor="ctr">
                    <a:solidFill>
                      <a:srgbClr val="FFFFFF"/>
                    </a:solidFill>
                  </a:tcPr>
                </a:tc>
              </a:tr>
              <a:tr h="393192">
                <a:tc>
                  <a:txBody>
                    <a:bodyPr wrap="square"/>
                    <a:lstStyle/>
                    <a:p>
                      <a:r>
                        <a:rPr sz="1300" b="0" i="0">
                          <a:solidFill>
                            <a:srgbClr val="1D2433"/>
                          </a:solidFill>
                          <a:latin typeface="Calibri"/>
                        </a:rPr>
                        <a:t>Trust anchor</a:t>
                      </a:r>
                    </a:p>
                  </a:txBody>
                  <a:tcPr marL="54864" marR="54864" marT="27432" marB="27432" anchor="ctr">
                    <a:solidFill>
                      <a:srgbClr val="EEF1FB"/>
                    </a:solidFill>
                  </a:tcPr>
                </a:tc>
                <a:tc>
                  <a:txBody>
                    <a:bodyPr wrap="square"/>
                    <a:lstStyle/>
                    <a:p>
                      <a:r>
                        <a:rPr sz="1300" b="0" i="0">
                          <a:solidFill>
                            <a:srgbClr val="1D2433"/>
                          </a:solidFill>
                          <a:latin typeface="Calibri"/>
                        </a:rPr>
                        <a:t>Fetched from same site</a:t>
                      </a:r>
                    </a:p>
                  </a:txBody>
                  <a:tcPr marL="54864" marR="54864" marT="27432" marB="27432" anchor="ctr">
                    <a:solidFill>
                      <a:srgbClr val="EEF1FB"/>
                    </a:solidFill>
                  </a:tcPr>
                </a:tc>
                <a:tc>
                  <a:txBody>
                    <a:bodyPr wrap="square"/>
                    <a:lstStyle/>
                    <a:p>
                      <a:r>
                        <a:rPr sz="1300" b="1" i="0">
                          <a:solidFill>
                            <a:srgbClr val="1E7D46"/>
                          </a:solidFill>
                          <a:latin typeface="Calibri"/>
                        </a:rPr>
                        <a:t>Pinned in customer repo</a:t>
                      </a:r>
                    </a:p>
                  </a:txBody>
                  <a:tcPr marL="54864" marR="54864" marT="27432" marB="27432" anchor="ctr">
                    <a:solidFill>
                      <a:srgbClr val="EEF1FB"/>
                    </a:solidFill>
                  </a:tcPr>
                </a:tc>
              </a:tr>
              <a:tr h="393192">
                <a:tc>
                  <a:txBody>
                    <a:bodyPr wrap="square"/>
                    <a:lstStyle/>
                    <a:p>
                      <a:r>
                        <a:rPr sz="1300" b="0" i="0">
                          <a:solidFill>
                            <a:srgbClr val="1D2433"/>
                          </a:solidFill>
                          <a:latin typeface="Calibri"/>
                        </a:rPr>
                        <a:t>Leaked signing key</a:t>
                      </a:r>
                    </a:p>
                  </a:txBody>
                  <a:tcPr marL="54864" marR="54864" marT="27432" marB="27432" anchor="ctr">
                    <a:solidFill>
                      <a:srgbClr val="FFFFFF"/>
                    </a:solidFill>
                  </a:tcPr>
                </a:tc>
                <a:tc>
                  <a:txBody>
                    <a:bodyPr wrap="square"/>
                    <a:lstStyle/>
                    <a:p>
                      <a:r>
                        <a:rPr sz="1300" b="0" i="0">
                          <a:solidFill>
                            <a:srgbClr val="1D2433"/>
                          </a:solidFill>
                          <a:latin typeface="Calibri"/>
                        </a:rPr>
                        <a:t>Every user must update</a:t>
                      </a:r>
                    </a:p>
                  </a:txBody>
                  <a:tcPr marL="54864" marR="54864" marT="27432" marB="27432" anchor="ctr">
                    <a:solidFill>
                      <a:srgbClr val="FFFFFF"/>
                    </a:solidFill>
                  </a:tcPr>
                </a:tc>
                <a:tc>
                  <a:txBody>
                    <a:bodyPr wrap="square"/>
                    <a:lstStyle/>
                    <a:p>
                      <a:r>
                        <a:rPr sz="1300" b="1" i="0">
                          <a:solidFill>
                            <a:srgbClr val="1E7D46"/>
                          </a:solidFill>
                          <a:latin typeface="Calibri"/>
                        </a:rPr>
                        <a:t>Root-signed CRL, automatic</a:t>
                      </a:r>
                    </a:p>
                  </a:txBody>
                  <a:tcPr marL="54864" marR="54864" marT="27432" marB="27432" anchor="ctr">
                    <a:solidFill>
                      <a:srgbClr val="FFFFFF"/>
                    </a:solidFill>
                  </a:tcPr>
                </a:tc>
              </a:tr>
              <a:tr h="393192">
                <a:tc>
                  <a:txBody>
                    <a:bodyPr wrap="square"/>
                    <a:lstStyle/>
                    <a:p>
                      <a:r>
                        <a:rPr sz="1300" b="0" i="0">
                          <a:solidFill>
                            <a:srgbClr val="1D2433"/>
                          </a:solidFill>
                          <a:latin typeface="Calibri"/>
                        </a:rPr>
                        <a:t>Silent key misuse</a:t>
                      </a:r>
                    </a:p>
                  </a:txBody>
                  <a:tcPr marL="54864" marR="54864" marT="27432" marB="27432" anchor="ctr">
                    <a:solidFill>
                      <a:srgbClr val="EEF1FB"/>
                    </a:solidFill>
                  </a:tcPr>
                </a:tc>
                <a:tc>
                  <a:txBody>
                    <a:bodyPr wrap="square"/>
                    <a:lstStyle/>
                    <a:p>
                      <a:r>
                        <a:rPr sz="1300" b="0" i="0">
                          <a:solidFill>
                            <a:srgbClr val="1D2433"/>
                          </a:solidFill>
                          <a:latin typeface="Calibri"/>
                        </a:rPr>
                        <a:t>Undetectable</a:t>
                      </a:r>
                    </a:p>
                  </a:txBody>
                  <a:tcPr marL="54864" marR="54864" marT="27432" marB="27432" anchor="ctr">
                    <a:solidFill>
                      <a:srgbClr val="EEF1FB"/>
                    </a:solidFill>
                  </a:tcPr>
                </a:tc>
                <a:tc>
                  <a:txBody>
                    <a:bodyPr wrap="square"/>
                    <a:lstStyle/>
                    <a:p>
                      <a:r>
                        <a:rPr sz="1300" b="1" i="0">
                          <a:solidFill>
                            <a:srgbClr val="1E7D46"/>
                          </a:solidFill>
                          <a:latin typeface="Calibri"/>
                        </a:rPr>
                        <a:t>Transparency log + monitor</a:t>
                      </a:r>
                    </a:p>
                  </a:txBody>
                  <a:tcPr marL="54864" marR="54864" marT="27432" marB="27432" anchor="ctr">
                    <a:solidFill>
                      <a:srgbClr val="EEF1FB"/>
                    </a:solidFill>
                  </a:tcPr>
                </a:tc>
              </a:tr>
              <a:tr h="393192">
                <a:tc>
                  <a:txBody>
                    <a:bodyPr wrap="square"/>
                    <a:lstStyle/>
                    <a:p>
                      <a:r>
                        <a:rPr sz="1300" b="0" i="0">
                          <a:solidFill>
                            <a:srgbClr val="1D2433"/>
                          </a:solidFill>
                          <a:latin typeface="Calibri"/>
                        </a:rPr>
                        <a:t>Rollback</a:t>
                      </a:r>
                    </a:p>
                  </a:txBody>
                  <a:tcPr marL="54864" marR="54864" marT="27432" marB="27432" anchor="ctr">
                    <a:solidFill>
                      <a:srgbClr val="FFFFFF"/>
                    </a:solidFill>
                  </a:tcPr>
                </a:tc>
                <a:tc>
                  <a:txBody>
                    <a:bodyPr wrap="square"/>
                    <a:lstStyle/>
                    <a:p>
                      <a:r>
                        <a:rPr sz="1300" b="0" i="0">
                          <a:solidFill>
                            <a:srgbClr val="1D2433"/>
                          </a:solidFill>
                          <a:latin typeface="Calibri"/>
                        </a:rPr>
                        <a:t>Not addressed</a:t>
                      </a:r>
                    </a:p>
                  </a:txBody>
                  <a:tcPr marL="54864" marR="54864" marT="27432" marB="27432" anchor="ctr">
                    <a:solidFill>
                      <a:srgbClr val="FFFFFF"/>
                    </a:solidFill>
                  </a:tcPr>
                </a:tc>
                <a:tc>
                  <a:txBody>
                    <a:bodyPr wrap="square"/>
                    <a:lstStyle/>
                    <a:p>
                      <a:r>
                        <a:rPr sz="1300" b="1" i="0">
                          <a:solidFill>
                            <a:srgbClr val="1E7D46"/>
                          </a:solidFill>
                          <a:latin typeface="Calibri"/>
                        </a:rPr>
                        <a:t>Signed version + state</a:t>
                      </a:r>
                    </a:p>
                  </a:txBody>
                  <a:tcPr marL="54864" marR="54864" marT="27432" marB="27432" anchor="ctr">
                    <a:solidFill>
                      <a:srgbClr val="FFFFFF"/>
                    </a:solidFill>
                  </a:tcPr>
                </a:tc>
              </a:tr>
              <a:tr h="393192">
                <a:tc>
                  <a:txBody>
                    <a:bodyPr wrap="square"/>
                    <a:lstStyle/>
                    <a:p>
                      <a:r>
                        <a:rPr sz="1300" b="0" i="0">
                          <a:solidFill>
                            <a:srgbClr val="1D2433"/>
                          </a:solidFill>
                          <a:latin typeface="Calibri"/>
                        </a:rPr>
                        <a:t>If malicious code runs</a:t>
                      </a:r>
                    </a:p>
                  </a:txBody>
                  <a:tcPr marL="54864" marR="54864" marT="27432" marB="27432" anchor="ctr">
                    <a:solidFill>
                      <a:srgbClr val="EEF1FB"/>
                    </a:solidFill>
                  </a:tcPr>
                </a:tc>
                <a:tc>
                  <a:txBody>
                    <a:bodyPr wrap="square"/>
                    <a:lstStyle/>
                    <a:p>
                      <a:r>
                        <a:rPr sz="1300" b="0" i="0">
                          <a:solidFill>
                            <a:srgbClr val="1D2433"/>
                          </a:solidFill>
                          <a:latin typeface="Calibri"/>
                        </a:rPr>
                        <a:t>All secrets exposed</a:t>
                      </a:r>
                    </a:p>
                  </a:txBody>
                  <a:tcPr marL="54864" marR="54864" marT="27432" marB="27432" anchor="ctr">
                    <a:solidFill>
                      <a:srgbClr val="EEF1FB"/>
                    </a:solidFill>
                  </a:tcPr>
                </a:tc>
                <a:tc>
                  <a:txBody>
                    <a:bodyPr wrap="square"/>
                    <a:lstStyle/>
                    <a:p>
                      <a:r>
                        <a:rPr sz="1300" b="1" i="0">
                          <a:solidFill>
                            <a:srgbClr val="1E7D46"/>
                          </a:solidFill>
                          <a:latin typeface="Calibri"/>
                        </a:rPr>
                        <a:t>1 of 8 secrets (allowlist)</a:t>
                      </a:r>
                    </a:p>
                  </a:txBody>
                  <a:tcPr marL="54864" marR="54864" marT="27432" marB="27432" anchor="ctr">
                    <a:solidFill>
                      <a:srgbClr val="EEF1FB"/>
                    </a:solidFill>
                  </a:tcPr>
                </a:tc>
              </a:tr>
              <a:tr h="393192">
                <a:tc>
                  <a:txBody>
                    <a:bodyPr wrap="square"/>
                    <a:lstStyle/>
                    <a:p>
                      <a:r>
                        <a:rPr sz="1300" b="0" i="0">
                          <a:solidFill>
                            <a:srgbClr val="1D2433"/>
                          </a:solidFill>
                          <a:latin typeface="Calibri"/>
                        </a:rPr>
                        <a:t>Detection time</a:t>
                      </a:r>
                    </a:p>
                  </a:txBody>
                  <a:tcPr marL="54864" marR="54864" marT="27432" marB="27432" anchor="ctr">
                    <a:solidFill>
                      <a:srgbClr val="FFFFFF"/>
                    </a:solidFill>
                  </a:tcPr>
                </a:tc>
                <a:tc>
                  <a:txBody>
                    <a:bodyPr wrap="square"/>
                    <a:lstStyle/>
                    <a:p>
                      <a:r>
                        <a:rPr sz="1300" b="0" i="0">
                          <a:solidFill>
                            <a:srgbClr val="1D2433"/>
                          </a:solidFill>
                          <a:latin typeface="Calibri"/>
                        </a:rPr>
                        <a:t>~2 months</a:t>
                      </a:r>
                    </a:p>
                  </a:txBody>
                  <a:tcPr marL="54864" marR="54864" marT="27432" marB="27432" anchor="ctr">
                    <a:solidFill>
                      <a:srgbClr val="FFFFFF"/>
                    </a:solidFill>
                  </a:tcPr>
                </a:tc>
                <a:tc>
                  <a:txBody>
                    <a:bodyPr wrap="square"/>
                    <a:lstStyle/>
                    <a:p>
                      <a:r>
                        <a:rPr sz="1300" b="1" i="0">
                          <a:solidFill>
                            <a:srgbClr val="1E7D46"/>
                          </a:solidFill>
                          <a:latin typeface="Calibri"/>
                        </a:rPr>
                        <a:t>Minutes</a:t>
                      </a:r>
                    </a:p>
                  </a:txBody>
                  <a:tcPr marL="54864" marR="54864" marT="27432" marB="27432" anchor="ctr">
                    <a:solidFill>
                      <a:srgbClr val="FFFFFF"/>
                    </a:solidFill>
                  </a:tcPr>
                </a:tc>
              </a:tr>
            </a:tbl>
          </a:graphicData>
        </a:graphic>
      </p:graphicFrame>
      <p:sp>
        <p:nvSpPr>
          <p:cNvPr id="6" name="Rounded Rectangle 5"/>
          <p:cNvSpPr/>
          <p:nvPr/>
        </p:nvSpPr>
        <p:spPr>
          <a:xfrm>
            <a:off x="457200" y="4754880"/>
            <a:ext cx="2651760" cy="1371600"/>
          </a:xfrm>
          <a:prstGeom prst="roundRect">
            <a:avLst>
              <a:gd name="adj" fmla="val 8000"/>
            </a:avLst>
          </a:prstGeom>
          <a:solidFill>
            <a:srgbClr val="EEF1FB"/>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4846320"/>
            <a:ext cx="2432304" cy="411480"/>
          </a:xfrm>
          <a:prstGeom prst="rect">
            <a:avLst/>
          </a:prstGeom>
          <a:noFill/>
        </p:spPr>
        <p:txBody>
          <a:bodyPr wrap="square" anchor="t" lIns="36576" rIns="36576">
            <a:spAutoFit/>
          </a:bodyPr>
          <a:lstStyle/>
          <a:p>
            <a:pPr algn="l">
              <a:spcAft>
                <a:spcPts val="400"/>
              </a:spcAft>
            </a:pPr>
            <a:r>
              <a:rPr sz="1600" b="1" i="0">
                <a:solidFill>
                  <a:srgbClr val="1B2F5B"/>
                </a:solidFill>
                <a:latin typeface="Calibri"/>
              </a:rPr>
              <a:t>Industry</a:t>
            </a:r>
          </a:p>
        </p:txBody>
      </p:sp>
      <p:sp>
        <p:nvSpPr>
          <p:cNvPr id="8" name="TextBox 7"/>
          <p:cNvSpPr txBox="1"/>
          <p:nvPr/>
        </p:nvSpPr>
        <p:spPr>
          <a:xfrm>
            <a:off x="566928" y="5285232"/>
            <a:ext cx="2432304" cy="777240"/>
          </a:xfrm>
          <a:prstGeom prst="rect">
            <a:avLst/>
          </a:prstGeom>
          <a:noFill/>
        </p:spPr>
        <p:txBody>
          <a:bodyPr wrap="square" anchor="t" lIns="36576" rIns="36576">
            <a:spAutoFit/>
          </a:bodyPr>
          <a:lstStyle/>
          <a:p>
            <a:pPr algn="l">
              <a:spcAft>
                <a:spcPts val="400"/>
              </a:spcAft>
            </a:pPr>
            <a:r>
              <a:rPr sz="1350" b="0" i="0">
                <a:solidFill>
                  <a:srgbClr val="1D2433"/>
                </a:solidFill>
                <a:latin typeface="Calibri"/>
              </a:rPr>
              <a:t>SLSA · NIST SSDF · EO 14028</a:t>
            </a:r>
          </a:p>
        </p:txBody>
      </p:sp>
      <p:sp>
        <p:nvSpPr>
          <p:cNvPr id="9" name="Rounded Rectangle 8"/>
          <p:cNvSpPr/>
          <p:nvPr/>
        </p:nvSpPr>
        <p:spPr>
          <a:xfrm>
            <a:off x="3246120" y="4754880"/>
            <a:ext cx="2651760" cy="1371600"/>
          </a:xfrm>
          <a:prstGeom prst="roundRect">
            <a:avLst>
              <a:gd name="adj" fmla="val 8000"/>
            </a:avLst>
          </a:prstGeom>
          <a:solidFill>
            <a:srgbClr val="EEF1FB"/>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355848" y="4846320"/>
            <a:ext cx="2432304" cy="411480"/>
          </a:xfrm>
          <a:prstGeom prst="rect">
            <a:avLst/>
          </a:prstGeom>
          <a:noFill/>
        </p:spPr>
        <p:txBody>
          <a:bodyPr wrap="square" anchor="t" lIns="36576" rIns="36576">
            <a:spAutoFit/>
          </a:bodyPr>
          <a:lstStyle/>
          <a:p>
            <a:pPr algn="l">
              <a:spcAft>
                <a:spcPts val="400"/>
              </a:spcAft>
            </a:pPr>
            <a:r>
              <a:rPr sz="1600" b="1" i="0">
                <a:solidFill>
                  <a:srgbClr val="1B2F5B"/>
                </a:solidFill>
                <a:latin typeface="Calibri"/>
              </a:rPr>
              <a:t>Cost</a:t>
            </a:r>
          </a:p>
        </p:txBody>
      </p:sp>
      <p:sp>
        <p:nvSpPr>
          <p:cNvPr id="11" name="TextBox 10"/>
          <p:cNvSpPr txBox="1"/>
          <p:nvPr/>
        </p:nvSpPr>
        <p:spPr>
          <a:xfrm>
            <a:off x="3355848" y="5285232"/>
            <a:ext cx="2432304" cy="777240"/>
          </a:xfrm>
          <a:prstGeom prst="rect">
            <a:avLst/>
          </a:prstGeom>
          <a:noFill/>
        </p:spPr>
        <p:txBody>
          <a:bodyPr wrap="square" anchor="t" lIns="36576" rIns="36576">
            <a:spAutoFit/>
          </a:bodyPr>
          <a:lstStyle/>
          <a:p>
            <a:pPr algn="l">
              <a:spcAft>
                <a:spcPts val="400"/>
              </a:spcAft>
            </a:pPr>
            <a:r>
              <a:rPr sz="1350" b="0" i="0">
                <a:solidFill>
                  <a:srgbClr val="1D2433"/>
                </a:solidFill>
                <a:latin typeface="Calibri"/>
              </a:rPr>
              <a:t>Open source; KMS ≈ US$1/month</a:t>
            </a:r>
          </a:p>
        </p:txBody>
      </p:sp>
      <p:sp>
        <p:nvSpPr>
          <p:cNvPr id="12" name="Rounded Rectangle 11"/>
          <p:cNvSpPr/>
          <p:nvPr/>
        </p:nvSpPr>
        <p:spPr>
          <a:xfrm>
            <a:off x="6035040" y="4754880"/>
            <a:ext cx="2651760" cy="1371600"/>
          </a:xfrm>
          <a:prstGeom prst="roundRect">
            <a:avLst>
              <a:gd name="adj" fmla="val 8000"/>
            </a:avLst>
          </a:prstGeom>
          <a:solidFill>
            <a:srgbClr val="EEF1FB"/>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144768" y="4846320"/>
            <a:ext cx="2432304" cy="411480"/>
          </a:xfrm>
          <a:prstGeom prst="rect">
            <a:avLst/>
          </a:prstGeom>
          <a:noFill/>
        </p:spPr>
        <p:txBody>
          <a:bodyPr wrap="square" anchor="t" lIns="36576" rIns="36576">
            <a:spAutoFit/>
          </a:bodyPr>
          <a:lstStyle/>
          <a:p>
            <a:pPr algn="l">
              <a:spcAft>
                <a:spcPts val="400"/>
              </a:spcAft>
            </a:pPr>
            <a:r>
              <a:rPr sz="1600" b="1" i="0">
                <a:solidFill>
                  <a:srgbClr val="1B2F5B"/>
                </a:solidFill>
                <a:latin typeface="Calibri"/>
              </a:rPr>
              <a:t>Feasibility</a:t>
            </a:r>
          </a:p>
        </p:txBody>
      </p:sp>
      <p:sp>
        <p:nvSpPr>
          <p:cNvPr id="14" name="TextBox 13"/>
          <p:cNvSpPr txBox="1"/>
          <p:nvPr/>
        </p:nvSpPr>
        <p:spPr>
          <a:xfrm>
            <a:off x="6144768" y="5285232"/>
            <a:ext cx="2432304" cy="777240"/>
          </a:xfrm>
          <a:prstGeom prst="rect">
            <a:avLst/>
          </a:prstGeom>
          <a:noFill/>
        </p:spPr>
        <p:txBody>
          <a:bodyPr wrap="square" anchor="t" lIns="36576" rIns="36576">
            <a:spAutoFit/>
          </a:bodyPr>
          <a:lstStyle/>
          <a:p>
            <a:pPr algn="l">
              <a:spcAft>
                <a:spcPts val="400"/>
              </a:spcAft>
            </a:pPr>
            <a:r>
              <a:rPr sz="1350" b="0" i="0">
                <a:solidFill>
                  <a:srgbClr val="1D2433"/>
                </a:solidFill>
                <a:latin typeface="Calibri"/>
              </a:rPr>
              <a:t>1 CI line; ~0.6 ms per build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11480" y="713232"/>
            <a:ext cx="8321040" cy="566928"/>
          </a:xfrm>
          <a:prstGeom prst="rect">
            <a:avLst/>
          </a:prstGeom>
          <a:noFill/>
        </p:spPr>
        <p:txBody>
          <a:bodyPr wrap="square" lIns="0" rIns="0" anchor="ctr">
            <a:spAutoFit/>
          </a:bodyPr>
          <a:lstStyle/>
          <a:p>
            <a:r>
              <a:rPr sz="2800" b="1" i="0">
                <a:solidFill>
                  <a:srgbClr val="1B2F5B"/>
                </a:solidFill>
                <a:latin typeface="Times New Roman"/>
              </a:rPr>
              <a:t>Conclusion</a:t>
            </a:r>
          </a:p>
        </p:txBody>
      </p:sp>
      <p:sp>
        <p:nvSpPr>
          <p:cNvPr id="5" name="TextBox 4"/>
          <p:cNvSpPr txBox="1"/>
          <p:nvPr/>
        </p:nvSpPr>
        <p:spPr>
          <a:xfrm>
            <a:off x="457200" y="1463040"/>
            <a:ext cx="8229600" cy="3383280"/>
          </a:xfrm>
          <a:prstGeom prst="rect">
            <a:avLst/>
          </a:prstGeom>
          <a:noFill/>
        </p:spPr>
        <p:txBody>
          <a:bodyPr wrap="square" anchor="t" lIns="36576" rIns="36576">
            <a:spAutoFit/>
          </a:bodyPr>
          <a:lstStyle/>
          <a:p>
            <a:pPr algn="l" marL="228600" indent="-201168">
              <a:spcAft>
                <a:spcPts val="1200"/>
              </a:spcAft>
              <a:buChar char="•"/>
            </a:pPr>
            <a:r>
              <a:rPr sz="1700" b="1" i="0">
                <a:solidFill>
                  <a:srgbClr val="1D2433"/>
                </a:solidFill>
                <a:latin typeface="Calibri"/>
              </a:rPr>
              <a:t>Root cause: </a:t>
            </a:r>
            <a:r>
              <a:rPr sz="1700" b="0" i="0">
                <a:solidFill>
                  <a:srgbClr val="1D2433"/>
                </a:solidFill>
                <a:latin typeface="Calibri"/>
              </a:rPr>
              <a:t>integrity + authenticity failure (unsigned uploader, leaked static key) → confidentiality breach.</a:t>
            </a:r>
          </a:p>
          <a:p>
            <a:pPr algn="l" marL="228600" indent="-201168">
              <a:spcAft>
                <a:spcPts val="1200"/>
              </a:spcAft>
              <a:buChar char="•"/>
            </a:pPr>
            <a:r>
              <a:rPr sz="1700" b="1" i="0">
                <a:solidFill>
                  <a:srgbClr val="1D2433"/>
                </a:solidFill>
                <a:latin typeface="Calibri"/>
              </a:rPr>
              <a:t>SignGate: </a:t>
            </a:r>
            <a:r>
              <a:rPr sz="1700" b="0" i="0">
                <a:solidFill>
                  <a:srgbClr val="1D2433"/>
                </a:solidFill>
                <a:latin typeface="Calibri"/>
              </a:rPr>
              <a:t>SHA-256 + Ed25519 signatures, root-certified rotatable keys with CRL, transparency log, anti-rollback and least-privilege execution in one fail-closed gate.</a:t>
            </a:r>
          </a:p>
          <a:p>
            <a:pPr algn="l" marL="228600" indent="-201168">
              <a:spcAft>
                <a:spcPts val="1200"/>
              </a:spcAft>
              <a:buChar char="•"/>
            </a:pPr>
            <a:r>
              <a:rPr sz="1700" b="1" i="0">
                <a:solidFill>
                  <a:srgbClr val="1D2433"/>
                </a:solidFill>
                <a:latin typeface="Calibri"/>
              </a:rPr>
              <a:t>Evidence: </a:t>
            </a:r>
            <a:r>
              <a:rPr sz="1700" b="0" i="0">
                <a:solidFill>
                  <a:srgbClr val="1D2433"/>
                </a:solidFill>
                <a:latin typeface="Calibri"/>
              </a:rPr>
              <a:t>7/7 scenarios correct, 2021 attack blocked before execution, secrets exposed 8 → 1, ~0.6 ms.</a:t>
            </a:r>
          </a:p>
          <a:p>
            <a:pPr algn="l" marL="228600" indent="-201168">
              <a:spcAft>
                <a:spcPts val="1200"/>
              </a:spcAft>
              <a:buChar char="•"/>
            </a:pPr>
            <a:r>
              <a:rPr sz="1700" b="1" i="0">
                <a:solidFill>
                  <a:srgbClr val="1D2433"/>
                </a:solidFill>
                <a:latin typeface="Calibri"/>
              </a:rPr>
              <a:t>Lesson: </a:t>
            </a:r>
            <a:r>
              <a:rPr sz="1700" b="0" i="0">
                <a:solidFill>
                  <a:srgbClr val="1D2433"/>
                </a:solidFill>
                <a:latin typeface="Calibri"/>
              </a:rPr>
              <a:t>trust keys, not locations. Verify before you execute.</a:t>
            </a:r>
          </a:p>
        </p:txBody>
      </p:sp>
      <p:sp>
        <p:nvSpPr>
          <p:cNvPr id="6" name="Rounded Rectangle 5"/>
          <p:cNvSpPr/>
          <p:nvPr/>
        </p:nvSpPr>
        <p:spPr>
          <a:xfrm>
            <a:off x="457200" y="4937760"/>
            <a:ext cx="8229600" cy="1188720"/>
          </a:xfrm>
          <a:prstGeom prst="roundRect">
            <a:avLst>
              <a:gd name="adj" fmla="val 8000"/>
            </a:avLst>
          </a:prstGeom>
          <a:solidFill>
            <a:srgbClr val="EEF1FB"/>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0080" y="4983480"/>
            <a:ext cx="7863840" cy="1097280"/>
          </a:xfrm>
          <a:prstGeom prst="rect">
            <a:avLst/>
          </a:prstGeom>
          <a:noFill/>
        </p:spPr>
        <p:txBody>
          <a:bodyPr wrap="square" anchor="ctr" lIns="36576" rIns="36576">
            <a:spAutoFit/>
          </a:bodyPr>
          <a:lstStyle/>
          <a:p>
            <a:pPr algn="l">
              <a:spcAft>
                <a:spcPts val="400"/>
              </a:spcAft>
            </a:pPr>
            <a:r>
              <a:rPr sz="1450" b="1" i="0">
                <a:solidFill>
                  <a:srgbClr val="1D2433"/>
                </a:solidFill>
                <a:latin typeface="Calibri"/>
              </a:rPr>
              <a:t>Future work: </a:t>
            </a:r>
            <a:r>
              <a:rPr sz="1450" b="0" i="0">
                <a:solidFill>
                  <a:srgbClr val="1D2433"/>
                </a:solidFill>
                <a:latin typeface="Calibri"/>
              </a:rPr>
              <a:t>Sigstore keyless (OIDC) signing · SLSA build provenance for compromised build servers · witness co-signed log · package as a reusable GitHub Action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11480" y="713232"/>
            <a:ext cx="8321040" cy="566928"/>
          </a:xfrm>
          <a:prstGeom prst="rect">
            <a:avLst/>
          </a:prstGeom>
          <a:noFill/>
        </p:spPr>
        <p:txBody>
          <a:bodyPr wrap="square" lIns="0" rIns="0" anchor="ctr">
            <a:spAutoFit/>
          </a:bodyPr>
          <a:lstStyle/>
          <a:p>
            <a:r>
              <a:rPr sz="2800" b="1" i="0">
                <a:solidFill>
                  <a:srgbClr val="1B2F5B"/>
                </a:solidFill>
                <a:latin typeface="Times New Roman"/>
              </a:rPr>
              <a:t>References (IEEE)</a:t>
            </a:r>
          </a:p>
        </p:txBody>
      </p:sp>
      <p:sp>
        <p:nvSpPr>
          <p:cNvPr id="5" name="TextBox 4"/>
          <p:cNvSpPr txBox="1"/>
          <p:nvPr/>
        </p:nvSpPr>
        <p:spPr>
          <a:xfrm>
            <a:off x="457200" y="1417320"/>
            <a:ext cx="8229600" cy="4846320"/>
          </a:xfrm>
          <a:prstGeom prst="rect">
            <a:avLst/>
          </a:prstGeom>
          <a:noFill/>
        </p:spPr>
        <p:txBody>
          <a:bodyPr wrap="square" anchor="t" lIns="36576" rIns="36576">
            <a:spAutoFit/>
          </a:bodyPr>
          <a:lstStyle/>
          <a:p>
            <a:pPr algn="l">
              <a:spcAft>
                <a:spcPts val="700"/>
              </a:spcAft>
            </a:pPr>
            <a:r>
              <a:rPr sz="1300" b="0" i="0">
                <a:solidFill>
                  <a:srgbClr val="1D2433"/>
                </a:solidFill>
                <a:latin typeface="Times New Roman"/>
              </a:rPr>
              <a:t>[1] Codecov, "Bash Uploader Security Update," Apr. 15, 2021. about.codecov.io/security-update</a:t>
            </a:r>
          </a:p>
          <a:p>
            <a:pPr algn="l">
              <a:spcAft>
                <a:spcPts val="700"/>
              </a:spcAft>
            </a:pPr>
            <a:r>
              <a:rPr sz="1300" b="0" i="0">
                <a:solidFill>
                  <a:srgbClr val="1D2433"/>
                </a:solidFill>
                <a:latin typeface="Times New Roman"/>
              </a:rPr>
              <a:t>[2] Codecov, "Post-Mortem / Root Cause Analysis (April 2021)." about.codecov.io/apr-2021-post-mortem</a:t>
            </a:r>
          </a:p>
          <a:p>
            <a:pPr algn="l">
              <a:spcAft>
                <a:spcPts val="700"/>
              </a:spcAft>
            </a:pPr>
            <a:r>
              <a:rPr sz="1300" b="0" i="0">
                <a:solidFill>
                  <a:srgbClr val="1D2433"/>
                </a:solidFill>
                <a:latin typeface="Times New Roman"/>
              </a:rPr>
              <a:t>[3] J. Menn and R. Satter, "Codecov hackers breached hundreds of restricted customer sites," Reuters, Apr. 2021.</a:t>
            </a:r>
          </a:p>
          <a:p>
            <a:pPr algn="l">
              <a:spcAft>
                <a:spcPts val="700"/>
              </a:spcAft>
            </a:pPr>
            <a:r>
              <a:rPr sz="1300" b="0" i="0">
                <a:solidFill>
                  <a:srgbClr val="1D2433"/>
                </a:solidFill>
                <a:latin typeface="Times New Roman"/>
              </a:rPr>
              <a:t>[4] HashiCorp, "HCSEC-2021-12: Codecov Security Event and HashiCorp GPG Key Exposure," Apr. 2021.</a:t>
            </a:r>
          </a:p>
          <a:p>
            <a:pPr algn="l">
              <a:spcAft>
                <a:spcPts val="700"/>
              </a:spcAft>
            </a:pPr>
            <a:r>
              <a:rPr sz="1300" b="0" i="0">
                <a:solidFill>
                  <a:srgbClr val="1D2433"/>
                </a:solidFill>
                <a:latin typeface="Times New Roman"/>
              </a:rPr>
              <a:t>[5] S. Josefsson and I. Liusvaara, "Edwards-Curve Digital Signature Algorithm (EdDSA)," RFC 8032, 2017.</a:t>
            </a:r>
          </a:p>
          <a:p>
            <a:pPr algn="l">
              <a:spcAft>
                <a:spcPts val="700"/>
              </a:spcAft>
            </a:pPr>
            <a:r>
              <a:rPr sz="1300" b="0" i="0">
                <a:solidFill>
                  <a:srgbClr val="1D2433"/>
                </a:solidFill>
                <a:latin typeface="Times New Roman"/>
              </a:rPr>
              <a:t>[6] NIST, "Secure Hash Standard (SHS)," FIPS 180-4, 2015; "Digital Signature Standard," FIPS 186-5, 2023.</a:t>
            </a:r>
          </a:p>
          <a:p>
            <a:pPr algn="l">
              <a:spcAft>
                <a:spcPts val="700"/>
              </a:spcAft>
            </a:pPr>
            <a:r>
              <a:rPr sz="1300" b="0" i="0">
                <a:solidFill>
                  <a:srgbClr val="1D2433"/>
                </a:solidFill>
                <a:latin typeface="Times New Roman"/>
              </a:rPr>
              <a:t>[7] E. Barker, "Recommendation for Key Management," NIST SP 800-57 Pt. 1 Rev. 5, 2020.</a:t>
            </a:r>
          </a:p>
          <a:p>
            <a:pPr algn="l">
              <a:spcAft>
                <a:spcPts val="700"/>
              </a:spcAft>
            </a:pPr>
            <a:r>
              <a:rPr sz="1300" b="0" i="0">
                <a:solidFill>
                  <a:srgbClr val="1D2433"/>
                </a:solidFill>
                <a:latin typeface="Times New Roman"/>
              </a:rPr>
              <a:t>[8] B. Laurie, A. Langley and E. Kasper, "Certificate Transparency," RFC 6962, 2013.</a:t>
            </a:r>
          </a:p>
          <a:p>
            <a:pPr algn="l">
              <a:spcAft>
                <a:spcPts val="700"/>
              </a:spcAft>
            </a:pPr>
            <a:r>
              <a:rPr sz="1300" b="0" i="0">
                <a:solidFill>
                  <a:srgbClr val="1D2433"/>
                </a:solidFill>
                <a:latin typeface="Times New Roman"/>
              </a:rPr>
              <a:t>[9] Z. Newman et al., "Sigstore: Software Signing for Everybody," ACM CCS, 2022.</a:t>
            </a:r>
          </a:p>
          <a:p>
            <a:pPr algn="l">
              <a:spcAft>
                <a:spcPts val="700"/>
              </a:spcAft>
            </a:pPr>
            <a:r>
              <a:rPr sz="1300" b="0" i="0">
                <a:solidFill>
                  <a:srgbClr val="1D2433"/>
                </a:solidFill>
                <a:latin typeface="Times New Roman"/>
              </a:rPr>
              <a:t>[10] OpenSSF, "SLSA v1.0," 2023; NIST SP 800-218 (SSDF), 2022; Executive Order 14028, 2021.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11480" y="713232"/>
            <a:ext cx="8321040" cy="566928"/>
          </a:xfrm>
          <a:prstGeom prst="rect">
            <a:avLst/>
          </a:prstGeom>
          <a:noFill/>
        </p:spPr>
        <p:txBody>
          <a:bodyPr wrap="square" lIns="0" rIns="0" anchor="ctr">
            <a:spAutoFit/>
          </a:bodyPr>
          <a:lstStyle/>
          <a:p>
            <a:r>
              <a:rPr sz="2800" b="1" i="0">
                <a:solidFill>
                  <a:srgbClr val="1B2F5B"/>
                </a:solidFill>
                <a:latin typeface="Times New Roman"/>
              </a:rPr>
              <a:t/>
            </a:r>
          </a:p>
        </p:txBody>
      </p:sp>
      <p:sp>
        <p:nvSpPr>
          <p:cNvPr id="5" name="TextBox 4"/>
          <p:cNvSpPr txBox="1"/>
          <p:nvPr/>
        </p:nvSpPr>
        <p:spPr>
          <a:xfrm>
            <a:off x="457200" y="2194560"/>
            <a:ext cx="8229600" cy="1097280"/>
          </a:xfrm>
          <a:prstGeom prst="rect">
            <a:avLst/>
          </a:prstGeom>
          <a:noFill/>
        </p:spPr>
        <p:txBody>
          <a:bodyPr wrap="square" anchor="t" lIns="36576" rIns="36576">
            <a:spAutoFit/>
          </a:bodyPr>
          <a:lstStyle/>
          <a:p>
            <a:pPr algn="ctr">
              <a:spcAft>
                <a:spcPts val="400"/>
              </a:spcAft>
            </a:pPr>
            <a:r>
              <a:rPr sz="4800" b="1" i="0">
                <a:solidFill>
                  <a:srgbClr val="1B2F5B"/>
                </a:solidFill>
                <a:latin typeface="Times New Roman"/>
              </a:rPr>
              <a:t>Thank You</a:t>
            </a:r>
          </a:p>
        </p:txBody>
      </p:sp>
      <p:sp>
        <p:nvSpPr>
          <p:cNvPr id="6" name="TextBox 5"/>
          <p:cNvSpPr txBox="1"/>
          <p:nvPr/>
        </p:nvSpPr>
        <p:spPr>
          <a:xfrm>
            <a:off x="457200" y="3383280"/>
            <a:ext cx="8229600" cy="548640"/>
          </a:xfrm>
          <a:prstGeom prst="rect">
            <a:avLst/>
          </a:prstGeom>
          <a:noFill/>
        </p:spPr>
        <p:txBody>
          <a:bodyPr wrap="square" anchor="t" lIns="36576" rIns="36576">
            <a:spAutoFit/>
          </a:bodyPr>
          <a:lstStyle/>
          <a:p>
            <a:pPr algn="ctr">
              <a:spcAft>
                <a:spcPts val="400"/>
              </a:spcAft>
            </a:pPr>
            <a:r>
              <a:rPr sz="2400" b="0" i="0">
                <a:solidFill>
                  <a:srgbClr val="4A5263"/>
                </a:solidFill>
                <a:latin typeface="Times New Roman"/>
              </a:rPr>
              <a:t>Questions?</a:t>
            </a:r>
          </a:p>
        </p:txBody>
      </p:sp>
      <p:sp>
        <p:nvSpPr>
          <p:cNvPr id="7" name="Rounded Rectangle 6"/>
          <p:cNvSpPr/>
          <p:nvPr/>
        </p:nvSpPr>
        <p:spPr>
          <a:xfrm>
            <a:off x="1828800" y="4389120"/>
            <a:ext cx="5486400" cy="731520"/>
          </a:xfrm>
          <a:prstGeom prst="roundRect">
            <a:avLst>
              <a:gd name="adj" fmla="val 8000"/>
            </a:avLst>
          </a:prstGeom>
          <a:solidFill>
            <a:srgbClr val="EEF1FB"/>
          </a:solidFill>
          <a:ln w="15875">
            <a:solidFill>
              <a:srgbClr val="C9D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828800" y="4389120"/>
            <a:ext cx="5486400" cy="731520"/>
          </a:xfrm>
          <a:prstGeom prst="rect">
            <a:avLst/>
          </a:prstGeom>
          <a:noFill/>
        </p:spPr>
        <p:txBody>
          <a:bodyPr wrap="square" anchor="ctr" lIns="36576" rIns="36576">
            <a:spAutoFit/>
          </a:bodyPr>
          <a:lstStyle/>
          <a:p>
            <a:pPr algn="ctr">
              <a:spcAft>
                <a:spcPts val="400"/>
              </a:spcAft>
            </a:pPr>
            <a:r>
              <a:rPr sz="1600" b="1" i="0">
                <a:solidFill>
                  <a:srgbClr val="1B2F5B"/>
                </a:solidFill>
                <a:latin typeface="Calibri"/>
              </a:rPr>
              <a:t>Trust keys, not locations. Verify before you execute.</a:t>
            </a:r>
          </a:p>
        </p:txBody>
      </p:sp>
    </p:spTree>
  </p:cSld>
  <p:clrMapOvr>
    <a:masterClrMapping/>
  </p:clrMapOvr>
</p:sld>
</file>

<file path=ppt/theme/theme1.xml><?xml version="1.0" encoding="utf-8"?>
<a:theme xmlns:a="http://schemas.openxmlformats.org/drawingml/2006/main" name="Axis">
  <a:themeElements>
    <a:clrScheme name="Southwestern">
      <a:dk1>
        <a:srgbClr val="000000"/>
      </a:dk1>
      <a:lt1>
        <a:srgbClr val="FFFFFF"/>
      </a:lt1>
      <a:dk2>
        <a:srgbClr val="0E2841"/>
      </a:dk2>
      <a:lt2>
        <a:srgbClr val="E8E8E8"/>
      </a:lt2>
      <a:accent1>
        <a:srgbClr val="A8BABF"/>
      </a:accent1>
      <a:accent2>
        <a:srgbClr val="C16A38"/>
      </a:accent2>
      <a:accent3>
        <a:srgbClr val="7B441F"/>
      </a:accent3>
      <a:accent4>
        <a:srgbClr val="DAC68B"/>
      </a:accent4>
      <a:accent5>
        <a:srgbClr val="B6BAA5"/>
      </a:accent5>
      <a:accent6>
        <a:srgbClr val="716C34"/>
      </a:accent6>
      <a:hlink>
        <a:srgbClr val="467886"/>
      </a:hlink>
      <a:folHlink>
        <a:srgbClr val="96607D"/>
      </a:folHlink>
    </a:clrScheme>
    <a:fontScheme name="Custom 13">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xis" id="{2A75EA04-0AE5-4074-9538-7DA6C138DAE9}" vid="{E39B6906-D52F-4B95-B43C-27F512CB47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Axis</Template>
  <TotalTime>3</TotalTime>
  <Words>50</Words>
  <Application>Microsoft Office PowerPoint</Application>
  <PresentationFormat>On-screen Show (4:3)</PresentationFormat>
  <Paragraphs>24</Paragraphs>
  <Slides>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Calibri</vt:lpstr>
      <vt:lpstr>Cambria</vt:lpstr>
      <vt:lpstr>Lucida Sans</vt:lpstr>
      <vt:lpstr>Neue Haas Grotesk Text Pro</vt:lpstr>
      <vt:lpstr>Times New Roman</vt:lpstr>
      <vt:lpstr>Wingdings</vt:lpstr>
      <vt:lpstr>Axis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Principal</dc:creator>
  <cp:lastModifiedBy>FACULTY 3</cp:lastModifiedBy>
  <cp:revision>30</cp:revision>
  <dcterms:created xsi:type="dcterms:W3CDTF">2025-10-24T06:15:58Z</dcterms:created>
  <dcterms:modified xsi:type="dcterms:W3CDTF">2026-09-08T06:27:48Z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6B284E3421846AF5F518FB68502C439A_43</vt:lpwstr>
  </property>
  <property fmtid="{D5CDD505-2E9C-101B-9397-08002B2CF9AE}" pid="3" name="KSOProductBuildVer">
    <vt:lpwstr>1033-6.15.0.8733</vt:lpwstr>
  </property>
</Properties>
</file>